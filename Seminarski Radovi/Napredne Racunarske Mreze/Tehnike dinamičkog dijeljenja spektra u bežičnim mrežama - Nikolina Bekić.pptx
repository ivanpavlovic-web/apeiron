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29BC"/>
    <a:srgbClr val="00B6C1"/>
    <a:srgbClr val="0C0A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2586" y="1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9A34-DDD7-A924-A44B-256D22304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9BC5C-0AD9-B4C1-796F-71CF89F92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ABB78-BDDB-0930-F2FA-AFF571D04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02220-A570-4F3F-FB73-5883A1405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F883B-83D6-2559-FAEB-430019C4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9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8F475-A377-8006-2D0B-C9EC5AD0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E8E4-BD8A-3CF6-7815-54935EE9D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8B1D5-F2D4-9329-F809-522100F2E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3FF0D-3ADC-301B-7E59-E651243D6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622BC-9FE1-6BB2-7A3D-245737C1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6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6984E-8F12-5274-14B2-819962670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848D3-85C2-AD5C-1201-1638ABA5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14FF1-C237-D64F-A412-E77B3D0A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D366A-743D-64D5-344A-8653AD256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095B-24F5-1B1F-43A7-FBF129F5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69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3153-A31B-66BD-885F-0C9DE5AE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38364-20C5-5939-20E3-D977E1F20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0B257-4EFC-6AE1-3AF6-21DC7FD34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6F06D-A6E7-3BAE-182B-D2AB4031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1616C-963F-A4FC-5FCF-D16FDAB40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73356-C429-0C17-405A-9D71D974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BFAA-7A71-B637-1467-CA2FA0123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8E2CB-8E5F-ACCF-A6CF-E0CB2A3E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45799-1F99-7255-3D1F-1E17B89B9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A08C20-15BE-F6EF-94A4-10AFC50F5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B16E3-DCA4-F590-9A5C-C645FB238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B70085-42A5-34F0-2A82-D62082632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4D6BCF-1416-391D-37B5-A70A240F7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3EA999-B441-7F9E-9B24-EF07DDD0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47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139C-3236-D923-FB88-A35242A6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1A0C5-8173-5DED-AAAE-AFCEDBFC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25975-817A-FECA-F00C-CCCC8A11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DAC86-F160-1A99-34A6-22BD9A37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A9CAA-4652-4B46-F3B7-9C336A1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573B96-C673-C4F9-BCB6-92D9D6C2E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FC54D-3DCB-0400-2C1E-4FE02DF7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8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CA80E-725D-E620-E4F1-0CE86ECA8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70F25-11AD-D18A-C2B7-79F97B8E7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F16B7-8C29-B020-B239-6B833EB85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7B062-6B32-BE87-8378-8E90A321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76378-C58F-E848-7196-162E312C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8A535-201A-2759-87CD-C9675E65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25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B040-6647-4412-F907-F9E11DB2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A8C7F-FB8D-A451-24E3-399365DB0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DD441-1717-C01B-A501-F5828D37F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7377C-1BBF-8B1C-620C-430CFE3ED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417EC-9D1F-ACF5-60CE-32DE3B3F6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35910-E0D6-DF80-002C-868D858F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1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B056-7DC7-C15B-B324-E731666A2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2CADF-A460-D199-A68A-BCB30B88A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DBC4-2105-012E-F4AB-A812312CA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8B8AB-46DA-0A1F-BB2D-1D854774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603F7-CB9F-9EEA-01AB-A5410B80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5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39D4B0-2AEC-00E9-FFD4-BB44CF724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71000-854E-24B9-6F08-4B6BAEE3A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7AD60-0074-6E52-C6D1-45DF13882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B6B5B-8D8F-1E44-FD1E-DA96B82A2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86172-75CD-8938-9FE1-BF7D86A3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53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CBE63-A850-9C30-FEBF-3772F85F6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64A41-0819-E12D-7CFD-07A083FBD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A1C8A-F6A3-8A56-932D-C9F5D4FD0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A1511-137C-4BFD-A01B-BA049C4D224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48521-704A-BE91-7650-870C818FD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A1167-A548-0D82-FFF8-FB030A559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DC0C9-7DAE-45B7-91D8-640D3ACA55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5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130912-DD74-49D3-CD37-B346696E1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35" b="81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31DDF4-8AB0-3B33-E85E-0F2F07FE92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7" y="5147665"/>
            <a:ext cx="1710335" cy="171033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62E8E2-31AC-8CCD-8064-72B6F8D730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68" y="5458763"/>
            <a:ext cx="1908052" cy="10881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101C215-1E29-28F8-394B-438C27193D81}"/>
              </a:ext>
            </a:extLst>
          </p:cNvPr>
          <p:cNvSpPr txBox="1"/>
          <p:nvPr/>
        </p:nvSpPr>
        <p:spPr>
          <a:xfrm>
            <a:off x="1403112" y="2828835"/>
            <a:ext cx="9385775" cy="1200329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Arial Black" panose="020B0A04020102020204" pitchFamily="34" charset="0"/>
              </a:rPr>
              <a:t>TEHNIKE DINAMIČKOG DIJELJENJA</a:t>
            </a:r>
            <a:endParaRPr lang="sr-Latn-BA" sz="3600" b="1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3600" b="1">
                <a:solidFill>
                  <a:schemeClr val="bg1"/>
                </a:solidFill>
                <a:latin typeface="Arial Black" panose="020B0A04020102020204" pitchFamily="34" charset="0"/>
              </a:rPr>
              <a:t>SPEKTRA U BEŽIČNIM MREŽAMA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9B5BC0-78AF-AA8D-348A-46BE95A57AC1}"/>
              </a:ext>
            </a:extLst>
          </p:cNvPr>
          <p:cNvSpPr txBox="1"/>
          <p:nvPr/>
        </p:nvSpPr>
        <p:spPr>
          <a:xfrm>
            <a:off x="7193869" y="5805377"/>
            <a:ext cx="47227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Predmet: </a:t>
            </a:r>
            <a:r>
              <a:rPr lang="en-US"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Napredne računarske mreže</a:t>
            </a:r>
            <a:endParaRPr lang="sr-Latn-BA" sz="16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sr-Latn-BA" sz="16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Profesor: </a:t>
            </a:r>
            <a:r>
              <a:rPr lang="en-US"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Doc.dr Dražen Marinković</a:t>
            </a:r>
            <a:endParaRPr lang="sr-Latn-BA" sz="16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Student: </a:t>
            </a:r>
            <a:r>
              <a:rPr lang="en-US"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Nikolina Bekić</a:t>
            </a:r>
            <a:r>
              <a:rPr lang="sr-Latn-BA"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r-Latn-CS"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21-22-FIT-IIT1-PRO-240</a:t>
            </a:r>
            <a:r>
              <a:rPr lang="sr-Latn-BA"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740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4AE657-8552-2EFF-35EB-50DED46E68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9D4BC-7BB8-54B5-06BE-13357D6CE629}"/>
              </a:ext>
            </a:extLst>
          </p:cNvPr>
          <p:cNvSpPr txBox="1"/>
          <p:nvPr/>
        </p:nvSpPr>
        <p:spPr>
          <a:xfrm>
            <a:off x="180755" y="95693"/>
            <a:ext cx="18214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UVOD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F28D0-1E32-58A0-64B5-653DC8CA6A07}"/>
              </a:ext>
            </a:extLst>
          </p:cNvPr>
          <p:cNvSpPr txBox="1"/>
          <p:nvPr/>
        </p:nvSpPr>
        <p:spPr>
          <a:xfrm>
            <a:off x="180755" y="899272"/>
            <a:ext cx="81653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RASTUĆA POTRAŽNJA ZA VEZAMA KAO </a:t>
            </a:r>
            <a:r>
              <a:rPr lang="sr-Latn-BA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ŠTO SU </a:t>
            </a:r>
            <a:r>
              <a:rPr lang="en-US" b="1">
                <a:solidFill>
                  <a:srgbClr val="3D29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5G, IoT, </a:t>
            </a:r>
            <a:r>
              <a:rPr lang="sr-Latn-BA" b="1">
                <a:solidFill>
                  <a:srgbClr val="3D29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6G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ISCRPLJUJE OGRANIČENI RADIO</a:t>
            </a:r>
            <a:r>
              <a:rPr lang="sr-Latn-BA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FREKVENTNI SPEKTAR. TRADICIONALNA, STATIČKA ALOKACIJA SPEKTRA JE ČESTO NEFIKASNA I KRUTA, ŠTO DOVODI DO NEPOTPUNOG ISKORIŠTENJA RESURSA.</a:t>
            </a:r>
          </a:p>
          <a:p>
            <a:pPr algn="just"/>
            <a:endParaRPr lang="en-US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>
                <a:solidFill>
                  <a:srgbClr val="00B6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DINAMIČKO DIJELJENJE SPEKTRA 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(DSS) JE </a:t>
            </a:r>
            <a:r>
              <a:rPr lang="en-US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REVOLUCIONARNO RJEŠENJE 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 OMOGUĆAVA FLEKSIBILNO I ADAPTIVNO KORIŠTENJE SPEKTRA U REALNOM VREMENU, MAKSIMIZIRAJUĆI ISKORIŠ</a:t>
            </a:r>
            <a:r>
              <a:rPr lang="sr-Latn-BA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ENJE I ODOBRVAJUĆI MREŽAMA DA PRATE SAVREMENE ZAHT</a:t>
            </a:r>
            <a:r>
              <a:rPr lang="sr-Latn-BA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IJ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EVE.</a:t>
            </a:r>
          </a:p>
          <a:p>
            <a:pPr algn="just"/>
            <a:endParaRPr lang="en-US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diagram of a 5g network&#10;&#10;AI-generated content may be incorrect.">
            <a:extLst>
              <a:ext uri="{FF2B5EF4-FFF2-40B4-BE49-F238E27FC236}">
                <a16:creationId xmlns:a16="http://schemas.microsoft.com/office/drawing/2014/main" id="{4405EE3F-9C59-8EE1-7BD6-62B0647C33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0B6C1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23331" y="3761594"/>
            <a:ext cx="6115569" cy="2720644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8119ABC-554C-D537-852B-95BA7C858FA4}"/>
              </a:ext>
            </a:extLst>
          </p:cNvPr>
          <p:cNvGrpSpPr/>
          <p:nvPr/>
        </p:nvGrpSpPr>
        <p:grpSpPr>
          <a:xfrm>
            <a:off x="8801100" y="-1060492"/>
            <a:ext cx="3890963" cy="8416875"/>
            <a:chOff x="8801100" y="-1060492"/>
            <a:chExt cx="3890963" cy="841687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6DDD5D-3978-5A30-FFE3-7B50089302C6}"/>
                </a:ext>
              </a:extLst>
            </p:cNvPr>
            <p:cNvSpPr/>
            <p:nvPr/>
          </p:nvSpPr>
          <p:spPr>
            <a:xfrm>
              <a:off x="8801100" y="1219200"/>
              <a:ext cx="1895475" cy="1895475"/>
            </a:xfrm>
            <a:prstGeom prst="ellipse">
              <a:avLst/>
            </a:prstGeom>
            <a:solidFill>
              <a:srgbClr val="00B6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31E5E1E-1537-BA87-EA71-1DA07530A8FE}"/>
                </a:ext>
              </a:extLst>
            </p:cNvPr>
            <p:cNvSpPr/>
            <p:nvPr/>
          </p:nvSpPr>
          <p:spPr>
            <a:xfrm>
              <a:off x="10296525" y="3114675"/>
              <a:ext cx="1895475" cy="1895475"/>
            </a:xfrm>
            <a:prstGeom prst="ellipse">
              <a:avLst/>
            </a:prstGeom>
            <a:solidFill>
              <a:srgbClr val="3D29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215B99C-9901-BEEA-C21F-7599B082D924}"/>
                </a:ext>
              </a:extLst>
            </p:cNvPr>
            <p:cNvSpPr/>
            <p:nvPr/>
          </p:nvSpPr>
          <p:spPr>
            <a:xfrm>
              <a:off x="10837880" y="1653373"/>
              <a:ext cx="1354120" cy="135412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1BB5A7B-32A9-FB22-BC3B-A5558FDB2067}"/>
                </a:ext>
              </a:extLst>
            </p:cNvPr>
            <p:cNvSpPr/>
            <p:nvPr/>
          </p:nvSpPr>
          <p:spPr>
            <a:xfrm>
              <a:off x="9011854" y="3224635"/>
              <a:ext cx="1073918" cy="1073918"/>
            </a:xfrm>
            <a:prstGeom prst="ellipse">
              <a:avLst/>
            </a:prstGeom>
            <a:solidFill>
              <a:srgbClr val="3D29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D4D386C-739D-8F3F-A9E5-7AC9D6A7D317}"/>
                </a:ext>
              </a:extLst>
            </p:cNvPr>
            <p:cNvSpPr/>
            <p:nvPr/>
          </p:nvSpPr>
          <p:spPr>
            <a:xfrm>
              <a:off x="9607166" y="4408513"/>
              <a:ext cx="689359" cy="689359"/>
            </a:xfrm>
            <a:prstGeom prst="ellipse">
              <a:avLst/>
            </a:prstGeom>
            <a:solidFill>
              <a:srgbClr val="00B6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5A39008-0087-71C5-0E39-EE614AEE7825}"/>
                </a:ext>
              </a:extLst>
            </p:cNvPr>
            <p:cNvSpPr/>
            <p:nvPr/>
          </p:nvSpPr>
          <p:spPr>
            <a:xfrm>
              <a:off x="10066722" y="3198005"/>
              <a:ext cx="306003" cy="30600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3DC4176-35F5-ECBF-4419-807F64B34AB9}"/>
                </a:ext>
              </a:extLst>
            </p:cNvPr>
            <p:cNvSpPr/>
            <p:nvPr/>
          </p:nvSpPr>
          <p:spPr>
            <a:xfrm>
              <a:off x="10525726" y="2714023"/>
              <a:ext cx="400652" cy="4006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96500A3-CCCA-36E8-D7B1-811533E62AEE}"/>
                </a:ext>
              </a:extLst>
            </p:cNvPr>
            <p:cNvSpPr/>
            <p:nvPr/>
          </p:nvSpPr>
          <p:spPr>
            <a:xfrm>
              <a:off x="10650454" y="1365325"/>
              <a:ext cx="400652" cy="40065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45C1210-7507-6088-2616-CC3BCCD2E963}"/>
                </a:ext>
              </a:extLst>
            </p:cNvPr>
            <p:cNvSpPr/>
            <p:nvPr/>
          </p:nvSpPr>
          <p:spPr>
            <a:xfrm>
              <a:off x="10390572" y="4918868"/>
              <a:ext cx="306003" cy="3060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6215E86-83D9-EA24-397A-82631AD9C211}"/>
                </a:ext>
              </a:extLst>
            </p:cNvPr>
            <p:cNvSpPr/>
            <p:nvPr/>
          </p:nvSpPr>
          <p:spPr>
            <a:xfrm>
              <a:off x="11397866" y="5097872"/>
              <a:ext cx="689359" cy="689359"/>
            </a:xfrm>
            <a:prstGeom prst="ellipse">
              <a:avLst/>
            </a:prstGeom>
            <a:solidFill>
              <a:srgbClr val="00B6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8F7B15A-D450-549D-ACE2-B9CE5108447E}"/>
                </a:ext>
              </a:extLst>
            </p:cNvPr>
            <p:cNvSpPr/>
            <p:nvPr/>
          </p:nvSpPr>
          <p:spPr>
            <a:xfrm>
              <a:off x="10864885" y="5164120"/>
              <a:ext cx="400652" cy="400652"/>
            </a:xfrm>
            <a:prstGeom prst="ellipse">
              <a:avLst/>
            </a:prstGeom>
            <a:solidFill>
              <a:srgbClr val="3D29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5E365F5-8AE2-A9AD-A4CC-874313F64DA1}"/>
                </a:ext>
              </a:extLst>
            </p:cNvPr>
            <p:cNvSpPr/>
            <p:nvPr/>
          </p:nvSpPr>
          <p:spPr>
            <a:xfrm>
              <a:off x="11151570" y="435431"/>
              <a:ext cx="1073918" cy="10739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1CD0E91-9DDC-15E7-DA47-24D6E7839661}"/>
                </a:ext>
              </a:extLst>
            </p:cNvPr>
            <p:cNvSpPr/>
            <p:nvPr/>
          </p:nvSpPr>
          <p:spPr>
            <a:xfrm>
              <a:off x="9677936" y="-150820"/>
              <a:ext cx="1354120" cy="1354120"/>
            </a:xfrm>
            <a:prstGeom prst="ellipse">
              <a:avLst/>
            </a:prstGeom>
            <a:solidFill>
              <a:srgbClr val="3D29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2F5E7C2-58C8-020B-9E99-420D46A6BB01}"/>
                </a:ext>
              </a:extLst>
            </p:cNvPr>
            <p:cNvSpPr/>
            <p:nvPr/>
          </p:nvSpPr>
          <p:spPr>
            <a:xfrm>
              <a:off x="10992753" y="-1060492"/>
              <a:ext cx="1354120" cy="1354120"/>
            </a:xfrm>
            <a:prstGeom prst="ellipse">
              <a:avLst/>
            </a:prstGeom>
            <a:solidFill>
              <a:srgbClr val="00B6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B93AE97-69E5-CD8A-CCA4-CCDA1E4D2C70}"/>
                </a:ext>
              </a:extLst>
            </p:cNvPr>
            <p:cNvSpPr/>
            <p:nvPr/>
          </p:nvSpPr>
          <p:spPr>
            <a:xfrm>
              <a:off x="9296400" y="5460908"/>
              <a:ext cx="1895475" cy="1895475"/>
            </a:xfrm>
            <a:prstGeom prst="ellipse">
              <a:avLst/>
            </a:prstGeom>
            <a:solidFill>
              <a:srgbClr val="00B6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0C371E2-8F22-4FD3-22D3-084308FB8017}"/>
                </a:ext>
              </a:extLst>
            </p:cNvPr>
            <p:cNvSpPr/>
            <p:nvPr/>
          </p:nvSpPr>
          <p:spPr>
            <a:xfrm>
              <a:off x="11337943" y="5973938"/>
              <a:ext cx="1354120" cy="1354120"/>
            </a:xfrm>
            <a:prstGeom prst="ellipse">
              <a:avLst/>
            </a:prstGeom>
            <a:solidFill>
              <a:srgbClr val="3D29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438446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FFE05-2580-97E5-A586-4DF89E0BA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0E6A2B-E5A7-C001-A083-2165F86345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978429E-EC21-8007-37BB-FC59C6385707}"/>
              </a:ext>
            </a:extLst>
          </p:cNvPr>
          <p:cNvGrpSpPr/>
          <p:nvPr/>
        </p:nvGrpSpPr>
        <p:grpSpPr>
          <a:xfrm rot="10341111">
            <a:off x="9198143" y="-555166"/>
            <a:ext cx="3890963" cy="8416875"/>
            <a:chOff x="8801100" y="-1060492"/>
            <a:chExt cx="3890963" cy="841687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840B4B1-A09B-0038-9477-334828097C7E}"/>
                </a:ext>
              </a:extLst>
            </p:cNvPr>
            <p:cNvSpPr/>
            <p:nvPr/>
          </p:nvSpPr>
          <p:spPr>
            <a:xfrm>
              <a:off x="8801100" y="1219200"/>
              <a:ext cx="1895475" cy="1895475"/>
            </a:xfrm>
            <a:prstGeom prst="ellipse">
              <a:avLst/>
            </a:prstGeom>
            <a:solidFill>
              <a:srgbClr val="00B6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90D11AD-600A-537F-8B5D-BE895165DFF1}"/>
                </a:ext>
              </a:extLst>
            </p:cNvPr>
            <p:cNvSpPr/>
            <p:nvPr/>
          </p:nvSpPr>
          <p:spPr>
            <a:xfrm>
              <a:off x="10296525" y="3114675"/>
              <a:ext cx="1895475" cy="1895475"/>
            </a:xfrm>
            <a:prstGeom prst="ellipse">
              <a:avLst/>
            </a:prstGeom>
            <a:solidFill>
              <a:srgbClr val="3D29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A79439B-2600-AD78-427D-5CA3E9CF7D3F}"/>
                </a:ext>
              </a:extLst>
            </p:cNvPr>
            <p:cNvSpPr/>
            <p:nvPr/>
          </p:nvSpPr>
          <p:spPr>
            <a:xfrm>
              <a:off x="10837880" y="1653373"/>
              <a:ext cx="1354120" cy="135412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C864832-D2B3-3933-5A5F-5295339B9A23}"/>
                </a:ext>
              </a:extLst>
            </p:cNvPr>
            <p:cNvSpPr/>
            <p:nvPr/>
          </p:nvSpPr>
          <p:spPr>
            <a:xfrm>
              <a:off x="9011854" y="3224635"/>
              <a:ext cx="1073918" cy="1073918"/>
            </a:xfrm>
            <a:prstGeom prst="ellipse">
              <a:avLst/>
            </a:prstGeom>
            <a:solidFill>
              <a:srgbClr val="3D29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4E7552C-9F9B-8ABD-8781-17C5503E82AC}"/>
                </a:ext>
              </a:extLst>
            </p:cNvPr>
            <p:cNvSpPr/>
            <p:nvPr/>
          </p:nvSpPr>
          <p:spPr>
            <a:xfrm>
              <a:off x="9607166" y="4408513"/>
              <a:ext cx="689359" cy="689359"/>
            </a:xfrm>
            <a:prstGeom prst="ellipse">
              <a:avLst/>
            </a:prstGeom>
            <a:solidFill>
              <a:srgbClr val="00B6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740A080-2EDE-DC76-1EBF-F0C254DED628}"/>
                </a:ext>
              </a:extLst>
            </p:cNvPr>
            <p:cNvSpPr/>
            <p:nvPr/>
          </p:nvSpPr>
          <p:spPr>
            <a:xfrm>
              <a:off x="10066722" y="3198005"/>
              <a:ext cx="306003" cy="306003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3446BB2-D2AF-DC92-F9AF-E786EF21BDA8}"/>
                </a:ext>
              </a:extLst>
            </p:cNvPr>
            <p:cNvSpPr/>
            <p:nvPr/>
          </p:nvSpPr>
          <p:spPr>
            <a:xfrm>
              <a:off x="10525726" y="2714023"/>
              <a:ext cx="400652" cy="4006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B16A18-E77D-B935-F2E8-F96FF5159414}"/>
                </a:ext>
              </a:extLst>
            </p:cNvPr>
            <p:cNvSpPr/>
            <p:nvPr/>
          </p:nvSpPr>
          <p:spPr>
            <a:xfrm>
              <a:off x="10650454" y="1365325"/>
              <a:ext cx="400652" cy="40065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3547668-3A9E-BDC6-6837-93D93C9355F0}"/>
                </a:ext>
              </a:extLst>
            </p:cNvPr>
            <p:cNvSpPr/>
            <p:nvPr/>
          </p:nvSpPr>
          <p:spPr>
            <a:xfrm>
              <a:off x="10390572" y="4918868"/>
              <a:ext cx="306003" cy="30600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3BA59E-8018-BF7A-10BC-2B9F460111F1}"/>
                </a:ext>
              </a:extLst>
            </p:cNvPr>
            <p:cNvSpPr/>
            <p:nvPr/>
          </p:nvSpPr>
          <p:spPr>
            <a:xfrm>
              <a:off x="11397866" y="5097872"/>
              <a:ext cx="689359" cy="689359"/>
            </a:xfrm>
            <a:prstGeom prst="ellipse">
              <a:avLst/>
            </a:prstGeom>
            <a:solidFill>
              <a:srgbClr val="00B6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588EBDE-1AF8-EA5C-4D78-B142CC50B9D5}"/>
                </a:ext>
              </a:extLst>
            </p:cNvPr>
            <p:cNvSpPr/>
            <p:nvPr/>
          </p:nvSpPr>
          <p:spPr>
            <a:xfrm>
              <a:off x="10864885" y="5164120"/>
              <a:ext cx="400652" cy="400652"/>
            </a:xfrm>
            <a:prstGeom prst="ellipse">
              <a:avLst/>
            </a:prstGeom>
            <a:solidFill>
              <a:srgbClr val="3D29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B999BB0-F4FD-9C4D-37D7-688F07B99348}"/>
                </a:ext>
              </a:extLst>
            </p:cNvPr>
            <p:cNvSpPr/>
            <p:nvPr/>
          </p:nvSpPr>
          <p:spPr>
            <a:xfrm>
              <a:off x="11151570" y="435431"/>
              <a:ext cx="1073918" cy="10739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13A4B77-ECC9-1910-F551-807496AA37B3}"/>
                </a:ext>
              </a:extLst>
            </p:cNvPr>
            <p:cNvSpPr/>
            <p:nvPr/>
          </p:nvSpPr>
          <p:spPr>
            <a:xfrm>
              <a:off x="9677936" y="-150820"/>
              <a:ext cx="1354120" cy="1354120"/>
            </a:xfrm>
            <a:prstGeom prst="ellipse">
              <a:avLst/>
            </a:prstGeom>
            <a:solidFill>
              <a:srgbClr val="3D29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B51AF41-0190-AE71-3DC7-937A220D2D6E}"/>
                </a:ext>
              </a:extLst>
            </p:cNvPr>
            <p:cNvSpPr/>
            <p:nvPr/>
          </p:nvSpPr>
          <p:spPr>
            <a:xfrm>
              <a:off x="10992753" y="-1060492"/>
              <a:ext cx="1354120" cy="1354120"/>
            </a:xfrm>
            <a:prstGeom prst="ellipse">
              <a:avLst/>
            </a:prstGeom>
            <a:solidFill>
              <a:srgbClr val="00B6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FC88B27-AC3B-F42E-D8A1-181FE2C4AED7}"/>
                </a:ext>
              </a:extLst>
            </p:cNvPr>
            <p:cNvSpPr/>
            <p:nvPr/>
          </p:nvSpPr>
          <p:spPr>
            <a:xfrm>
              <a:off x="9296400" y="5460908"/>
              <a:ext cx="1895475" cy="1895475"/>
            </a:xfrm>
            <a:prstGeom prst="ellipse">
              <a:avLst/>
            </a:prstGeom>
            <a:solidFill>
              <a:srgbClr val="00B6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DB5D40D-B404-4C4F-D1BF-F9D957D23FB4}"/>
                </a:ext>
              </a:extLst>
            </p:cNvPr>
            <p:cNvSpPr/>
            <p:nvPr/>
          </p:nvSpPr>
          <p:spPr>
            <a:xfrm>
              <a:off x="11337943" y="5973938"/>
              <a:ext cx="1354120" cy="1354120"/>
            </a:xfrm>
            <a:prstGeom prst="ellipse">
              <a:avLst/>
            </a:prstGeom>
            <a:solidFill>
              <a:srgbClr val="3D29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EB27BB-2B36-EA59-5B6B-3DC4DEEA595C}"/>
              </a:ext>
            </a:extLst>
          </p:cNvPr>
          <p:cNvSpPr txBox="1"/>
          <p:nvPr/>
        </p:nvSpPr>
        <p:spPr>
          <a:xfrm>
            <a:off x="64045" y="176922"/>
            <a:ext cx="7123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28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DINAMIČNO DIJELJENJE SPEKTRA</a:t>
            </a:r>
            <a:endParaRPr lang="en-US" sz="280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63758D-0CA4-347C-1344-E42775FADEBC}"/>
              </a:ext>
            </a:extLst>
          </p:cNvPr>
          <p:cNvSpPr txBox="1"/>
          <p:nvPr/>
        </p:nvSpPr>
        <p:spPr>
          <a:xfrm>
            <a:off x="102921" y="877064"/>
            <a:ext cx="79984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Dinamičko dijeljenje spektra (Dynamic Spectrum Sharing – DSS) je tehnika koja omogućava </a:t>
            </a:r>
            <a:r>
              <a:rPr lang="en-US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fleksibilnu i adaptivnu raspodjelu radiofrekventnog spektra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Umjesto da određeni frekvencijski opseg bude trajno rezervisan za jednog korisnika, DSS omogućava da </a:t>
            </a:r>
            <a:r>
              <a:rPr lang="en-US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više korisnika ili tehnologija dijeli isti spektar u realnom vremenu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bez štetne interferencije.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CC1CC0-150F-A4FD-56AD-8F333AF105DD}"/>
              </a:ext>
            </a:extLst>
          </p:cNvPr>
          <p:cNvSpPr txBox="1"/>
          <p:nvPr/>
        </p:nvSpPr>
        <p:spPr>
          <a:xfrm>
            <a:off x="122814" y="2639548"/>
            <a:ext cx="71828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Ključne karakteristike</a:t>
            </a:r>
            <a:r>
              <a:rPr lang="sr-Latn-BA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DSS-a</a:t>
            </a:r>
            <a:r>
              <a:rPr lang="en-US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sr-Latn-BA" b="1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3D29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Spektar se alocira adaptivno, u zavisnosti od trenutne dostupnosti i potreba mreže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6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Efikasnije korišćenje spektra u heterogenim i gustim mrežama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3D29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Omogućava 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koegzistenciju</a:t>
            </a:r>
            <a:r>
              <a:rPr lang="en-US">
                <a:solidFill>
                  <a:srgbClr val="3D29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više tehnologija i korisnika u istom frekvencijskom opsegu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6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Povećava fleksibilnost i ukupni kapacitet sistema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0436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E77BB-23D3-9B7D-4387-E2215958A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8A55BB-0093-8282-B1FD-81A44EEDD4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E859CF-D206-BDF4-E7A0-48EB8BA683CE}"/>
              </a:ext>
            </a:extLst>
          </p:cNvPr>
          <p:cNvSpPr/>
          <p:nvPr/>
        </p:nvSpPr>
        <p:spPr>
          <a:xfrm rot="10341111">
            <a:off x="11485769" y="3228896"/>
            <a:ext cx="306003" cy="30600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9271C-45E8-193E-EF08-F63D68E1301C}"/>
              </a:ext>
            </a:extLst>
          </p:cNvPr>
          <p:cNvSpPr txBox="1"/>
          <p:nvPr/>
        </p:nvSpPr>
        <p:spPr>
          <a:xfrm>
            <a:off x="64045" y="176922"/>
            <a:ext cx="7500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28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PRIMARNI I SEKUNDARNI KORISNICI</a:t>
            </a:r>
            <a:endParaRPr lang="en-US" sz="280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D81DF-2E5E-CB3B-F612-DCA87840A8E5}"/>
              </a:ext>
            </a:extLst>
          </p:cNvPr>
          <p:cNvSpPr txBox="1"/>
          <p:nvPr/>
        </p:nvSpPr>
        <p:spPr>
          <a:xfrm>
            <a:off x="102921" y="877064"/>
            <a:ext cx="584609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sistemima dinamičkog dijeljenja spektra (DSS) 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korisnici se obično dijele na </a:t>
            </a:r>
            <a:r>
              <a:rPr lang="en-US" b="1">
                <a:solidFill>
                  <a:srgbClr val="3D29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primarne</a:t>
            </a: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BA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>
                <a:solidFill>
                  <a:srgbClr val="00B6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sekundarne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Primarni korisnici imaju licencu i prioritetno pravo na određeni frekvencijski opseg, te njihov rad mora biti zaštićen od bilo kakve interferencije. Sekundarni korisnici, s druge strane, nemaju trajna prava na koriš</a:t>
            </a:r>
            <a:r>
              <a:rPr lang="sr-Latn-BA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enje spektra</a:t>
            </a:r>
            <a:r>
              <a:rPr lang="sr-Latn-BA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r-Latn-BA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 ga koriste</a:t>
            </a:r>
            <a:r>
              <a:rPr lang="sr-Latn-BA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isključivo kada primarni korisnici nisu aktivni. Ukoliko primarni korisnik počne sa radom, sekundarni korisnici se moraju automatski povući ili prilagoditi svoje parametre prenosa.</a:t>
            </a:r>
            <a:endParaRPr lang="sr-Latn-BA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sr-Latn-BA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Ovakva pod</a:t>
            </a:r>
            <a:r>
              <a:rPr lang="sr-Latn-BA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jela omogućava </a:t>
            </a:r>
            <a:r>
              <a:rPr lang="en-US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veće iskoriš</a:t>
            </a:r>
            <a:r>
              <a:rPr lang="sr-Latn-BA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enje spektra</a:t>
            </a:r>
            <a:r>
              <a:rPr lang="en-US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 narušavanja kvaliteta usluge za primarne korisnike. DSS sistemi koriste napredne mehanizme koordinacije i kontrolu snage kako bi se osiguralo sigurno i efikasno dijeljenje spektralnih resursa među različitim korisnicima.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2751C78-773F-194D-A166-611EB4AB9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068" y="1184098"/>
            <a:ext cx="5784765" cy="4430043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544005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0B92-D88B-9BA6-FB10-66AB8DA62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B5FA3F-A35C-7836-62EC-E11FFDDE43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EF6AC-253F-F6F9-96E6-91D0577F96E4}"/>
              </a:ext>
            </a:extLst>
          </p:cNvPr>
          <p:cNvSpPr txBox="1"/>
          <p:nvPr/>
        </p:nvSpPr>
        <p:spPr>
          <a:xfrm>
            <a:off x="64045" y="176922"/>
            <a:ext cx="3280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28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TEHNIKE DSS-a</a:t>
            </a:r>
            <a:endParaRPr lang="en-US" sz="280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DA8E19-72E6-A16E-1012-1DEE8C7CB0D7}"/>
              </a:ext>
            </a:extLst>
          </p:cNvPr>
          <p:cNvSpPr txBox="1"/>
          <p:nvPr/>
        </p:nvSpPr>
        <p:spPr>
          <a:xfrm>
            <a:off x="102921" y="877064"/>
            <a:ext cx="55412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Dinamičko dijeljenje spektra koristi različite tehnike za efikasno i sigurno korištenje frekvencija. </a:t>
            </a:r>
            <a:r>
              <a:rPr lang="en-US" b="1">
                <a:solidFill>
                  <a:srgbClr val="00B6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Spektarsko senziranje</a:t>
            </a:r>
            <a:r>
              <a:rPr lang="en-US">
                <a:solidFill>
                  <a:srgbClr val="00B6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omogućava uređajima da otkriju slobodne dijelove spektra, dok </a:t>
            </a:r>
            <a:r>
              <a:rPr lang="en-US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baze podataka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daju sekundarnim korisnicima informacije o dostupnim frekvencijama. </a:t>
            </a:r>
            <a:r>
              <a:rPr lang="en-US" b="1">
                <a:solidFill>
                  <a:srgbClr val="3D29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Aukcijske i tržišno-orijentisane metode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dodjeljuju spektar onima koji ga najbolje mogu iskoristiti, a </a:t>
            </a:r>
            <a:r>
              <a:rPr lang="en-US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kognitivni radio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uči iz okruženja i autonomno prilagođava parametre prenosa.</a:t>
            </a:r>
          </a:p>
        </p:txBody>
      </p:sp>
      <p:pic>
        <p:nvPicPr>
          <p:cNvPr id="1028" name="Picture 4" descr="Classification of Spectrum Sensing Techniques Spectrum Sensing... |  Download Scientific Diagram">
            <a:extLst>
              <a:ext uri="{FF2B5EF4-FFF2-40B4-BE49-F238E27FC236}">
                <a16:creationId xmlns:a16="http://schemas.microsoft.com/office/drawing/2014/main" id="{79D73EA3-3398-92E7-A08B-72481CE55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992" y="281844"/>
            <a:ext cx="5564692" cy="631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1028" descr="Diagram of a diagram of a spectrum&#10;&#10;AI-generated content may be incorrect.">
            <a:extLst>
              <a:ext uri="{FF2B5EF4-FFF2-40B4-BE49-F238E27FC236}">
                <a16:creationId xmlns:a16="http://schemas.microsoft.com/office/drawing/2014/main" id="{6B3E8B43-DA7A-2B6A-0E1A-8A2804E3E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914" y="3562558"/>
            <a:ext cx="3590540" cy="2223649"/>
          </a:xfrm>
          <a:prstGeom prst="rect">
            <a:avLst/>
          </a:prstGeom>
        </p:spPr>
      </p:pic>
      <p:pic>
        <p:nvPicPr>
          <p:cNvPr id="1031" name="Picture 1030" descr="A diagram of a diagram&#10;&#10;AI-generated content may be incorrect.">
            <a:extLst>
              <a:ext uri="{FF2B5EF4-FFF2-40B4-BE49-F238E27FC236}">
                <a16:creationId xmlns:a16="http://schemas.microsoft.com/office/drawing/2014/main" id="{440A4AA6-3A2A-2FF1-9CD3-254938B43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53" y="5892861"/>
            <a:ext cx="5626557" cy="70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21332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7FCD-C58D-5CE5-DFD4-AA284DE25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3B208E-1DEF-96FF-02B0-AB062FAECE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5B32DE-2C26-40EF-9742-B18A21271E2F}"/>
              </a:ext>
            </a:extLst>
          </p:cNvPr>
          <p:cNvSpPr txBox="1"/>
          <p:nvPr/>
        </p:nvSpPr>
        <p:spPr>
          <a:xfrm>
            <a:off x="64045" y="176922"/>
            <a:ext cx="55982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SPEKTARSKO SENZIRANJE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06C121-9C18-B826-1635-9ABFEFE155DC}"/>
              </a:ext>
            </a:extLst>
          </p:cNvPr>
          <p:cNvSpPr txBox="1"/>
          <p:nvPr/>
        </p:nvSpPr>
        <p:spPr>
          <a:xfrm>
            <a:off x="102921" y="877064"/>
            <a:ext cx="63549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Spektarsko senziranje je ključni proces u kognitivnim radio sistemima. Omogućava sekundarnim korisnicima da detektuju prisustvo primarnih korisnika i odluče da li mogu koristiti određeni frekvencijski opseg.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suštini, uređaj mjeri prijemni signal i upoređuje ga sa unaprijed definisanim pragom. Ako je primarni korisnik odsutan, sekundarni korisnik može privremeno pristupiti spektru. Ako je primarni korisnik prisutan, pristup nije dozvoljen.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Ovaj proces omogućava </a:t>
            </a:r>
            <a:r>
              <a:rPr lang="en-US"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sigurno i efikasno dijeljenje spektra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 realnom vremenu, čime se smanjuje rizik od interferencije.</a:t>
            </a:r>
          </a:p>
        </p:txBody>
      </p:sp>
      <p:pic>
        <p:nvPicPr>
          <p:cNvPr id="7" name="Picture 6" descr="Diagram of different types of sensor&#10;&#10;AI-generated content may be incorrect.">
            <a:extLst>
              <a:ext uri="{FF2B5EF4-FFF2-40B4-BE49-F238E27FC236}">
                <a16:creationId xmlns:a16="http://schemas.microsoft.com/office/drawing/2014/main" id="{E2EB3E31-1E7B-009A-2176-6F9949341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218" y="576168"/>
            <a:ext cx="4211356" cy="2475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 descr="A diagram of a diagram&#10;&#10;AI-generated content may be incorrect.">
            <a:extLst>
              <a:ext uri="{FF2B5EF4-FFF2-40B4-BE49-F238E27FC236}">
                <a16:creationId xmlns:a16="http://schemas.microsoft.com/office/drawing/2014/main" id="{9A8B53F3-E371-1E35-4703-BB9B819C9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9" y="3595131"/>
            <a:ext cx="3491916" cy="23279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 descr="Diagram of a diagram&#10;&#10;AI-generated content may be incorrect.">
            <a:extLst>
              <a:ext uri="{FF2B5EF4-FFF2-40B4-BE49-F238E27FC236}">
                <a16:creationId xmlns:a16="http://schemas.microsoft.com/office/drawing/2014/main" id="{6F7D58CA-3354-6435-33F8-6CE576028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54" y="4859113"/>
            <a:ext cx="6544588" cy="183858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21940177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AF8E3-DF77-24FC-0E9F-C75EA6BF1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EA2CBB-9CF1-E1F5-6C95-04FCD9E9F2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523B1D-6CB2-3CAC-E260-6936C2256E4A}"/>
              </a:ext>
            </a:extLst>
          </p:cNvPr>
          <p:cNvSpPr txBox="1"/>
          <p:nvPr/>
        </p:nvSpPr>
        <p:spPr>
          <a:xfrm>
            <a:off x="64045" y="176922"/>
            <a:ext cx="5748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DSS U MOBILNIM MRE</a:t>
            </a:r>
            <a:r>
              <a:rPr lang="sr-Latn-BA" sz="28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ŽAMA</a:t>
            </a:r>
            <a:endParaRPr lang="en-US" sz="280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1D0C07-7EB7-AE16-163D-3653FB2E0270}"/>
              </a:ext>
            </a:extLst>
          </p:cNvPr>
          <p:cNvSpPr txBox="1"/>
          <p:nvPr/>
        </p:nvSpPr>
        <p:spPr>
          <a:xfrm>
            <a:off x="102922" y="877064"/>
            <a:ext cx="5010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6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LTE–NR (5G)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isti frekvencijski opseg koriste 4G i 5G, omogućavajući glatku migraciju i efikasnije korištenje spektra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>
                <a:solidFill>
                  <a:srgbClr val="3D29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CBRS (SAD)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višeslojni pristup spektru:</a:t>
            </a:r>
          </a:p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Incumbent: apsolutni prioritet</a:t>
            </a:r>
          </a:p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PAL: plaćeno, ekskluzivno korištenje</a:t>
            </a:r>
          </a:p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GAA: oportunistički pristup</a:t>
            </a:r>
          </a:p>
        </p:txBody>
      </p:sp>
      <p:pic>
        <p:nvPicPr>
          <p:cNvPr id="2054" name="Picture 6" descr="Citizens Broadband Radio Service | NIST">
            <a:extLst>
              <a:ext uri="{FF2B5EF4-FFF2-40B4-BE49-F238E27FC236}">
                <a16:creationId xmlns:a16="http://schemas.microsoft.com/office/drawing/2014/main" id="{5F8763C6-97E3-95A6-00E3-D3A21CB7B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71" y="3410489"/>
            <a:ext cx="5182708" cy="3222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 descr="A diagram of a wireless network&#10;&#10;AI-generated content may be incorrect.">
            <a:extLst>
              <a:ext uri="{FF2B5EF4-FFF2-40B4-BE49-F238E27FC236}">
                <a16:creationId xmlns:a16="http://schemas.microsoft.com/office/drawing/2014/main" id="{006E3781-630E-9AAC-AF4F-DA54190DA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735" y="1410006"/>
            <a:ext cx="5936376" cy="321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1132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9D762-7B8D-D672-FDE1-A96CA5CEC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77BF73-98DE-D35C-91CB-D7AA6ECE08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A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99104-C2B8-1E08-03E9-D55134EB7EE5}"/>
              </a:ext>
            </a:extLst>
          </p:cNvPr>
          <p:cNvSpPr txBox="1"/>
          <p:nvPr/>
        </p:nvSpPr>
        <p:spPr>
          <a:xfrm>
            <a:off x="64045" y="176922"/>
            <a:ext cx="7310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DSS u IoT i bezbjednosnim mre</a:t>
            </a:r>
            <a:r>
              <a:rPr lang="sr-Latn-BA" sz="28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žama</a:t>
            </a:r>
            <a:endParaRPr lang="en-US" sz="280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7C213-10E4-B794-010B-DAE0FCC556A0}"/>
              </a:ext>
            </a:extLst>
          </p:cNvPr>
          <p:cNvSpPr txBox="1"/>
          <p:nvPr/>
        </p:nvSpPr>
        <p:spPr>
          <a:xfrm>
            <a:off x="102922" y="877064"/>
            <a:ext cx="60813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6C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 i pametni gradovi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masovni uređaji, prioritet kritičnih servisa, smanjenje interferencije.</a:t>
            </a:r>
          </a:p>
          <a:p>
            <a:endParaRPr lang="en-US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>
                <a:solidFill>
                  <a:srgbClr val="3D29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Vojne i javno-bezbednosne mreže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fleksibilna i sigurna komunikacija u dinamičnim i kritičnim situacijama.</a:t>
            </a:r>
          </a:p>
        </p:txBody>
      </p:sp>
      <p:pic>
        <p:nvPicPr>
          <p:cNvPr id="3079" name="Picture 7" descr="Dynamic Spectrum Sharing for 5G - Spirent">
            <a:extLst>
              <a:ext uri="{FF2B5EF4-FFF2-40B4-BE49-F238E27FC236}">
                <a16:creationId xmlns:a16="http://schemas.microsoft.com/office/drawing/2014/main" id="{41109775-012E-8DC5-ECBB-956BBE506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99289"/>
            <a:ext cx="6291799" cy="318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 descr="Next-Gen 5G Testing Optimizing Military Comms - Spirent">
            <a:extLst>
              <a:ext uri="{FF2B5EF4-FFF2-40B4-BE49-F238E27FC236}">
                <a16:creationId xmlns:a16="http://schemas.microsoft.com/office/drawing/2014/main" id="{E4F12D06-98B6-AF46-4E79-5BD461830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999" y="2619267"/>
            <a:ext cx="5214401" cy="3500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07484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555B5-F51B-C1E8-5496-FCE12E9DA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49358A-7E8B-6D2B-4138-BDF7665A11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29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B1605-1940-DB2B-E2BD-71D863BA0F3C}"/>
              </a:ext>
            </a:extLst>
          </p:cNvPr>
          <p:cNvSpPr txBox="1"/>
          <p:nvPr/>
        </p:nvSpPr>
        <p:spPr>
          <a:xfrm>
            <a:off x="64045" y="176922"/>
            <a:ext cx="3102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Arial Black" panose="020B0A04020102020204" pitchFamily="34" charset="0"/>
              </a:rPr>
              <a:t>IZAZOVI DSS-a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AEA477-D597-3F32-1352-CC68146A6A60}"/>
              </a:ext>
            </a:extLst>
          </p:cNvPr>
          <p:cNvSpPr txBox="1"/>
          <p:nvPr/>
        </p:nvSpPr>
        <p:spPr>
          <a:xfrm>
            <a:off x="102921" y="877064"/>
            <a:ext cx="109420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Implementacija DSS-a suočava se sa više izazova kao </a:t>
            </a:r>
            <a:r>
              <a:rPr lang="sr-Latn-BA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što su:</a:t>
            </a:r>
          </a:p>
          <a:p>
            <a:endParaRPr lang="sr-Latn-BA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Tehnički sistemi moraju precizno otkrivati slobodan spektar, koordinisati heterogene korisnike i optimizovati potrošnju energije.</a:t>
            </a:r>
            <a:endParaRPr lang="sr-Latn-BA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BA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Sigurnosni izazovi uključuju napade lažnog primarnog korisnika, neautorizovan pristup i manipulaciju podacima u sistemima za upravljanje spektrom.</a:t>
            </a:r>
            <a:endParaRPr lang="sr-Latn-BA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r-Latn-BA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Regulatorni okvir mora balansirati između zaštite primarnih korisnika i podsticanja inovacija, dok ekonomski modeli zaht</a:t>
            </a:r>
            <a:r>
              <a:rPr lang="sr-Latn-BA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evaju razvoj fleksibilnih c</a:t>
            </a:r>
            <a:r>
              <a:rPr lang="sr-Latn-BA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ij</a:t>
            </a:r>
            <a:r>
              <a:rPr lang="en-US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 spektra i novih mehanizama trgovine.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E297A9-C426-271F-3A39-9A3199681A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900" y="3983628"/>
            <a:ext cx="6863363" cy="269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03101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4441E464-76DA-9E97-04D8-BA616CB2BF81}"/>
              </a:ext>
            </a:extLst>
          </p:cNvPr>
          <p:cNvSpPr/>
          <p:nvPr/>
        </p:nvSpPr>
        <p:spPr>
          <a:xfrm rot="1002842">
            <a:off x="-5208479" y="-4578530"/>
            <a:ext cx="15607615" cy="12006538"/>
          </a:xfrm>
          <a:prstGeom prst="triangle">
            <a:avLst/>
          </a:prstGeom>
          <a:solidFill>
            <a:srgbClr val="00B6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69558106-536B-BCDC-4B16-A5FDFBCC5043}"/>
              </a:ext>
            </a:extLst>
          </p:cNvPr>
          <p:cNvSpPr/>
          <p:nvPr/>
        </p:nvSpPr>
        <p:spPr>
          <a:xfrm rot="4427117">
            <a:off x="6808666" y="-4319873"/>
            <a:ext cx="13318958" cy="11481860"/>
          </a:xfrm>
          <a:prstGeom prst="triangle">
            <a:avLst/>
          </a:prstGeom>
          <a:solidFill>
            <a:srgbClr val="3D29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53B1DA-6FB5-0C68-21FB-9676C46BBBE1}"/>
              </a:ext>
            </a:extLst>
          </p:cNvPr>
          <p:cNvSpPr txBox="1"/>
          <p:nvPr/>
        </p:nvSpPr>
        <p:spPr>
          <a:xfrm>
            <a:off x="1367304" y="3013501"/>
            <a:ext cx="69676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6000">
                <a:solidFill>
                  <a:srgbClr val="3D29BC"/>
                </a:solidFill>
                <a:latin typeface="Arial Black" panose="020B0A04020102020204" pitchFamily="34" charset="0"/>
              </a:rPr>
              <a:t>HVALA VAM </a:t>
            </a:r>
            <a:r>
              <a:rPr lang="sr-Latn-BA" sz="6000">
                <a:latin typeface="Arial Black" panose="020B0A04020102020204" pitchFamily="34" charset="0"/>
              </a:rPr>
              <a:t>NA </a:t>
            </a:r>
            <a:endParaRPr lang="en-US" sz="6000"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F9764-A9F3-E540-353D-45EEED72CC73}"/>
              </a:ext>
            </a:extLst>
          </p:cNvPr>
          <p:cNvSpPr txBox="1"/>
          <p:nvPr/>
        </p:nvSpPr>
        <p:spPr>
          <a:xfrm>
            <a:off x="8168595" y="3013501"/>
            <a:ext cx="32035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BA" sz="540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PAŽNJI!</a:t>
            </a:r>
            <a:endParaRPr lang="en-US" sz="5400">
              <a:solidFill>
                <a:schemeClr val="bg1">
                  <a:lumMod val="9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170360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643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ipdeveloper2001@gmail.com</dc:creator>
  <cp:lastModifiedBy>ipdeveloper2001@gmail.com</cp:lastModifiedBy>
  <cp:revision>2</cp:revision>
  <dcterms:created xsi:type="dcterms:W3CDTF">2025-12-27T22:12:42Z</dcterms:created>
  <dcterms:modified xsi:type="dcterms:W3CDTF">2025-12-28T00:12:32Z</dcterms:modified>
</cp:coreProperties>
</file>