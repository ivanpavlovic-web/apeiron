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FA243-D333-CD88-93A2-D315C18C1C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3F4169-756A-30B6-8BA3-D06B11FFEC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DC46C4D-0C7C-3768-C886-EEAA1977E6F2}"/>
              </a:ext>
            </a:extLst>
          </p:cNvPr>
          <p:cNvSpPr>
            <a:spLocks noGrp="1"/>
          </p:cNvSpPr>
          <p:nvPr>
            <p:ph type="dt" sz="half" idx="10"/>
          </p:nvPr>
        </p:nvSpPr>
        <p:spPr/>
        <p:txBody>
          <a:bodyPr/>
          <a:lstStyle/>
          <a:p>
            <a:fld id="{B4D450E2-43FA-4D6D-B9A4-9B4A8DC1296F}" type="datetimeFigureOut">
              <a:rPr lang="en-US" smtClean="0"/>
              <a:t>4/10/2026</a:t>
            </a:fld>
            <a:endParaRPr lang="en-US"/>
          </a:p>
        </p:txBody>
      </p:sp>
      <p:sp>
        <p:nvSpPr>
          <p:cNvPr id="5" name="Footer Placeholder 4">
            <a:extLst>
              <a:ext uri="{FF2B5EF4-FFF2-40B4-BE49-F238E27FC236}">
                <a16:creationId xmlns:a16="http://schemas.microsoft.com/office/drawing/2014/main" id="{C21EA973-74ED-B9F6-C49F-047BC13A32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BF5E67-7F95-FB4D-DC84-E2FDE79C7344}"/>
              </a:ext>
            </a:extLst>
          </p:cNvPr>
          <p:cNvSpPr>
            <a:spLocks noGrp="1"/>
          </p:cNvSpPr>
          <p:nvPr>
            <p:ph type="sldNum" sz="quarter" idx="12"/>
          </p:nvPr>
        </p:nvSpPr>
        <p:spPr/>
        <p:txBody>
          <a:bodyPr/>
          <a:lstStyle/>
          <a:p>
            <a:fld id="{D107729B-F359-4EC6-A068-5C9631F4DEAD}" type="slidenum">
              <a:rPr lang="en-US" smtClean="0"/>
              <a:t>‹#›</a:t>
            </a:fld>
            <a:endParaRPr lang="en-US"/>
          </a:p>
        </p:txBody>
      </p:sp>
    </p:spTree>
    <p:extLst>
      <p:ext uri="{BB962C8B-B14F-4D97-AF65-F5344CB8AC3E}">
        <p14:creationId xmlns:p14="http://schemas.microsoft.com/office/powerpoint/2010/main" val="1704761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78E12-D583-DE36-0B5C-5A051D5A23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175530-58D3-660F-F9B3-803EB727A4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D6E9F-6017-8C03-B079-0C8E822DA575}"/>
              </a:ext>
            </a:extLst>
          </p:cNvPr>
          <p:cNvSpPr>
            <a:spLocks noGrp="1"/>
          </p:cNvSpPr>
          <p:nvPr>
            <p:ph type="dt" sz="half" idx="10"/>
          </p:nvPr>
        </p:nvSpPr>
        <p:spPr/>
        <p:txBody>
          <a:bodyPr/>
          <a:lstStyle/>
          <a:p>
            <a:fld id="{B4D450E2-43FA-4D6D-B9A4-9B4A8DC1296F}" type="datetimeFigureOut">
              <a:rPr lang="en-US" smtClean="0"/>
              <a:t>4/10/2026</a:t>
            </a:fld>
            <a:endParaRPr lang="en-US"/>
          </a:p>
        </p:txBody>
      </p:sp>
      <p:sp>
        <p:nvSpPr>
          <p:cNvPr id="5" name="Footer Placeholder 4">
            <a:extLst>
              <a:ext uri="{FF2B5EF4-FFF2-40B4-BE49-F238E27FC236}">
                <a16:creationId xmlns:a16="http://schemas.microsoft.com/office/drawing/2014/main" id="{387009CF-4313-5E7F-DC49-1EC501B4DC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C026FB-E8F4-CEDD-1025-73FD4DBA3C17}"/>
              </a:ext>
            </a:extLst>
          </p:cNvPr>
          <p:cNvSpPr>
            <a:spLocks noGrp="1"/>
          </p:cNvSpPr>
          <p:nvPr>
            <p:ph type="sldNum" sz="quarter" idx="12"/>
          </p:nvPr>
        </p:nvSpPr>
        <p:spPr/>
        <p:txBody>
          <a:bodyPr/>
          <a:lstStyle/>
          <a:p>
            <a:fld id="{D107729B-F359-4EC6-A068-5C9631F4DEAD}" type="slidenum">
              <a:rPr lang="en-US" smtClean="0"/>
              <a:t>‹#›</a:t>
            </a:fld>
            <a:endParaRPr lang="en-US"/>
          </a:p>
        </p:txBody>
      </p:sp>
    </p:spTree>
    <p:extLst>
      <p:ext uri="{BB962C8B-B14F-4D97-AF65-F5344CB8AC3E}">
        <p14:creationId xmlns:p14="http://schemas.microsoft.com/office/powerpoint/2010/main" val="1593902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7D50F-1EB2-625C-8EF7-06BCB3D5F2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DAE757-E613-4122-26F9-DC5C968277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7299E3-280D-EE7C-47B3-B87555C6689E}"/>
              </a:ext>
            </a:extLst>
          </p:cNvPr>
          <p:cNvSpPr>
            <a:spLocks noGrp="1"/>
          </p:cNvSpPr>
          <p:nvPr>
            <p:ph type="dt" sz="half" idx="10"/>
          </p:nvPr>
        </p:nvSpPr>
        <p:spPr/>
        <p:txBody>
          <a:bodyPr/>
          <a:lstStyle/>
          <a:p>
            <a:fld id="{B4D450E2-43FA-4D6D-B9A4-9B4A8DC1296F}" type="datetimeFigureOut">
              <a:rPr lang="en-US" smtClean="0"/>
              <a:t>4/10/2026</a:t>
            </a:fld>
            <a:endParaRPr lang="en-US"/>
          </a:p>
        </p:txBody>
      </p:sp>
      <p:sp>
        <p:nvSpPr>
          <p:cNvPr id="5" name="Footer Placeholder 4">
            <a:extLst>
              <a:ext uri="{FF2B5EF4-FFF2-40B4-BE49-F238E27FC236}">
                <a16:creationId xmlns:a16="http://schemas.microsoft.com/office/drawing/2014/main" id="{C3F1D01D-417B-F774-74FB-72875B7A11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12EE29-A25F-DC2A-0376-697DFD11D04A}"/>
              </a:ext>
            </a:extLst>
          </p:cNvPr>
          <p:cNvSpPr>
            <a:spLocks noGrp="1"/>
          </p:cNvSpPr>
          <p:nvPr>
            <p:ph type="sldNum" sz="quarter" idx="12"/>
          </p:nvPr>
        </p:nvSpPr>
        <p:spPr/>
        <p:txBody>
          <a:bodyPr/>
          <a:lstStyle/>
          <a:p>
            <a:fld id="{D107729B-F359-4EC6-A068-5C9631F4DEAD}" type="slidenum">
              <a:rPr lang="en-US" smtClean="0"/>
              <a:t>‹#›</a:t>
            </a:fld>
            <a:endParaRPr lang="en-US"/>
          </a:p>
        </p:txBody>
      </p:sp>
    </p:spTree>
    <p:extLst>
      <p:ext uri="{BB962C8B-B14F-4D97-AF65-F5344CB8AC3E}">
        <p14:creationId xmlns:p14="http://schemas.microsoft.com/office/powerpoint/2010/main" val="1710037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50265-2808-8E5A-28BF-3F16B9059D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7BA136-559B-B5A0-8EA1-60375D5C79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9125E7-A8E6-3362-1EB8-B4BC19C747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8AD254-A318-6650-2568-DF1104359C22}"/>
              </a:ext>
            </a:extLst>
          </p:cNvPr>
          <p:cNvSpPr>
            <a:spLocks noGrp="1"/>
          </p:cNvSpPr>
          <p:nvPr>
            <p:ph type="dt" sz="half" idx="10"/>
          </p:nvPr>
        </p:nvSpPr>
        <p:spPr/>
        <p:txBody>
          <a:bodyPr/>
          <a:lstStyle/>
          <a:p>
            <a:fld id="{B4D450E2-43FA-4D6D-B9A4-9B4A8DC1296F}" type="datetimeFigureOut">
              <a:rPr lang="en-US" smtClean="0"/>
              <a:t>4/10/2026</a:t>
            </a:fld>
            <a:endParaRPr lang="en-US"/>
          </a:p>
        </p:txBody>
      </p:sp>
      <p:sp>
        <p:nvSpPr>
          <p:cNvPr id="6" name="Footer Placeholder 5">
            <a:extLst>
              <a:ext uri="{FF2B5EF4-FFF2-40B4-BE49-F238E27FC236}">
                <a16:creationId xmlns:a16="http://schemas.microsoft.com/office/drawing/2014/main" id="{D64949BD-0C16-1C91-5F4F-0D8B7E1618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A94FD9-6E53-66AA-1AE4-F3564689CE0D}"/>
              </a:ext>
            </a:extLst>
          </p:cNvPr>
          <p:cNvSpPr>
            <a:spLocks noGrp="1"/>
          </p:cNvSpPr>
          <p:nvPr>
            <p:ph type="sldNum" sz="quarter" idx="12"/>
          </p:nvPr>
        </p:nvSpPr>
        <p:spPr/>
        <p:txBody>
          <a:bodyPr/>
          <a:lstStyle/>
          <a:p>
            <a:fld id="{D107729B-F359-4EC6-A068-5C9631F4DEAD}" type="slidenum">
              <a:rPr lang="en-US" smtClean="0"/>
              <a:t>‹#›</a:t>
            </a:fld>
            <a:endParaRPr lang="en-US"/>
          </a:p>
        </p:txBody>
      </p:sp>
    </p:spTree>
    <p:extLst>
      <p:ext uri="{BB962C8B-B14F-4D97-AF65-F5344CB8AC3E}">
        <p14:creationId xmlns:p14="http://schemas.microsoft.com/office/powerpoint/2010/main" val="330107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2839C-A961-E63F-528E-BAD1692CFEB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65473C-C8DA-7536-6309-AA1A434968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6BB965-8247-8A66-1C45-0FCE5CA4DD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744AC5-AB17-3E4F-1DC8-038EE55291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96EFC-512E-E34F-317F-E86304B028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F61B30-0B53-1DA9-C5BD-371B6D945854}"/>
              </a:ext>
            </a:extLst>
          </p:cNvPr>
          <p:cNvSpPr>
            <a:spLocks noGrp="1"/>
          </p:cNvSpPr>
          <p:nvPr>
            <p:ph type="dt" sz="half" idx="10"/>
          </p:nvPr>
        </p:nvSpPr>
        <p:spPr/>
        <p:txBody>
          <a:bodyPr/>
          <a:lstStyle/>
          <a:p>
            <a:fld id="{B4D450E2-43FA-4D6D-B9A4-9B4A8DC1296F}" type="datetimeFigureOut">
              <a:rPr lang="en-US" smtClean="0"/>
              <a:t>4/10/2026</a:t>
            </a:fld>
            <a:endParaRPr lang="en-US"/>
          </a:p>
        </p:txBody>
      </p:sp>
      <p:sp>
        <p:nvSpPr>
          <p:cNvPr id="8" name="Footer Placeholder 7">
            <a:extLst>
              <a:ext uri="{FF2B5EF4-FFF2-40B4-BE49-F238E27FC236}">
                <a16:creationId xmlns:a16="http://schemas.microsoft.com/office/drawing/2014/main" id="{DBF38CA8-F65A-D811-4416-5D856ABB4E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B4A777-DE38-37DF-D001-E83DC0952330}"/>
              </a:ext>
            </a:extLst>
          </p:cNvPr>
          <p:cNvSpPr>
            <a:spLocks noGrp="1"/>
          </p:cNvSpPr>
          <p:nvPr>
            <p:ph type="sldNum" sz="quarter" idx="12"/>
          </p:nvPr>
        </p:nvSpPr>
        <p:spPr/>
        <p:txBody>
          <a:bodyPr/>
          <a:lstStyle/>
          <a:p>
            <a:fld id="{D107729B-F359-4EC6-A068-5C9631F4DEAD}" type="slidenum">
              <a:rPr lang="en-US" smtClean="0"/>
              <a:t>‹#›</a:t>
            </a:fld>
            <a:endParaRPr lang="en-US"/>
          </a:p>
        </p:txBody>
      </p:sp>
    </p:spTree>
    <p:extLst>
      <p:ext uri="{BB962C8B-B14F-4D97-AF65-F5344CB8AC3E}">
        <p14:creationId xmlns:p14="http://schemas.microsoft.com/office/powerpoint/2010/main" val="634100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63BC1-00CD-04F2-C2B8-F2E40A2CFB6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2F8BD53-A3A6-0CB9-516B-A62E3359C158}"/>
              </a:ext>
            </a:extLst>
          </p:cNvPr>
          <p:cNvSpPr>
            <a:spLocks noGrp="1"/>
          </p:cNvSpPr>
          <p:nvPr>
            <p:ph type="dt" sz="half" idx="10"/>
          </p:nvPr>
        </p:nvSpPr>
        <p:spPr/>
        <p:txBody>
          <a:bodyPr/>
          <a:lstStyle/>
          <a:p>
            <a:fld id="{B4D450E2-43FA-4D6D-B9A4-9B4A8DC1296F}" type="datetimeFigureOut">
              <a:rPr lang="en-US" smtClean="0"/>
              <a:t>4/10/2026</a:t>
            </a:fld>
            <a:endParaRPr lang="en-US"/>
          </a:p>
        </p:txBody>
      </p:sp>
      <p:sp>
        <p:nvSpPr>
          <p:cNvPr id="4" name="Footer Placeholder 3">
            <a:extLst>
              <a:ext uri="{FF2B5EF4-FFF2-40B4-BE49-F238E27FC236}">
                <a16:creationId xmlns:a16="http://schemas.microsoft.com/office/drawing/2014/main" id="{E7151A5B-F40B-E76F-8512-8E3A4FD177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8B1ECD-53BB-6D84-007B-06B20592EF32}"/>
              </a:ext>
            </a:extLst>
          </p:cNvPr>
          <p:cNvSpPr>
            <a:spLocks noGrp="1"/>
          </p:cNvSpPr>
          <p:nvPr>
            <p:ph type="sldNum" sz="quarter" idx="12"/>
          </p:nvPr>
        </p:nvSpPr>
        <p:spPr/>
        <p:txBody>
          <a:bodyPr/>
          <a:lstStyle/>
          <a:p>
            <a:fld id="{D107729B-F359-4EC6-A068-5C9631F4DEAD}" type="slidenum">
              <a:rPr lang="en-US" smtClean="0"/>
              <a:t>‹#›</a:t>
            </a:fld>
            <a:endParaRPr lang="en-US"/>
          </a:p>
        </p:txBody>
      </p:sp>
    </p:spTree>
    <p:extLst>
      <p:ext uri="{BB962C8B-B14F-4D97-AF65-F5344CB8AC3E}">
        <p14:creationId xmlns:p14="http://schemas.microsoft.com/office/powerpoint/2010/main" val="3912026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8AEBE0-3032-D4F3-6BCB-27C79A651D33}"/>
              </a:ext>
            </a:extLst>
          </p:cNvPr>
          <p:cNvSpPr>
            <a:spLocks noGrp="1"/>
          </p:cNvSpPr>
          <p:nvPr>
            <p:ph type="dt" sz="half" idx="10"/>
          </p:nvPr>
        </p:nvSpPr>
        <p:spPr/>
        <p:txBody>
          <a:bodyPr/>
          <a:lstStyle/>
          <a:p>
            <a:fld id="{B4D450E2-43FA-4D6D-B9A4-9B4A8DC1296F}" type="datetimeFigureOut">
              <a:rPr lang="en-US" smtClean="0"/>
              <a:t>4/10/2026</a:t>
            </a:fld>
            <a:endParaRPr lang="en-US"/>
          </a:p>
        </p:txBody>
      </p:sp>
      <p:sp>
        <p:nvSpPr>
          <p:cNvPr id="3" name="Footer Placeholder 2">
            <a:extLst>
              <a:ext uri="{FF2B5EF4-FFF2-40B4-BE49-F238E27FC236}">
                <a16:creationId xmlns:a16="http://schemas.microsoft.com/office/drawing/2014/main" id="{759FBB42-EF69-760C-6E9D-9E85259F93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53723C-7A72-4A97-20E7-5E83D4B4DC54}"/>
              </a:ext>
            </a:extLst>
          </p:cNvPr>
          <p:cNvSpPr>
            <a:spLocks noGrp="1"/>
          </p:cNvSpPr>
          <p:nvPr>
            <p:ph type="sldNum" sz="quarter" idx="12"/>
          </p:nvPr>
        </p:nvSpPr>
        <p:spPr/>
        <p:txBody>
          <a:bodyPr/>
          <a:lstStyle/>
          <a:p>
            <a:fld id="{D107729B-F359-4EC6-A068-5C9631F4DEAD}" type="slidenum">
              <a:rPr lang="en-US" smtClean="0"/>
              <a:t>‹#›</a:t>
            </a:fld>
            <a:endParaRPr lang="en-US"/>
          </a:p>
        </p:txBody>
      </p:sp>
    </p:spTree>
    <p:extLst>
      <p:ext uri="{BB962C8B-B14F-4D97-AF65-F5344CB8AC3E}">
        <p14:creationId xmlns:p14="http://schemas.microsoft.com/office/powerpoint/2010/main" val="1226666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36F82-8876-CF4D-82FF-82245F99C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0DDF38-6567-71D5-0252-F675E2C2E0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AB27CC-BF87-F80E-35BE-29D389B636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5482EC-1A48-21CA-FC52-FBFF77F58F40}"/>
              </a:ext>
            </a:extLst>
          </p:cNvPr>
          <p:cNvSpPr>
            <a:spLocks noGrp="1"/>
          </p:cNvSpPr>
          <p:nvPr>
            <p:ph type="dt" sz="half" idx="10"/>
          </p:nvPr>
        </p:nvSpPr>
        <p:spPr/>
        <p:txBody>
          <a:bodyPr/>
          <a:lstStyle/>
          <a:p>
            <a:fld id="{B4D450E2-43FA-4D6D-B9A4-9B4A8DC1296F}" type="datetimeFigureOut">
              <a:rPr lang="en-US" smtClean="0"/>
              <a:t>4/10/2026</a:t>
            </a:fld>
            <a:endParaRPr lang="en-US"/>
          </a:p>
        </p:txBody>
      </p:sp>
      <p:sp>
        <p:nvSpPr>
          <p:cNvPr id="6" name="Footer Placeholder 5">
            <a:extLst>
              <a:ext uri="{FF2B5EF4-FFF2-40B4-BE49-F238E27FC236}">
                <a16:creationId xmlns:a16="http://schemas.microsoft.com/office/drawing/2014/main" id="{A6D58FD6-322B-AB27-3C31-F11362ED99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E339E9-A60C-77F7-C20D-FB325520BB52}"/>
              </a:ext>
            </a:extLst>
          </p:cNvPr>
          <p:cNvSpPr>
            <a:spLocks noGrp="1"/>
          </p:cNvSpPr>
          <p:nvPr>
            <p:ph type="sldNum" sz="quarter" idx="12"/>
          </p:nvPr>
        </p:nvSpPr>
        <p:spPr/>
        <p:txBody>
          <a:bodyPr/>
          <a:lstStyle/>
          <a:p>
            <a:fld id="{D107729B-F359-4EC6-A068-5C9631F4DEAD}" type="slidenum">
              <a:rPr lang="en-US" smtClean="0"/>
              <a:t>‹#›</a:t>
            </a:fld>
            <a:endParaRPr lang="en-US"/>
          </a:p>
        </p:txBody>
      </p:sp>
    </p:spTree>
    <p:extLst>
      <p:ext uri="{BB962C8B-B14F-4D97-AF65-F5344CB8AC3E}">
        <p14:creationId xmlns:p14="http://schemas.microsoft.com/office/powerpoint/2010/main" val="1371668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C560C-2FC7-D7BC-E325-00D77E09CE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0212BB-1BBD-ACA5-7763-6E898CFA18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F5E8CF-8DAF-9364-0061-A451793984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EB3386-83F6-1D36-45A3-84CD24DA8088}"/>
              </a:ext>
            </a:extLst>
          </p:cNvPr>
          <p:cNvSpPr>
            <a:spLocks noGrp="1"/>
          </p:cNvSpPr>
          <p:nvPr>
            <p:ph type="dt" sz="half" idx="10"/>
          </p:nvPr>
        </p:nvSpPr>
        <p:spPr/>
        <p:txBody>
          <a:bodyPr/>
          <a:lstStyle/>
          <a:p>
            <a:fld id="{B4D450E2-43FA-4D6D-B9A4-9B4A8DC1296F}" type="datetimeFigureOut">
              <a:rPr lang="en-US" smtClean="0"/>
              <a:t>4/10/2026</a:t>
            </a:fld>
            <a:endParaRPr lang="en-US"/>
          </a:p>
        </p:txBody>
      </p:sp>
      <p:sp>
        <p:nvSpPr>
          <p:cNvPr id="6" name="Footer Placeholder 5">
            <a:extLst>
              <a:ext uri="{FF2B5EF4-FFF2-40B4-BE49-F238E27FC236}">
                <a16:creationId xmlns:a16="http://schemas.microsoft.com/office/drawing/2014/main" id="{4F664DD3-34F6-2065-56D4-62FA81911B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3887F1-773E-6CDD-7650-E7ADD976837A}"/>
              </a:ext>
            </a:extLst>
          </p:cNvPr>
          <p:cNvSpPr>
            <a:spLocks noGrp="1"/>
          </p:cNvSpPr>
          <p:nvPr>
            <p:ph type="sldNum" sz="quarter" idx="12"/>
          </p:nvPr>
        </p:nvSpPr>
        <p:spPr/>
        <p:txBody>
          <a:bodyPr/>
          <a:lstStyle/>
          <a:p>
            <a:fld id="{D107729B-F359-4EC6-A068-5C9631F4DEAD}" type="slidenum">
              <a:rPr lang="en-US" smtClean="0"/>
              <a:t>‹#›</a:t>
            </a:fld>
            <a:endParaRPr lang="en-US"/>
          </a:p>
        </p:txBody>
      </p:sp>
    </p:spTree>
    <p:extLst>
      <p:ext uri="{BB962C8B-B14F-4D97-AF65-F5344CB8AC3E}">
        <p14:creationId xmlns:p14="http://schemas.microsoft.com/office/powerpoint/2010/main" val="3513169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05D93-24DB-F86A-31DB-DF06CFF86E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D3B3E7-E537-0570-9780-5DD2B42FF0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5797E-8189-1135-7011-D8BA35673488}"/>
              </a:ext>
            </a:extLst>
          </p:cNvPr>
          <p:cNvSpPr>
            <a:spLocks noGrp="1"/>
          </p:cNvSpPr>
          <p:nvPr>
            <p:ph type="dt" sz="half" idx="10"/>
          </p:nvPr>
        </p:nvSpPr>
        <p:spPr/>
        <p:txBody>
          <a:bodyPr/>
          <a:lstStyle/>
          <a:p>
            <a:fld id="{B4D450E2-43FA-4D6D-B9A4-9B4A8DC1296F}" type="datetimeFigureOut">
              <a:rPr lang="en-US" smtClean="0"/>
              <a:t>4/10/2026</a:t>
            </a:fld>
            <a:endParaRPr lang="en-US"/>
          </a:p>
        </p:txBody>
      </p:sp>
      <p:sp>
        <p:nvSpPr>
          <p:cNvPr id="5" name="Footer Placeholder 4">
            <a:extLst>
              <a:ext uri="{FF2B5EF4-FFF2-40B4-BE49-F238E27FC236}">
                <a16:creationId xmlns:a16="http://schemas.microsoft.com/office/drawing/2014/main" id="{FC4FE5E8-0529-E5ED-AA0A-3D81B03914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F476FE-E31F-1DC8-FA96-95321BCCC64B}"/>
              </a:ext>
            </a:extLst>
          </p:cNvPr>
          <p:cNvSpPr>
            <a:spLocks noGrp="1"/>
          </p:cNvSpPr>
          <p:nvPr>
            <p:ph type="sldNum" sz="quarter" idx="12"/>
          </p:nvPr>
        </p:nvSpPr>
        <p:spPr/>
        <p:txBody>
          <a:bodyPr/>
          <a:lstStyle/>
          <a:p>
            <a:fld id="{D107729B-F359-4EC6-A068-5C9631F4DEAD}" type="slidenum">
              <a:rPr lang="en-US" smtClean="0"/>
              <a:t>‹#›</a:t>
            </a:fld>
            <a:endParaRPr lang="en-US"/>
          </a:p>
        </p:txBody>
      </p:sp>
    </p:spTree>
    <p:extLst>
      <p:ext uri="{BB962C8B-B14F-4D97-AF65-F5344CB8AC3E}">
        <p14:creationId xmlns:p14="http://schemas.microsoft.com/office/powerpoint/2010/main" val="2092715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0A1741-1716-8E91-320F-321C289E4E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FA0B560-9EA9-EF01-2282-C5E00C6227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4F5E1-8504-58A5-DB0F-706EBE9CD493}"/>
              </a:ext>
            </a:extLst>
          </p:cNvPr>
          <p:cNvSpPr>
            <a:spLocks noGrp="1"/>
          </p:cNvSpPr>
          <p:nvPr>
            <p:ph type="dt" sz="half" idx="10"/>
          </p:nvPr>
        </p:nvSpPr>
        <p:spPr/>
        <p:txBody>
          <a:bodyPr/>
          <a:lstStyle/>
          <a:p>
            <a:fld id="{B4D450E2-43FA-4D6D-B9A4-9B4A8DC1296F}" type="datetimeFigureOut">
              <a:rPr lang="en-US" smtClean="0"/>
              <a:t>4/10/2026</a:t>
            </a:fld>
            <a:endParaRPr lang="en-US"/>
          </a:p>
        </p:txBody>
      </p:sp>
      <p:sp>
        <p:nvSpPr>
          <p:cNvPr id="5" name="Footer Placeholder 4">
            <a:extLst>
              <a:ext uri="{FF2B5EF4-FFF2-40B4-BE49-F238E27FC236}">
                <a16:creationId xmlns:a16="http://schemas.microsoft.com/office/drawing/2014/main" id="{3AA1211C-9C79-40B2-9A53-080EC6E7A7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8DF47F-07AD-A6CE-C9CF-D55BA00AFAB0}"/>
              </a:ext>
            </a:extLst>
          </p:cNvPr>
          <p:cNvSpPr>
            <a:spLocks noGrp="1"/>
          </p:cNvSpPr>
          <p:nvPr>
            <p:ph type="sldNum" sz="quarter" idx="12"/>
          </p:nvPr>
        </p:nvSpPr>
        <p:spPr/>
        <p:txBody>
          <a:bodyPr/>
          <a:lstStyle/>
          <a:p>
            <a:fld id="{D107729B-F359-4EC6-A068-5C9631F4DEAD}" type="slidenum">
              <a:rPr lang="en-US" smtClean="0"/>
              <a:t>‹#›</a:t>
            </a:fld>
            <a:endParaRPr lang="en-US"/>
          </a:p>
        </p:txBody>
      </p:sp>
    </p:spTree>
    <p:extLst>
      <p:ext uri="{BB962C8B-B14F-4D97-AF65-F5344CB8AC3E}">
        <p14:creationId xmlns:p14="http://schemas.microsoft.com/office/powerpoint/2010/main" val="152626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B10E07-8A55-156C-CB31-B6D9D6EBF0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E25819-6ABD-72E3-303A-8A100A70B0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4F7D99-9FA8-13EC-0851-2FEE4BCC8D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D450E2-43FA-4D6D-B9A4-9B4A8DC1296F}" type="datetimeFigureOut">
              <a:rPr lang="en-US" smtClean="0"/>
              <a:t>4/10/2026</a:t>
            </a:fld>
            <a:endParaRPr lang="en-US"/>
          </a:p>
        </p:txBody>
      </p:sp>
      <p:sp>
        <p:nvSpPr>
          <p:cNvPr id="5" name="Footer Placeholder 4">
            <a:extLst>
              <a:ext uri="{FF2B5EF4-FFF2-40B4-BE49-F238E27FC236}">
                <a16:creationId xmlns:a16="http://schemas.microsoft.com/office/drawing/2014/main" id="{DA2B179A-552F-D954-1EDD-334120DB02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F4614A-9166-888F-3EEA-357E2E4488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07729B-F359-4EC6-A068-5C9631F4DEAD}" type="slidenum">
              <a:rPr lang="en-US" smtClean="0"/>
              <a:t>‹#›</a:t>
            </a:fld>
            <a:endParaRPr lang="en-US"/>
          </a:p>
        </p:txBody>
      </p:sp>
    </p:spTree>
    <p:extLst>
      <p:ext uri="{BB962C8B-B14F-4D97-AF65-F5344CB8AC3E}">
        <p14:creationId xmlns:p14="http://schemas.microsoft.com/office/powerpoint/2010/main" val="1469891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gif"/><Relationship Id="rId1" Type="http://schemas.openxmlformats.org/officeDocument/2006/relationships/slideLayout" Target="../slideLayouts/slideLayout2.xml"/><Relationship Id="rId4" Type="http://schemas.openxmlformats.org/officeDocument/2006/relationships/image" Target="../media/image13.gif"/></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DA4169A-564E-9FD0-9E6A-47A0C079D1FD}"/>
              </a:ext>
            </a:extLst>
          </p:cNvPr>
          <p:cNvSpPr/>
          <p:nvPr/>
        </p:nvSpPr>
        <p:spPr>
          <a:xfrm>
            <a:off x="4160520" y="0"/>
            <a:ext cx="803148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C2997B4-BCAD-5D06-1454-327127DED4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572000" cy="6858000"/>
          </a:xfrm>
          <a:prstGeom prst="rect">
            <a:avLst/>
          </a:prstGeom>
        </p:spPr>
      </p:pic>
      <p:sp>
        <p:nvSpPr>
          <p:cNvPr id="7" name="Rectangle 6">
            <a:extLst>
              <a:ext uri="{FF2B5EF4-FFF2-40B4-BE49-F238E27FC236}">
                <a16:creationId xmlns:a16="http://schemas.microsoft.com/office/drawing/2014/main" id="{FEA45A9E-04F5-FFC5-EED7-BE1C4F399DFB}"/>
              </a:ext>
            </a:extLst>
          </p:cNvPr>
          <p:cNvSpPr/>
          <p:nvPr/>
        </p:nvSpPr>
        <p:spPr>
          <a:xfrm>
            <a:off x="4572000" y="0"/>
            <a:ext cx="45719" cy="6858000"/>
          </a:xfrm>
          <a:prstGeom prst="rect">
            <a:avLst/>
          </a:prstGeom>
          <a:solidFill>
            <a:schemeClr val="tx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B1293AA-1577-D446-E7C1-998F5458662F}"/>
              </a:ext>
            </a:extLst>
          </p:cNvPr>
          <p:cNvSpPr txBox="1"/>
          <p:nvPr/>
        </p:nvSpPr>
        <p:spPr>
          <a:xfrm>
            <a:off x="4703710" y="457200"/>
            <a:ext cx="7310860" cy="1846659"/>
          </a:xfrm>
          <a:prstGeom prst="rect">
            <a:avLst/>
          </a:prstGeom>
          <a:noFill/>
        </p:spPr>
        <p:txBody>
          <a:bodyPr wrap="square" rtlCol="0">
            <a:spAutoFit/>
          </a:bodyPr>
          <a:lstStyle/>
          <a:p>
            <a:r>
              <a:rPr lang="en-US" sz="3800" b="1">
                <a:solidFill>
                  <a:schemeClr val="bg2"/>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Principi dizajna korisni</a:t>
            </a:r>
            <a:r>
              <a:rPr lang="sr-Latn-BA" sz="3800" b="1">
                <a:solidFill>
                  <a:schemeClr val="bg2"/>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čkog interfejsa i njihova primjena u savremenim </a:t>
            </a:r>
            <a:r>
              <a:rPr lang="sr-Latn-BA" sz="38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web aplikacijama</a:t>
            </a:r>
            <a:endParaRPr lang="en-US" sz="38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endParaRPr>
          </a:p>
        </p:txBody>
      </p:sp>
      <p:sp>
        <p:nvSpPr>
          <p:cNvPr id="9" name="TextBox 8">
            <a:extLst>
              <a:ext uri="{FF2B5EF4-FFF2-40B4-BE49-F238E27FC236}">
                <a16:creationId xmlns:a16="http://schemas.microsoft.com/office/drawing/2014/main" id="{7A6BC9C4-CA8E-37A4-9BA7-813BE6F6F383}"/>
              </a:ext>
            </a:extLst>
          </p:cNvPr>
          <p:cNvSpPr txBox="1"/>
          <p:nvPr/>
        </p:nvSpPr>
        <p:spPr>
          <a:xfrm>
            <a:off x="8043573" y="6016752"/>
            <a:ext cx="4065600" cy="954107"/>
          </a:xfrm>
          <a:prstGeom prst="rect">
            <a:avLst/>
          </a:prstGeom>
          <a:noFill/>
        </p:spPr>
        <p:txBody>
          <a:bodyPr wrap="none" rtlCol="0">
            <a:spAutoFit/>
          </a:bodyPr>
          <a:lstStyle/>
          <a:p>
            <a:pPr algn="r"/>
            <a:r>
              <a:rPr lang="sr-Latn-BA" sz="1400">
                <a:solidFill>
                  <a:schemeClr val="bg1">
                    <a:lumMod val="75000"/>
                  </a:schemeClr>
                </a:solidFill>
                <a:latin typeface="Inter" panose="02000503000000020004" pitchFamily="2" charset="0"/>
                <a:ea typeface="Inter" panose="02000503000000020004" pitchFamily="2" charset="0"/>
              </a:rPr>
              <a:t>Predmet</a:t>
            </a:r>
            <a:r>
              <a:rPr lang="en-US" sz="1400">
                <a:solidFill>
                  <a:schemeClr val="bg1">
                    <a:lumMod val="75000"/>
                  </a:schemeClr>
                </a:solidFill>
                <a:latin typeface="Inter" panose="02000503000000020004" pitchFamily="2" charset="0"/>
                <a:ea typeface="Inter" panose="02000503000000020004" pitchFamily="2" charset="0"/>
              </a:rPr>
              <a:t>: HCI - Interakcija čovjek-računar</a:t>
            </a:r>
          </a:p>
          <a:p>
            <a:pPr algn="r"/>
            <a:r>
              <a:rPr lang="en-US" sz="1400">
                <a:solidFill>
                  <a:schemeClr val="bg1">
                    <a:lumMod val="75000"/>
                  </a:schemeClr>
                </a:solidFill>
                <a:latin typeface="Inter" panose="02000503000000020004" pitchFamily="2" charset="0"/>
                <a:ea typeface="Inter" panose="02000503000000020004" pitchFamily="2" charset="0"/>
              </a:rPr>
              <a:t>Predmetni nastavnik: Prof. dr Željko Stanković</a:t>
            </a:r>
          </a:p>
          <a:p>
            <a:pPr algn="r"/>
            <a:r>
              <a:rPr lang="en-US" sz="1400">
                <a:solidFill>
                  <a:schemeClr val="bg1">
                    <a:lumMod val="75000"/>
                  </a:schemeClr>
                </a:solidFill>
                <a:latin typeface="Inter" panose="02000503000000020004" pitchFamily="2" charset="0"/>
                <a:ea typeface="Inter" panose="02000503000000020004" pitchFamily="2" charset="0"/>
              </a:rPr>
              <a:t>Student: Ivan Pavlović 92-20 RITP-S</a:t>
            </a:r>
          </a:p>
          <a:p>
            <a:pPr algn="r"/>
            <a:endParaRPr lang="en-US" sz="1400">
              <a:solidFill>
                <a:schemeClr val="bg1">
                  <a:lumMod val="75000"/>
                </a:schemeClr>
              </a:solidFill>
              <a:latin typeface="Inter" panose="02000503000000020004" pitchFamily="2" charset="0"/>
              <a:ea typeface="Inter" panose="02000503000000020004" pitchFamily="2" charset="0"/>
            </a:endParaRPr>
          </a:p>
        </p:txBody>
      </p:sp>
      <p:pic>
        <p:nvPicPr>
          <p:cNvPr id="13" name="Picture 12">
            <a:extLst>
              <a:ext uri="{FF2B5EF4-FFF2-40B4-BE49-F238E27FC236}">
                <a16:creationId xmlns:a16="http://schemas.microsoft.com/office/drawing/2014/main" id="{D7899E43-FFDF-0CF7-A6F5-113D0CABF7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5366" y="3054284"/>
            <a:ext cx="4856414" cy="2032558"/>
          </a:xfrm>
          <a:prstGeom prst="rect">
            <a:avLst/>
          </a:prstGeom>
        </p:spPr>
      </p:pic>
    </p:spTree>
    <p:extLst>
      <p:ext uri="{BB962C8B-B14F-4D97-AF65-F5344CB8AC3E}">
        <p14:creationId xmlns:p14="http://schemas.microsoft.com/office/powerpoint/2010/main" val="2564284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48B31B4-3B3D-E7AC-C256-C0119340924A}"/>
              </a:ext>
            </a:extLst>
          </p:cNvPr>
          <p:cNvSpPr/>
          <p:nvPr/>
        </p:nvSpPr>
        <p:spPr>
          <a:xfrm>
            <a:off x="0" y="0"/>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CC2D989-9FD0-09FD-CF07-08312A8F90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81664"/>
            <a:ext cx="12192000" cy="2776336"/>
          </a:xfrm>
          <a:prstGeom prst="rect">
            <a:avLst/>
          </a:prstGeom>
          <a:effectLst>
            <a:outerShdw blurRad="50800" dist="38100" dir="16200000" rotWithShape="0">
              <a:prstClr val="black">
                <a:alpha val="40000"/>
              </a:prstClr>
            </a:outerShdw>
          </a:effectLst>
        </p:spPr>
      </p:pic>
      <p:sp>
        <p:nvSpPr>
          <p:cNvPr id="11" name="TextBox 10">
            <a:extLst>
              <a:ext uri="{FF2B5EF4-FFF2-40B4-BE49-F238E27FC236}">
                <a16:creationId xmlns:a16="http://schemas.microsoft.com/office/drawing/2014/main" id="{9AA51B8E-13F4-F733-BC10-AD5288354CC7}"/>
              </a:ext>
            </a:extLst>
          </p:cNvPr>
          <p:cNvSpPr txBox="1"/>
          <p:nvPr/>
        </p:nvSpPr>
        <p:spPr>
          <a:xfrm>
            <a:off x="76200" y="123825"/>
            <a:ext cx="10738837" cy="461665"/>
          </a:xfrm>
          <a:prstGeom prst="rect">
            <a:avLst/>
          </a:prstGeom>
          <a:noFill/>
        </p:spPr>
        <p:txBody>
          <a:bodyPr wrap="none" rtlCol="0">
            <a:spAutoFit/>
          </a:bodyPr>
          <a:lstStyle/>
          <a:p>
            <a:r>
              <a:rPr lang="sr-Latn-BA" sz="24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INTERAKCIJA ČOVJEK-RAČUNAR </a:t>
            </a:r>
            <a:r>
              <a:rPr lang="en-US" sz="2400" b="1">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(HCI</a:t>
            </a:r>
            <a:r>
              <a:rPr lang="sr-Latn-BA" sz="2400" b="1">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 – Human Computer-Interaction</a:t>
            </a:r>
            <a:r>
              <a:rPr lang="en-US" sz="2400" b="1">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a:t>
            </a:r>
            <a:endParaRPr lang="en-US" sz="2400">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endParaRPr>
          </a:p>
        </p:txBody>
      </p:sp>
      <p:sp>
        <p:nvSpPr>
          <p:cNvPr id="12" name="TextBox 11">
            <a:extLst>
              <a:ext uri="{FF2B5EF4-FFF2-40B4-BE49-F238E27FC236}">
                <a16:creationId xmlns:a16="http://schemas.microsoft.com/office/drawing/2014/main" id="{BE9C7F7E-57BD-B033-E0E2-CDE5B10E07ED}"/>
              </a:ext>
            </a:extLst>
          </p:cNvPr>
          <p:cNvSpPr txBox="1"/>
          <p:nvPr/>
        </p:nvSpPr>
        <p:spPr>
          <a:xfrm>
            <a:off x="304799" y="994749"/>
            <a:ext cx="7604761" cy="2677656"/>
          </a:xfrm>
          <a:prstGeom prst="rect">
            <a:avLst/>
          </a:prstGeom>
          <a:noFill/>
        </p:spPr>
        <p:txBody>
          <a:bodyPr wrap="square" rtlCol="0">
            <a:spAutoFit/>
          </a:bodyPr>
          <a:lstStyle/>
          <a:p>
            <a:pPr algn="just"/>
            <a:r>
              <a:rPr lang="en-US" sz="2400">
                <a:solidFill>
                  <a:schemeClr val="bg1">
                    <a:lumMod val="85000"/>
                  </a:schemeClr>
                </a:solidFill>
                <a:latin typeface="Jost" pitchFamily="2" charset="0"/>
                <a:ea typeface="Jost" pitchFamily="2" charset="0"/>
              </a:rPr>
              <a:t>HCI je oblast koja proučava kako ljudi koriste računare i kako se ta interakcija može poboljšati. Cilj je da se tehnologija prilagodi korisniku, a ne obrnuto.</a:t>
            </a:r>
          </a:p>
          <a:p>
            <a:pPr algn="just"/>
            <a:endParaRPr lang="en-US" sz="2400">
              <a:solidFill>
                <a:schemeClr val="bg1">
                  <a:lumMod val="85000"/>
                </a:schemeClr>
              </a:solidFill>
              <a:latin typeface="Jost" pitchFamily="2" charset="0"/>
              <a:ea typeface="Jost" pitchFamily="2" charset="0"/>
            </a:endParaRPr>
          </a:p>
          <a:p>
            <a:pPr algn="just"/>
            <a:r>
              <a:rPr lang="en-US" sz="2400">
                <a:solidFill>
                  <a:schemeClr val="bg1">
                    <a:lumMod val="85000"/>
                  </a:schemeClr>
                </a:solidFill>
                <a:latin typeface="Jost" pitchFamily="2" charset="0"/>
                <a:ea typeface="Jost" pitchFamily="2" charset="0"/>
              </a:rPr>
              <a:t>Obuhvata više oblasti poput programiranja, psihologije i dizajna kako bi sistemi bili jednostavni, korisni i prijatni za korišćenje.</a:t>
            </a:r>
          </a:p>
        </p:txBody>
      </p:sp>
      <p:cxnSp>
        <p:nvCxnSpPr>
          <p:cNvPr id="6" name="Straight Connector 5">
            <a:extLst>
              <a:ext uri="{FF2B5EF4-FFF2-40B4-BE49-F238E27FC236}">
                <a16:creationId xmlns:a16="http://schemas.microsoft.com/office/drawing/2014/main" id="{CD0951A5-85C6-EB81-48C8-88C8227502BB}"/>
              </a:ext>
            </a:extLst>
          </p:cNvPr>
          <p:cNvCxnSpPr>
            <a:cxnSpLocks/>
          </p:cNvCxnSpPr>
          <p:nvPr/>
        </p:nvCxnSpPr>
        <p:spPr>
          <a:xfrm>
            <a:off x="423670" y="2333577"/>
            <a:ext cx="7315200" cy="0"/>
          </a:xfrm>
          <a:prstGeom prst="line">
            <a:avLst/>
          </a:prstGeom>
          <a:ln>
            <a:solidFill>
              <a:schemeClr val="tx1">
                <a:lumMod val="65000"/>
                <a:lumOff val="35000"/>
              </a:schemeClr>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72683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3B875-118E-8CDB-5C5C-7EE13AC9D05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DF5E00E-04D5-940C-E00E-3C2EE996F781}"/>
              </a:ext>
            </a:extLst>
          </p:cNvPr>
          <p:cNvSpPr/>
          <p:nvPr/>
        </p:nvSpPr>
        <p:spPr>
          <a:xfrm>
            <a:off x="0" y="0"/>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F7EC964-8F1F-2E64-A242-BC2C28E43B42}"/>
              </a:ext>
            </a:extLst>
          </p:cNvPr>
          <p:cNvSpPr txBox="1"/>
          <p:nvPr/>
        </p:nvSpPr>
        <p:spPr>
          <a:xfrm>
            <a:off x="76200" y="123825"/>
            <a:ext cx="7310014" cy="461665"/>
          </a:xfrm>
          <a:prstGeom prst="rect">
            <a:avLst/>
          </a:prstGeom>
          <a:noFill/>
        </p:spPr>
        <p:txBody>
          <a:bodyPr wrap="none" rtlCol="0">
            <a:spAutoFit/>
          </a:bodyPr>
          <a:lstStyle/>
          <a:p>
            <a:r>
              <a:rPr lang="en-US" sz="24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KORISNI</a:t>
            </a:r>
            <a:r>
              <a:rPr lang="sr-Latn-BA" sz="24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ČKI INTERFEJS </a:t>
            </a:r>
            <a:r>
              <a:rPr lang="sr-Latn-BA" sz="2400" b="1">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(UI – USER INTERFACE)</a:t>
            </a:r>
            <a:endParaRPr lang="en-US" sz="2400">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endParaRPr>
          </a:p>
        </p:txBody>
      </p:sp>
      <p:sp>
        <p:nvSpPr>
          <p:cNvPr id="12" name="TextBox 11">
            <a:extLst>
              <a:ext uri="{FF2B5EF4-FFF2-40B4-BE49-F238E27FC236}">
                <a16:creationId xmlns:a16="http://schemas.microsoft.com/office/drawing/2014/main" id="{3A3D963F-9C8A-322F-8603-22FF214D4D4B}"/>
              </a:ext>
            </a:extLst>
          </p:cNvPr>
          <p:cNvSpPr txBox="1"/>
          <p:nvPr/>
        </p:nvSpPr>
        <p:spPr>
          <a:xfrm>
            <a:off x="6728460" y="1760378"/>
            <a:ext cx="4882896" cy="954107"/>
          </a:xfrm>
          <a:prstGeom prst="rect">
            <a:avLst/>
          </a:prstGeom>
          <a:noFill/>
        </p:spPr>
        <p:txBody>
          <a:bodyPr wrap="square" rtlCol="0">
            <a:spAutoFit/>
          </a:bodyPr>
          <a:lstStyle/>
          <a:p>
            <a:pPr algn="just"/>
            <a:r>
              <a:rPr lang="en-US" sz="1400">
                <a:solidFill>
                  <a:schemeClr val="bg1">
                    <a:lumMod val="85000"/>
                  </a:schemeClr>
                </a:solidFill>
                <a:latin typeface="Inter" panose="02000503000000020004" pitchFamily="2" charset="0"/>
                <a:ea typeface="Inter" panose="02000503000000020004" pitchFamily="2" charset="0"/>
              </a:rPr>
              <a:t>Korisnički interfejs (UI) je način na koji korisnik komunicira sa nekim sistemom ili aplikacijom. To obuhvata sve elemente koje korisnik vidi i koristi, kao što su dugmad, meniji, ikonice i poruke.</a:t>
            </a:r>
          </a:p>
        </p:txBody>
      </p:sp>
      <p:pic>
        <p:nvPicPr>
          <p:cNvPr id="6" name="Picture 5">
            <a:extLst>
              <a:ext uri="{FF2B5EF4-FFF2-40B4-BE49-F238E27FC236}">
                <a16:creationId xmlns:a16="http://schemas.microsoft.com/office/drawing/2014/main" id="{35FDEF4E-B855-6D54-DAFA-9989487024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1008" y="3527803"/>
            <a:ext cx="5084064" cy="2858626"/>
          </a:xfrm>
          <a:prstGeom prst="rect">
            <a:avLst/>
          </a:prstGeom>
          <a:effectLst>
            <a:outerShdw blurRad="63500" sx="102000" sy="102000" algn="ctr" rotWithShape="0">
              <a:prstClr val="black">
                <a:alpha val="40000"/>
              </a:prstClr>
            </a:outerShdw>
          </a:effectLst>
        </p:spPr>
      </p:pic>
      <p:pic>
        <p:nvPicPr>
          <p:cNvPr id="3" name="Picture 2">
            <a:extLst>
              <a:ext uri="{FF2B5EF4-FFF2-40B4-BE49-F238E27FC236}">
                <a16:creationId xmlns:a16="http://schemas.microsoft.com/office/drawing/2014/main" id="{3183062B-CBCB-92AE-85D7-330687C417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752" y="947059"/>
            <a:ext cx="5084064" cy="2858626"/>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25B7FEF3-D25C-5000-EC31-22FEFE180B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4904" y="4227670"/>
            <a:ext cx="3562151" cy="1889666"/>
          </a:xfrm>
          <a:prstGeom prst="rect">
            <a:avLst/>
          </a:prstGeom>
          <a:effectLst>
            <a:outerShdw blurRad="63500" sx="102000" sy="102000" algn="ctr" rotWithShape="0">
              <a:prstClr val="black">
                <a:alpha val="40000"/>
              </a:prstClr>
            </a:outerShdw>
          </a:effectLst>
        </p:spPr>
      </p:pic>
      <p:sp>
        <p:nvSpPr>
          <p:cNvPr id="9" name="TextBox 8">
            <a:extLst>
              <a:ext uri="{FF2B5EF4-FFF2-40B4-BE49-F238E27FC236}">
                <a16:creationId xmlns:a16="http://schemas.microsoft.com/office/drawing/2014/main" id="{1BF2F5F0-7036-EF09-AE68-42CC3F1E0EFC}"/>
              </a:ext>
            </a:extLst>
          </p:cNvPr>
          <p:cNvSpPr txBox="1"/>
          <p:nvPr/>
        </p:nvSpPr>
        <p:spPr>
          <a:xfrm>
            <a:off x="8601075" y="4049175"/>
            <a:ext cx="2804922" cy="1815882"/>
          </a:xfrm>
          <a:prstGeom prst="rect">
            <a:avLst/>
          </a:prstGeom>
          <a:noFill/>
        </p:spPr>
        <p:txBody>
          <a:bodyPr wrap="square" rtlCol="0">
            <a:spAutoFit/>
          </a:bodyPr>
          <a:lstStyle/>
          <a:p>
            <a:pPr algn="just"/>
            <a:r>
              <a:rPr lang="en-US" sz="1400">
                <a:solidFill>
                  <a:schemeClr val="bg1">
                    <a:lumMod val="85000"/>
                  </a:schemeClr>
                </a:solidFill>
                <a:latin typeface="Inter" panose="02000503000000020004" pitchFamily="2" charset="0"/>
                <a:ea typeface="Inter" panose="02000503000000020004" pitchFamily="2" charset="0"/>
              </a:rPr>
              <a:t>UI omogućava korisniku da jednostavno upravlja sistemom i dobija povratne informacije o svojim akcijama. Njegov cilj je da bude jasan, pregledan i lak za korišćenje, kako bi korisnik bez problema mogao da obavi željene zadatke.</a:t>
            </a:r>
          </a:p>
        </p:txBody>
      </p:sp>
    </p:spTree>
    <p:extLst>
      <p:ext uri="{BB962C8B-B14F-4D97-AF65-F5344CB8AC3E}">
        <p14:creationId xmlns:p14="http://schemas.microsoft.com/office/powerpoint/2010/main" val="3190514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59645-6E5E-FF84-71E6-1FFE9DBB0DC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87389A1-1AA1-42CB-AF8D-1DFD1C5B161A}"/>
              </a:ext>
            </a:extLst>
          </p:cNvPr>
          <p:cNvSpPr/>
          <p:nvPr/>
        </p:nvSpPr>
        <p:spPr>
          <a:xfrm>
            <a:off x="0" y="0"/>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3C6E0F0-E0CE-520B-365B-4D82C0C62389}"/>
              </a:ext>
            </a:extLst>
          </p:cNvPr>
          <p:cNvSpPr txBox="1"/>
          <p:nvPr/>
        </p:nvSpPr>
        <p:spPr>
          <a:xfrm>
            <a:off x="76200" y="123825"/>
            <a:ext cx="7677102" cy="461665"/>
          </a:xfrm>
          <a:prstGeom prst="rect">
            <a:avLst/>
          </a:prstGeom>
          <a:noFill/>
        </p:spPr>
        <p:txBody>
          <a:bodyPr wrap="none" rtlCol="0">
            <a:spAutoFit/>
          </a:bodyPr>
          <a:lstStyle/>
          <a:p>
            <a:r>
              <a:rPr lang="en-US" sz="24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KORISNI</a:t>
            </a:r>
            <a:r>
              <a:rPr lang="sr-Latn-BA" sz="24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ČK</a:t>
            </a:r>
            <a:r>
              <a:rPr lang="en-US" sz="24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O ISKUSTVO</a:t>
            </a:r>
            <a:r>
              <a:rPr lang="sr-Latn-BA" sz="24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 </a:t>
            </a:r>
            <a:r>
              <a:rPr lang="sr-Latn-BA" sz="2400" b="1">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(U</a:t>
            </a:r>
            <a:r>
              <a:rPr lang="en-US" sz="2400" b="1">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X</a:t>
            </a:r>
            <a:r>
              <a:rPr lang="sr-Latn-BA" sz="2400" b="1">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 – USER </a:t>
            </a:r>
            <a:r>
              <a:rPr lang="en-US" sz="2400" b="1">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EXPERIENCE</a:t>
            </a:r>
            <a:r>
              <a:rPr lang="sr-Latn-BA" sz="2400" b="1">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a:t>
            </a:r>
            <a:endParaRPr lang="en-US" sz="2400">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endParaRPr>
          </a:p>
        </p:txBody>
      </p:sp>
      <p:sp>
        <p:nvSpPr>
          <p:cNvPr id="12" name="TextBox 11">
            <a:extLst>
              <a:ext uri="{FF2B5EF4-FFF2-40B4-BE49-F238E27FC236}">
                <a16:creationId xmlns:a16="http://schemas.microsoft.com/office/drawing/2014/main" id="{4B03B5B5-CEFC-2E0F-9431-88D0AA93EB46}"/>
              </a:ext>
            </a:extLst>
          </p:cNvPr>
          <p:cNvSpPr txBox="1"/>
          <p:nvPr/>
        </p:nvSpPr>
        <p:spPr>
          <a:xfrm>
            <a:off x="8167829" y="1149047"/>
            <a:ext cx="3400699" cy="1600438"/>
          </a:xfrm>
          <a:prstGeom prst="rect">
            <a:avLst/>
          </a:prstGeom>
          <a:noFill/>
        </p:spPr>
        <p:txBody>
          <a:bodyPr wrap="square" rtlCol="0">
            <a:spAutoFit/>
          </a:bodyPr>
          <a:lstStyle/>
          <a:p>
            <a:pPr algn="just"/>
            <a:r>
              <a:rPr lang="en-US" sz="1400">
                <a:solidFill>
                  <a:schemeClr val="bg1">
                    <a:lumMod val="85000"/>
                  </a:schemeClr>
                </a:solidFill>
                <a:latin typeface="Inter" panose="02000503000000020004" pitchFamily="2" charset="0"/>
                <a:ea typeface="Inter" panose="02000503000000020004" pitchFamily="2" charset="0"/>
              </a:rPr>
              <a:t>Korisničko iskustvo (UX) predstavlja cjelokupan doživljaj korisnika prilikom korišćenja neke aplikacije ili sistema. To uključuje koliko je sistem lak za korišćenje, koliko brzo korisnik može da pronađe ono što mu treba i koliko je zadovoljan tokom korišćenja.</a:t>
            </a:r>
          </a:p>
        </p:txBody>
      </p:sp>
      <p:sp>
        <p:nvSpPr>
          <p:cNvPr id="9" name="TextBox 8">
            <a:extLst>
              <a:ext uri="{FF2B5EF4-FFF2-40B4-BE49-F238E27FC236}">
                <a16:creationId xmlns:a16="http://schemas.microsoft.com/office/drawing/2014/main" id="{666FE685-63BE-47AE-4B40-1820BA165B3A}"/>
              </a:ext>
            </a:extLst>
          </p:cNvPr>
          <p:cNvSpPr txBox="1"/>
          <p:nvPr/>
        </p:nvSpPr>
        <p:spPr>
          <a:xfrm>
            <a:off x="8167828" y="2938965"/>
            <a:ext cx="3400699" cy="1169551"/>
          </a:xfrm>
          <a:prstGeom prst="rect">
            <a:avLst/>
          </a:prstGeom>
          <a:noFill/>
        </p:spPr>
        <p:txBody>
          <a:bodyPr wrap="square" rtlCol="0">
            <a:spAutoFit/>
          </a:bodyPr>
          <a:lstStyle/>
          <a:p>
            <a:pPr algn="just"/>
            <a:r>
              <a:rPr lang="en-US" sz="1400">
                <a:solidFill>
                  <a:schemeClr val="bg1">
                    <a:lumMod val="85000"/>
                  </a:schemeClr>
                </a:solidFill>
                <a:latin typeface="Inter" panose="02000503000000020004" pitchFamily="2" charset="0"/>
                <a:ea typeface="Inter" panose="02000503000000020004" pitchFamily="2" charset="0"/>
              </a:rPr>
              <a:t>UX nije samo izgled, već i osjećaj tokom rada sa aplikacijom. Cilj je da korisnik bez poteškoća obavi zadatak i da iskustvo bude jednostavno, jasno i prijatno.</a:t>
            </a:r>
          </a:p>
        </p:txBody>
      </p:sp>
      <p:pic>
        <p:nvPicPr>
          <p:cNvPr id="5" name="Picture 4">
            <a:extLst>
              <a:ext uri="{FF2B5EF4-FFF2-40B4-BE49-F238E27FC236}">
                <a16:creationId xmlns:a16="http://schemas.microsoft.com/office/drawing/2014/main" id="{DED9EA0A-E542-6008-DAC2-D5E2DB0EC5E2}"/>
              </a:ext>
            </a:extLst>
          </p:cNvPr>
          <p:cNvPicPr>
            <a:picLocks noChangeAspect="1"/>
          </p:cNvPicPr>
          <p:nvPr/>
        </p:nvPicPr>
        <p:blipFill>
          <a:blip r:embed="rId2"/>
          <a:stretch>
            <a:fillRect/>
          </a:stretch>
        </p:blipFill>
        <p:spPr>
          <a:xfrm>
            <a:off x="432816" y="1240487"/>
            <a:ext cx="7111543" cy="4962516"/>
          </a:xfrm>
          <a:prstGeom prst="rect">
            <a:avLst/>
          </a:prstGeom>
          <a:effectLst>
            <a:outerShdw blurRad="63500" sx="102000" sy="102000" algn="ctr" rotWithShape="0">
              <a:prstClr val="black">
                <a:alpha val="40000"/>
              </a:prstClr>
            </a:outerShdw>
          </a:effectLst>
        </p:spPr>
      </p:pic>
      <p:pic>
        <p:nvPicPr>
          <p:cNvPr id="10" name="Picture 9">
            <a:extLst>
              <a:ext uri="{FF2B5EF4-FFF2-40B4-BE49-F238E27FC236}">
                <a16:creationId xmlns:a16="http://schemas.microsoft.com/office/drawing/2014/main" id="{D513BC18-5F41-AAEA-E9B4-7C82D0D1DE2A}"/>
              </a:ext>
            </a:extLst>
          </p:cNvPr>
          <p:cNvPicPr>
            <a:picLocks noChangeAspect="1"/>
          </p:cNvPicPr>
          <p:nvPr/>
        </p:nvPicPr>
        <p:blipFill>
          <a:blip r:embed="rId3"/>
          <a:stretch>
            <a:fillRect/>
          </a:stretch>
        </p:blipFill>
        <p:spPr>
          <a:xfrm>
            <a:off x="8783920" y="4303911"/>
            <a:ext cx="2168513" cy="189909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227439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357D7-982F-8E9A-7BA1-933603D5576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4C9197F-AD5D-1DDA-128E-D136FE2F7799}"/>
              </a:ext>
            </a:extLst>
          </p:cNvPr>
          <p:cNvSpPr/>
          <p:nvPr/>
        </p:nvSpPr>
        <p:spPr>
          <a:xfrm>
            <a:off x="0" y="0"/>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C89FAD7-425F-69DA-363B-EC777C67EE69}"/>
              </a:ext>
            </a:extLst>
          </p:cNvPr>
          <p:cNvPicPr>
            <a:picLocks noChangeAspect="1"/>
          </p:cNvPicPr>
          <p:nvPr/>
        </p:nvPicPr>
        <p:blipFill>
          <a:blip r:embed="rId2">
            <a:grayscl/>
          </a:blip>
          <a:stretch>
            <a:fillRect/>
          </a:stretch>
        </p:blipFill>
        <p:spPr>
          <a:xfrm>
            <a:off x="0" y="0"/>
            <a:ext cx="6287767" cy="6858000"/>
          </a:xfrm>
          <a:prstGeom prst="rect">
            <a:avLst/>
          </a:prstGeom>
          <a:effectLst>
            <a:outerShdw blurRad="50800" dist="38100" algn="l" rotWithShape="0">
              <a:prstClr val="black">
                <a:alpha val="40000"/>
              </a:prstClr>
            </a:outerShdw>
          </a:effectLst>
        </p:spPr>
      </p:pic>
      <p:sp>
        <p:nvSpPr>
          <p:cNvPr id="11" name="TextBox 10">
            <a:extLst>
              <a:ext uri="{FF2B5EF4-FFF2-40B4-BE49-F238E27FC236}">
                <a16:creationId xmlns:a16="http://schemas.microsoft.com/office/drawing/2014/main" id="{CC50BB98-3FB0-07DB-CAFC-81BC774DE803}"/>
              </a:ext>
            </a:extLst>
          </p:cNvPr>
          <p:cNvSpPr txBox="1"/>
          <p:nvPr/>
        </p:nvSpPr>
        <p:spPr>
          <a:xfrm>
            <a:off x="76200" y="123825"/>
            <a:ext cx="8507457" cy="461665"/>
          </a:xfrm>
          <a:prstGeom prst="rect">
            <a:avLst/>
          </a:prstGeom>
          <a:noFill/>
        </p:spPr>
        <p:txBody>
          <a:bodyPr wrap="none" rtlCol="0">
            <a:spAutoFit/>
          </a:bodyPr>
          <a:lstStyle/>
          <a:p>
            <a:r>
              <a:rPr lang="en-US" sz="24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PET KRITERIJUMA UPOTREBLJIVOSTI </a:t>
            </a:r>
            <a:r>
              <a:rPr lang="en-US" sz="2400" b="1">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(ACCESSIBILITY)</a:t>
            </a:r>
            <a:endParaRPr lang="en-US" sz="2400">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endParaRPr>
          </a:p>
        </p:txBody>
      </p:sp>
      <p:sp>
        <p:nvSpPr>
          <p:cNvPr id="6" name="Shape 1">
            <a:extLst>
              <a:ext uri="{FF2B5EF4-FFF2-40B4-BE49-F238E27FC236}">
                <a16:creationId xmlns:a16="http://schemas.microsoft.com/office/drawing/2014/main" id="{7C30310A-CCE9-C23E-8119-9C7B93716ED8}"/>
              </a:ext>
            </a:extLst>
          </p:cNvPr>
          <p:cNvSpPr/>
          <p:nvPr/>
        </p:nvSpPr>
        <p:spPr>
          <a:xfrm>
            <a:off x="6580156" y="712463"/>
            <a:ext cx="5435060" cy="1052329"/>
          </a:xfrm>
          <a:prstGeom prst="roundRect">
            <a:avLst>
              <a:gd name="adj" fmla="val 1147"/>
            </a:avLst>
          </a:prstGeom>
          <a:solidFill>
            <a:schemeClr val="bg2">
              <a:lumMod val="25000"/>
            </a:schemeClr>
          </a:solidFill>
          <a:ln/>
        </p:spPr>
      </p:sp>
      <p:sp>
        <p:nvSpPr>
          <p:cNvPr id="7" name="Text 2">
            <a:extLst>
              <a:ext uri="{FF2B5EF4-FFF2-40B4-BE49-F238E27FC236}">
                <a16:creationId xmlns:a16="http://schemas.microsoft.com/office/drawing/2014/main" id="{E765EF68-4CBC-19E9-7524-731602DF2AD6}"/>
              </a:ext>
            </a:extLst>
          </p:cNvPr>
          <p:cNvSpPr/>
          <p:nvPr/>
        </p:nvSpPr>
        <p:spPr>
          <a:xfrm>
            <a:off x="6713244" y="823015"/>
            <a:ext cx="4791392" cy="236687"/>
          </a:xfrm>
          <a:prstGeom prst="rect">
            <a:avLst/>
          </a:prstGeom>
          <a:noFill/>
          <a:ln/>
        </p:spPr>
        <p:txBody>
          <a:bodyPr wrap="square" lIns="0" tIns="0" rIns="0" bIns="0" rtlCol="0" anchor="t"/>
          <a:lstStyle/>
          <a:p>
            <a:pPr>
              <a:lnSpc>
                <a:spcPts val="2450"/>
              </a:lnSpc>
            </a:pPr>
            <a:r>
              <a:rPr lang="en-US" sz="2000" b="1">
                <a:solidFill>
                  <a:schemeClr val="bg1">
                    <a:lumMod val="85000"/>
                  </a:schemeClr>
                </a:solidFill>
                <a:latin typeface="Inter" panose="02000503000000020004" pitchFamily="2" charset="0"/>
                <a:ea typeface="Inter" panose="02000503000000020004" pitchFamily="2" charset="0"/>
              </a:rPr>
              <a:t>NAU</a:t>
            </a:r>
            <a:r>
              <a:rPr lang="sr-Latn-BA" sz="2000" b="1">
                <a:solidFill>
                  <a:schemeClr val="bg1">
                    <a:lumMod val="85000"/>
                  </a:schemeClr>
                </a:solidFill>
                <a:latin typeface="Inter" panose="02000503000000020004" pitchFamily="2" charset="0"/>
                <a:ea typeface="Inter" panose="02000503000000020004" pitchFamily="2" charset="0"/>
              </a:rPr>
              <a:t>ČIVOST (LEARNABILITY)</a:t>
            </a:r>
            <a:endParaRPr lang="en-US" sz="1950" b="1" dirty="0">
              <a:solidFill>
                <a:schemeClr val="bg1">
                  <a:lumMod val="85000"/>
                </a:schemeClr>
              </a:solidFill>
              <a:latin typeface="Inter" panose="02000503000000020004" pitchFamily="2" charset="0"/>
              <a:ea typeface="Inter" panose="02000503000000020004" pitchFamily="2" charset="0"/>
            </a:endParaRPr>
          </a:p>
        </p:txBody>
      </p:sp>
      <p:sp>
        <p:nvSpPr>
          <p:cNvPr id="8" name="Text 3">
            <a:extLst>
              <a:ext uri="{FF2B5EF4-FFF2-40B4-BE49-F238E27FC236}">
                <a16:creationId xmlns:a16="http://schemas.microsoft.com/office/drawing/2014/main" id="{5BCE2FD2-6A17-AEBB-8F89-01C2083DD066}"/>
              </a:ext>
            </a:extLst>
          </p:cNvPr>
          <p:cNvSpPr/>
          <p:nvPr/>
        </p:nvSpPr>
        <p:spPr>
          <a:xfrm>
            <a:off x="6713244" y="1170253"/>
            <a:ext cx="4791392" cy="611286"/>
          </a:xfrm>
          <a:prstGeom prst="rect">
            <a:avLst/>
          </a:prstGeom>
          <a:noFill/>
          <a:ln/>
        </p:spPr>
        <p:txBody>
          <a:bodyPr wrap="square" lIns="0" tIns="0" rIns="0" bIns="0" rtlCol="0" anchor="t"/>
          <a:lstStyle/>
          <a:p>
            <a:r>
              <a:rPr lang="en-US" sz="1400">
                <a:solidFill>
                  <a:schemeClr val="bg1">
                    <a:lumMod val="65000"/>
                  </a:schemeClr>
                </a:solidFill>
                <a:latin typeface="Inter" panose="02000503000000020004" pitchFamily="2" charset="0"/>
                <a:ea typeface="Inter" panose="02000503000000020004" pitchFamily="2" charset="0"/>
              </a:rPr>
              <a:t>Koliko brzo novi korisnik može da nauči osnovne funkcije bez pomoći.</a:t>
            </a:r>
            <a:endParaRPr lang="en-US" sz="1400" dirty="0">
              <a:solidFill>
                <a:schemeClr val="bg1">
                  <a:lumMod val="65000"/>
                </a:schemeClr>
              </a:solidFill>
              <a:latin typeface="Inter" panose="02000503000000020004" pitchFamily="2" charset="0"/>
              <a:ea typeface="Inter" panose="02000503000000020004" pitchFamily="2" charset="0"/>
            </a:endParaRPr>
          </a:p>
        </p:txBody>
      </p:sp>
      <p:sp>
        <p:nvSpPr>
          <p:cNvPr id="13" name="Shape 1">
            <a:extLst>
              <a:ext uri="{FF2B5EF4-FFF2-40B4-BE49-F238E27FC236}">
                <a16:creationId xmlns:a16="http://schemas.microsoft.com/office/drawing/2014/main" id="{130F17B3-4DAF-A147-6713-15EC3970326D}"/>
              </a:ext>
            </a:extLst>
          </p:cNvPr>
          <p:cNvSpPr/>
          <p:nvPr/>
        </p:nvSpPr>
        <p:spPr>
          <a:xfrm>
            <a:off x="6580156" y="1927664"/>
            <a:ext cx="5435060" cy="1052329"/>
          </a:xfrm>
          <a:prstGeom prst="roundRect">
            <a:avLst>
              <a:gd name="adj" fmla="val 1147"/>
            </a:avLst>
          </a:prstGeom>
          <a:solidFill>
            <a:schemeClr val="bg2">
              <a:lumMod val="25000"/>
            </a:schemeClr>
          </a:solidFill>
          <a:ln/>
        </p:spPr>
      </p:sp>
      <p:sp>
        <p:nvSpPr>
          <p:cNvPr id="14" name="Text 2">
            <a:extLst>
              <a:ext uri="{FF2B5EF4-FFF2-40B4-BE49-F238E27FC236}">
                <a16:creationId xmlns:a16="http://schemas.microsoft.com/office/drawing/2014/main" id="{9850A0E8-622F-54BE-60E8-140E24E89E3C}"/>
              </a:ext>
            </a:extLst>
          </p:cNvPr>
          <p:cNvSpPr/>
          <p:nvPr/>
        </p:nvSpPr>
        <p:spPr>
          <a:xfrm>
            <a:off x="6713244" y="2038216"/>
            <a:ext cx="4791392" cy="236687"/>
          </a:xfrm>
          <a:prstGeom prst="rect">
            <a:avLst/>
          </a:prstGeom>
          <a:noFill/>
          <a:ln/>
        </p:spPr>
        <p:txBody>
          <a:bodyPr wrap="square" lIns="0" tIns="0" rIns="0" bIns="0" rtlCol="0" anchor="t"/>
          <a:lstStyle/>
          <a:p>
            <a:pPr>
              <a:lnSpc>
                <a:spcPts val="2450"/>
              </a:lnSpc>
            </a:pPr>
            <a:r>
              <a:rPr lang="sr-Latn-BA" sz="2000" b="1">
                <a:solidFill>
                  <a:schemeClr val="bg1">
                    <a:lumMod val="85000"/>
                  </a:schemeClr>
                </a:solidFill>
                <a:latin typeface="Inter" panose="02000503000000020004" pitchFamily="2" charset="0"/>
                <a:ea typeface="Inter" panose="02000503000000020004" pitchFamily="2" charset="0"/>
              </a:rPr>
              <a:t>EFIKASNOST (EFFICENCY)</a:t>
            </a:r>
            <a:endParaRPr lang="en-US" sz="1950" b="1" dirty="0">
              <a:solidFill>
                <a:schemeClr val="bg1">
                  <a:lumMod val="85000"/>
                </a:schemeClr>
              </a:solidFill>
              <a:latin typeface="Inter" panose="02000503000000020004" pitchFamily="2" charset="0"/>
              <a:ea typeface="Inter" panose="02000503000000020004" pitchFamily="2" charset="0"/>
            </a:endParaRPr>
          </a:p>
        </p:txBody>
      </p:sp>
      <p:sp>
        <p:nvSpPr>
          <p:cNvPr id="15" name="Text 3">
            <a:extLst>
              <a:ext uri="{FF2B5EF4-FFF2-40B4-BE49-F238E27FC236}">
                <a16:creationId xmlns:a16="http://schemas.microsoft.com/office/drawing/2014/main" id="{D2A0DF7B-102C-BDD9-199D-1A45CC0B6D08}"/>
              </a:ext>
            </a:extLst>
          </p:cNvPr>
          <p:cNvSpPr/>
          <p:nvPr/>
        </p:nvSpPr>
        <p:spPr>
          <a:xfrm>
            <a:off x="6713244" y="2385454"/>
            <a:ext cx="4791392" cy="611286"/>
          </a:xfrm>
          <a:prstGeom prst="rect">
            <a:avLst/>
          </a:prstGeom>
          <a:noFill/>
          <a:ln/>
        </p:spPr>
        <p:txBody>
          <a:bodyPr wrap="square" lIns="0" tIns="0" rIns="0" bIns="0" rtlCol="0" anchor="t"/>
          <a:lstStyle/>
          <a:p>
            <a:r>
              <a:rPr lang="pl-PL" sz="1400">
                <a:solidFill>
                  <a:schemeClr val="bg1">
                    <a:lumMod val="65000"/>
                  </a:schemeClr>
                </a:solidFill>
                <a:latin typeface="Inter" panose="02000503000000020004" pitchFamily="2" charset="0"/>
                <a:ea typeface="Inter" panose="02000503000000020004" pitchFamily="2" charset="0"/>
              </a:rPr>
              <a:t>Koliko brzo iskusni korisnik može da obavi zadatak.</a:t>
            </a:r>
            <a:endParaRPr lang="en-US" sz="1400" dirty="0">
              <a:solidFill>
                <a:schemeClr val="bg1">
                  <a:lumMod val="65000"/>
                </a:schemeClr>
              </a:solidFill>
              <a:latin typeface="Inter" panose="02000503000000020004" pitchFamily="2" charset="0"/>
              <a:ea typeface="Inter" panose="02000503000000020004" pitchFamily="2" charset="0"/>
            </a:endParaRPr>
          </a:p>
        </p:txBody>
      </p:sp>
      <p:sp>
        <p:nvSpPr>
          <p:cNvPr id="16" name="Shape 1">
            <a:extLst>
              <a:ext uri="{FF2B5EF4-FFF2-40B4-BE49-F238E27FC236}">
                <a16:creationId xmlns:a16="http://schemas.microsoft.com/office/drawing/2014/main" id="{0D45F7B8-6D3D-EA54-8CCD-FE7A98B9FFA9}"/>
              </a:ext>
            </a:extLst>
          </p:cNvPr>
          <p:cNvSpPr/>
          <p:nvPr/>
        </p:nvSpPr>
        <p:spPr>
          <a:xfrm>
            <a:off x="6580156" y="3161153"/>
            <a:ext cx="5435060" cy="1052329"/>
          </a:xfrm>
          <a:prstGeom prst="roundRect">
            <a:avLst>
              <a:gd name="adj" fmla="val 1147"/>
            </a:avLst>
          </a:prstGeom>
          <a:solidFill>
            <a:schemeClr val="bg2">
              <a:lumMod val="25000"/>
            </a:schemeClr>
          </a:solidFill>
          <a:ln/>
        </p:spPr>
      </p:sp>
      <p:sp>
        <p:nvSpPr>
          <p:cNvPr id="17" name="Text 2">
            <a:extLst>
              <a:ext uri="{FF2B5EF4-FFF2-40B4-BE49-F238E27FC236}">
                <a16:creationId xmlns:a16="http://schemas.microsoft.com/office/drawing/2014/main" id="{A74000FD-ADEB-8762-7A9F-FBC08D0BDAA0}"/>
              </a:ext>
            </a:extLst>
          </p:cNvPr>
          <p:cNvSpPr/>
          <p:nvPr/>
        </p:nvSpPr>
        <p:spPr>
          <a:xfrm>
            <a:off x="6713244" y="3271705"/>
            <a:ext cx="4791392" cy="236687"/>
          </a:xfrm>
          <a:prstGeom prst="rect">
            <a:avLst/>
          </a:prstGeom>
          <a:noFill/>
          <a:ln/>
        </p:spPr>
        <p:txBody>
          <a:bodyPr wrap="square" lIns="0" tIns="0" rIns="0" bIns="0" rtlCol="0" anchor="t"/>
          <a:lstStyle/>
          <a:p>
            <a:pPr>
              <a:lnSpc>
                <a:spcPts val="2450"/>
              </a:lnSpc>
            </a:pPr>
            <a:r>
              <a:rPr lang="sr-Latn-BA" sz="2000" b="1">
                <a:solidFill>
                  <a:schemeClr val="bg1">
                    <a:lumMod val="85000"/>
                  </a:schemeClr>
                </a:solidFill>
                <a:latin typeface="Inter" panose="02000503000000020004" pitchFamily="2" charset="0"/>
                <a:ea typeface="Inter" panose="02000503000000020004" pitchFamily="2" charset="0"/>
              </a:rPr>
              <a:t>ZAPAMTLJIVOST (MEMORABILITY)</a:t>
            </a:r>
            <a:endParaRPr lang="en-US" sz="1950" b="1" dirty="0">
              <a:solidFill>
                <a:schemeClr val="bg1">
                  <a:lumMod val="85000"/>
                </a:schemeClr>
              </a:solidFill>
              <a:latin typeface="Inter" panose="02000503000000020004" pitchFamily="2" charset="0"/>
              <a:ea typeface="Inter" panose="02000503000000020004" pitchFamily="2" charset="0"/>
            </a:endParaRPr>
          </a:p>
        </p:txBody>
      </p:sp>
      <p:sp>
        <p:nvSpPr>
          <p:cNvPr id="18" name="Text 3">
            <a:extLst>
              <a:ext uri="{FF2B5EF4-FFF2-40B4-BE49-F238E27FC236}">
                <a16:creationId xmlns:a16="http://schemas.microsoft.com/office/drawing/2014/main" id="{DE1DC5C8-EED1-1A50-1CB9-B21AC8051B4D}"/>
              </a:ext>
            </a:extLst>
          </p:cNvPr>
          <p:cNvSpPr/>
          <p:nvPr/>
        </p:nvSpPr>
        <p:spPr>
          <a:xfrm>
            <a:off x="6713244" y="3618943"/>
            <a:ext cx="4791392" cy="611286"/>
          </a:xfrm>
          <a:prstGeom prst="rect">
            <a:avLst/>
          </a:prstGeom>
          <a:noFill/>
          <a:ln/>
        </p:spPr>
        <p:txBody>
          <a:bodyPr wrap="square" lIns="0" tIns="0" rIns="0" bIns="0" rtlCol="0" anchor="t"/>
          <a:lstStyle/>
          <a:p>
            <a:r>
              <a:rPr lang="fi-FI" sz="1400">
                <a:solidFill>
                  <a:schemeClr val="bg1">
                    <a:lumMod val="65000"/>
                  </a:schemeClr>
                </a:solidFill>
                <a:latin typeface="Inter" panose="02000503000000020004" pitchFamily="2" charset="0"/>
                <a:ea typeface="Inter" panose="02000503000000020004" pitchFamily="2" charset="0"/>
              </a:rPr>
              <a:t>Koliko lako korisnik ponovo koristi sistem nakon pauze.</a:t>
            </a:r>
            <a:endParaRPr lang="en-US" sz="1400" dirty="0">
              <a:solidFill>
                <a:schemeClr val="bg1">
                  <a:lumMod val="65000"/>
                </a:schemeClr>
              </a:solidFill>
              <a:latin typeface="Inter" panose="02000503000000020004" pitchFamily="2" charset="0"/>
              <a:ea typeface="Inter" panose="02000503000000020004" pitchFamily="2" charset="0"/>
            </a:endParaRPr>
          </a:p>
        </p:txBody>
      </p:sp>
      <p:sp>
        <p:nvSpPr>
          <p:cNvPr id="19" name="Shape 1">
            <a:extLst>
              <a:ext uri="{FF2B5EF4-FFF2-40B4-BE49-F238E27FC236}">
                <a16:creationId xmlns:a16="http://schemas.microsoft.com/office/drawing/2014/main" id="{09F258CE-AC7A-2EF2-04A0-8DF7536452B9}"/>
              </a:ext>
            </a:extLst>
          </p:cNvPr>
          <p:cNvSpPr/>
          <p:nvPr/>
        </p:nvSpPr>
        <p:spPr>
          <a:xfrm>
            <a:off x="6580156" y="4394642"/>
            <a:ext cx="5435060" cy="1052329"/>
          </a:xfrm>
          <a:prstGeom prst="roundRect">
            <a:avLst>
              <a:gd name="adj" fmla="val 1147"/>
            </a:avLst>
          </a:prstGeom>
          <a:solidFill>
            <a:schemeClr val="bg2">
              <a:lumMod val="25000"/>
            </a:schemeClr>
          </a:solidFill>
          <a:ln/>
        </p:spPr>
      </p:sp>
      <p:sp>
        <p:nvSpPr>
          <p:cNvPr id="20" name="Text 2">
            <a:extLst>
              <a:ext uri="{FF2B5EF4-FFF2-40B4-BE49-F238E27FC236}">
                <a16:creationId xmlns:a16="http://schemas.microsoft.com/office/drawing/2014/main" id="{A98AD5ED-A12C-3DAD-C3AD-53B4DBC7A037}"/>
              </a:ext>
            </a:extLst>
          </p:cNvPr>
          <p:cNvSpPr/>
          <p:nvPr/>
        </p:nvSpPr>
        <p:spPr>
          <a:xfrm>
            <a:off x="6713244" y="4505194"/>
            <a:ext cx="4791392" cy="236687"/>
          </a:xfrm>
          <a:prstGeom prst="rect">
            <a:avLst/>
          </a:prstGeom>
          <a:noFill/>
          <a:ln/>
        </p:spPr>
        <p:txBody>
          <a:bodyPr wrap="square" lIns="0" tIns="0" rIns="0" bIns="0" rtlCol="0" anchor="t"/>
          <a:lstStyle/>
          <a:p>
            <a:pPr>
              <a:lnSpc>
                <a:spcPts val="2450"/>
              </a:lnSpc>
            </a:pPr>
            <a:r>
              <a:rPr lang="sr-Latn-BA" sz="2000" b="1">
                <a:solidFill>
                  <a:schemeClr val="bg1">
                    <a:lumMod val="85000"/>
                  </a:schemeClr>
                </a:solidFill>
                <a:latin typeface="Inter" panose="02000503000000020004" pitchFamily="2" charset="0"/>
                <a:ea typeface="Inter" panose="02000503000000020004" pitchFamily="2" charset="0"/>
              </a:rPr>
              <a:t>EFEKTIVNOST (EFFECTIVITY)</a:t>
            </a:r>
            <a:endParaRPr lang="en-US" sz="1950" b="1" dirty="0">
              <a:solidFill>
                <a:schemeClr val="bg1">
                  <a:lumMod val="85000"/>
                </a:schemeClr>
              </a:solidFill>
              <a:latin typeface="Inter" panose="02000503000000020004" pitchFamily="2" charset="0"/>
              <a:ea typeface="Inter" panose="02000503000000020004" pitchFamily="2" charset="0"/>
            </a:endParaRPr>
          </a:p>
        </p:txBody>
      </p:sp>
      <p:sp>
        <p:nvSpPr>
          <p:cNvPr id="21" name="Text 3">
            <a:extLst>
              <a:ext uri="{FF2B5EF4-FFF2-40B4-BE49-F238E27FC236}">
                <a16:creationId xmlns:a16="http://schemas.microsoft.com/office/drawing/2014/main" id="{423E9E6F-77AA-B590-894E-EFA9C8F15FE5}"/>
              </a:ext>
            </a:extLst>
          </p:cNvPr>
          <p:cNvSpPr/>
          <p:nvPr/>
        </p:nvSpPr>
        <p:spPr>
          <a:xfrm>
            <a:off x="6713244" y="4852432"/>
            <a:ext cx="4791392" cy="611286"/>
          </a:xfrm>
          <a:prstGeom prst="rect">
            <a:avLst/>
          </a:prstGeom>
          <a:noFill/>
          <a:ln/>
        </p:spPr>
        <p:txBody>
          <a:bodyPr wrap="square" lIns="0" tIns="0" rIns="0" bIns="0" rtlCol="0" anchor="t"/>
          <a:lstStyle/>
          <a:p>
            <a:r>
              <a:rPr lang="en-US" sz="1400">
                <a:solidFill>
                  <a:schemeClr val="bg1">
                    <a:lumMod val="65000"/>
                  </a:schemeClr>
                </a:solidFill>
                <a:latin typeface="Inter" panose="02000503000000020004" pitchFamily="2" charset="0"/>
                <a:ea typeface="Inter" panose="02000503000000020004" pitchFamily="2" charset="0"/>
              </a:rPr>
              <a:t>Koliko tačno i bez grešaka korisnik postiže svoj cilj.</a:t>
            </a:r>
            <a:endParaRPr lang="en-US" sz="1400" dirty="0">
              <a:solidFill>
                <a:schemeClr val="bg1">
                  <a:lumMod val="65000"/>
                </a:schemeClr>
              </a:solidFill>
              <a:latin typeface="Inter" panose="02000503000000020004" pitchFamily="2" charset="0"/>
              <a:ea typeface="Inter" panose="02000503000000020004" pitchFamily="2" charset="0"/>
            </a:endParaRPr>
          </a:p>
        </p:txBody>
      </p:sp>
      <p:sp>
        <p:nvSpPr>
          <p:cNvPr id="22" name="Shape 1">
            <a:extLst>
              <a:ext uri="{FF2B5EF4-FFF2-40B4-BE49-F238E27FC236}">
                <a16:creationId xmlns:a16="http://schemas.microsoft.com/office/drawing/2014/main" id="{C684D30E-2EB3-C77A-9085-B7F2806F00EB}"/>
              </a:ext>
            </a:extLst>
          </p:cNvPr>
          <p:cNvSpPr/>
          <p:nvPr/>
        </p:nvSpPr>
        <p:spPr>
          <a:xfrm>
            <a:off x="6580156" y="5611384"/>
            <a:ext cx="5435060" cy="1052329"/>
          </a:xfrm>
          <a:prstGeom prst="roundRect">
            <a:avLst>
              <a:gd name="adj" fmla="val 1147"/>
            </a:avLst>
          </a:prstGeom>
          <a:solidFill>
            <a:schemeClr val="bg2">
              <a:lumMod val="25000"/>
            </a:schemeClr>
          </a:solidFill>
          <a:ln/>
        </p:spPr>
      </p:sp>
      <p:sp>
        <p:nvSpPr>
          <p:cNvPr id="23" name="Text 2">
            <a:extLst>
              <a:ext uri="{FF2B5EF4-FFF2-40B4-BE49-F238E27FC236}">
                <a16:creationId xmlns:a16="http://schemas.microsoft.com/office/drawing/2014/main" id="{01288F6C-1F4D-BBBF-C848-64FB829C8504}"/>
              </a:ext>
            </a:extLst>
          </p:cNvPr>
          <p:cNvSpPr/>
          <p:nvPr/>
        </p:nvSpPr>
        <p:spPr>
          <a:xfrm>
            <a:off x="6713244" y="5721936"/>
            <a:ext cx="4791392" cy="236687"/>
          </a:xfrm>
          <a:prstGeom prst="rect">
            <a:avLst/>
          </a:prstGeom>
          <a:noFill/>
          <a:ln/>
        </p:spPr>
        <p:txBody>
          <a:bodyPr wrap="square" lIns="0" tIns="0" rIns="0" bIns="0" rtlCol="0" anchor="t"/>
          <a:lstStyle/>
          <a:p>
            <a:pPr>
              <a:lnSpc>
                <a:spcPts val="2450"/>
              </a:lnSpc>
            </a:pPr>
            <a:r>
              <a:rPr lang="sr-Latn-BA" sz="2000" b="1">
                <a:solidFill>
                  <a:schemeClr val="bg1">
                    <a:lumMod val="85000"/>
                  </a:schemeClr>
                </a:solidFill>
                <a:latin typeface="Inter" panose="02000503000000020004" pitchFamily="2" charset="0"/>
                <a:ea typeface="Inter" panose="02000503000000020004" pitchFamily="2" charset="0"/>
              </a:rPr>
              <a:t>ZADOVOLJSTVO (SATISFACTION)</a:t>
            </a:r>
            <a:endParaRPr lang="en-US" sz="1950" b="1" dirty="0">
              <a:solidFill>
                <a:schemeClr val="bg1">
                  <a:lumMod val="85000"/>
                </a:schemeClr>
              </a:solidFill>
              <a:latin typeface="Inter" panose="02000503000000020004" pitchFamily="2" charset="0"/>
              <a:ea typeface="Inter" panose="02000503000000020004" pitchFamily="2" charset="0"/>
            </a:endParaRPr>
          </a:p>
        </p:txBody>
      </p:sp>
      <p:sp>
        <p:nvSpPr>
          <p:cNvPr id="24" name="Text 3">
            <a:extLst>
              <a:ext uri="{FF2B5EF4-FFF2-40B4-BE49-F238E27FC236}">
                <a16:creationId xmlns:a16="http://schemas.microsoft.com/office/drawing/2014/main" id="{B52A538F-E41C-4712-69A0-48D258595CC0}"/>
              </a:ext>
            </a:extLst>
          </p:cNvPr>
          <p:cNvSpPr/>
          <p:nvPr/>
        </p:nvSpPr>
        <p:spPr>
          <a:xfrm>
            <a:off x="6713244" y="6069174"/>
            <a:ext cx="4791392" cy="611286"/>
          </a:xfrm>
          <a:prstGeom prst="rect">
            <a:avLst/>
          </a:prstGeom>
          <a:noFill/>
          <a:ln/>
        </p:spPr>
        <p:txBody>
          <a:bodyPr wrap="square" lIns="0" tIns="0" rIns="0" bIns="0" rtlCol="0" anchor="t"/>
          <a:lstStyle/>
          <a:p>
            <a:r>
              <a:rPr lang="en-US" sz="1400">
                <a:solidFill>
                  <a:schemeClr val="bg1">
                    <a:lumMod val="65000"/>
                  </a:schemeClr>
                </a:solidFill>
                <a:latin typeface="Inter" panose="02000503000000020004" pitchFamily="2" charset="0"/>
                <a:ea typeface="Inter" panose="02000503000000020004" pitchFamily="2" charset="0"/>
              </a:rPr>
              <a:t>Koliko je korisniku prijatno da koristi sistem.</a:t>
            </a:r>
            <a:endParaRPr lang="en-US" sz="1400" dirty="0">
              <a:solidFill>
                <a:schemeClr val="bg1">
                  <a:lumMod val="65000"/>
                </a:schemeClr>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363332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AE171-8743-F2B2-C19D-EE9D7ABE833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A3D7072-104E-587F-0EB9-E45232516EEA}"/>
              </a:ext>
            </a:extLst>
          </p:cNvPr>
          <p:cNvSpPr/>
          <p:nvPr/>
        </p:nvSpPr>
        <p:spPr>
          <a:xfrm>
            <a:off x="0" y="0"/>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D91C5A1-315B-9E1E-2062-3E8B7A9EC92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5570295" cy="6858000"/>
          </a:xfrm>
          <a:prstGeom prst="rect">
            <a:avLst/>
          </a:prstGeom>
          <a:effectLst>
            <a:outerShdw blurRad="50800" dist="38100" algn="l" rotWithShape="0">
              <a:prstClr val="black">
                <a:alpha val="40000"/>
              </a:prstClr>
            </a:outerShdw>
          </a:effectLst>
        </p:spPr>
      </p:pic>
      <p:sp>
        <p:nvSpPr>
          <p:cNvPr id="11" name="TextBox 10">
            <a:extLst>
              <a:ext uri="{FF2B5EF4-FFF2-40B4-BE49-F238E27FC236}">
                <a16:creationId xmlns:a16="http://schemas.microsoft.com/office/drawing/2014/main" id="{41FFD26B-05AF-84B2-C182-B33E034F2EA8}"/>
              </a:ext>
            </a:extLst>
          </p:cNvPr>
          <p:cNvSpPr txBox="1"/>
          <p:nvPr/>
        </p:nvSpPr>
        <p:spPr>
          <a:xfrm>
            <a:off x="5690616" y="123825"/>
            <a:ext cx="6476453" cy="461665"/>
          </a:xfrm>
          <a:prstGeom prst="rect">
            <a:avLst/>
          </a:prstGeom>
          <a:noFill/>
        </p:spPr>
        <p:txBody>
          <a:bodyPr wrap="none" rtlCol="0">
            <a:spAutoFit/>
          </a:bodyPr>
          <a:lstStyle/>
          <a:p>
            <a:r>
              <a:rPr lang="sr-Latn-BA" sz="24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PRINCIPI DIZAJNA U </a:t>
            </a:r>
            <a:r>
              <a:rPr lang="sr-Latn-BA" sz="2400" b="1">
                <a:solidFill>
                  <a:schemeClr val="bg1">
                    <a:lumMod val="95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WEB APLIKACIJAMA</a:t>
            </a:r>
            <a:endParaRPr lang="en-US" sz="2400">
              <a:solidFill>
                <a:schemeClr val="bg1">
                  <a:lumMod val="95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endParaRPr>
          </a:p>
        </p:txBody>
      </p:sp>
      <p:sp>
        <p:nvSpPr>
          <p:cNvPr id="25" name="TextBox 24">
            <a:extLst>
              <a:ext uri="{FF2B5EF4-FFF2-40B4-BE49-F238E27FC236}">
                <a16:creationId xmlns:a16="http://schemas.microsoft.com/office/drawing/2014/main" id="{4FE222E2-B0A8-905F-9F8C-EC29277D2C6E}"/>
              </a:ext>
            </a:extLst>
          </p:cNvPr>
          <p:cNvSpPr txBox="1"/>
          <p:nvPr/>
        </p:nvSpPr>
        <p:spPr>
          <a:xfrm>
            <a:off x="8096094" y="1254276"/>
            <a:ext cx="3560590" cy="369332"/>
          </a:xfrm>
          <a:prstGeom prst="rect">
            <a:avLst/>
          </a:prstGeom>
          <a:noFill/>
        </p:spPr>
        <p:txBody>
          <a:bodyPr wrap="none" rtlCol="0">
            <a:spAutoFit/>
          </a:bodyPr>
          <a:lstStyle/>
          <a:p>
            <a:r>
              <a:rPr lang="sr-Latn-BA" b="1">
                <a:solidFill>
                  <a:schemeClr val="bg2">
                    <a:lumMod val="90000"/>
                  </a:schemeClr>
                </a:solidFill>
                <a:latin typeface="Inter" panose="02000503000000020004" pitchFamily="2" charset="0"/>
                <a:ea typeface="Inter" panose="02000503000000020004" pitchFamily="2" charset="0"/>
              </a:rPr>
              <a:t>JEDNOSTAVNOST I JASNOĆA</a:t>
            </a:r>
            <a:endParaRPr lang="en-US" b="1">
              <a:solidFill>
                <a:schemeClr val="bg2">
                  <a:lumMod val="90000"/>
                </a:schemeClr>
              </a:solidFill>
              <a:latin typeface="Inter" panose="02000503000000020004" pitchFamily="2" charset="0"/>
              <a:ea typeface="Inter" panose="02000503000000020004" pitchFamily="2" charset="0"/>
            </a:endParaRPr>
          </a:p>
        </p:txBody>
      </p:sp>
      <p:sp>
        <p:nvSpPr>
          <p:cNvPr id="26" name="TextBox 25">
            <a:extLst>
              <a:ext uri="{FF2B5EF4-FFF2-40B4-BE49-F238E27FC236}">
                <a16:creationId xmlns:a16="http://schemas.microsoft.com/office/drawing/2014/main" id="{A3BF8BE0-C725-0CA1-E611-D1CF88AD37CD}"/>
              </a:ext>
            </a:extLst>
          </p:cNvPr>
          <p:cNvSpPr txBox="1"/>
          <p:nvPr/>
        </p:nvSpPr>
        <p:spPr>
          <a:xfrm>
            <a:off x="5964936" y="1623608"/>
            <a:ext cx="5691748" cy="830997"/>
          </a:xfrm>
          <a:prstGeom prst="rect">
            <a:avLst/>
          </a:prstGeom>
          <a:noFill/>
        </p:spPr>
        <p:txBody>
          <a:bodyPr wrap="square" rtlCol="0">
            <a:spAutoFit/>
          </a:bodyPr>
          <a:lstStyle/>
          <a:p>
            <a:pPr algn="just"/>
            <a:r>
              <a:rPr lang="en-US" sz="1600">
                <a:solidFill>
                  <a:schemeClr val="bg1">
                    <a:lumMod val="75000"/>
                  </a:schemeClr>
                </a:solidFill>
              </a:rPr>
              <a:t>Interfejs treba biti čist i razumljiv, bez nepotrebnih elemenata. Korisnik u svakom trenutku treba da zna šta može da uradi i šta će se desiti nakon akcije.</a:t>
            </a:r>
          </a:p>
        </p:txBody>
      </p:sp>
      <p:sp>
        <p:nvSpPr>
          <p:cNvPr id="27" name="TextBox 26">
            <a:extLst>
              <a:ext uri="{FF2B5EF4-FFF2-40B4-BE49-F238E27FC236}">
                <a16:creationId xmlns:a16="http://schemas.microsoft.com/office/drawing/2014/main" id="{2D495481-9607-1D99-3CB8-9BA896CB6920}"/>
              </a:ext>
            </a:extLst>
          </p:cNvPr>
          <p:cNvSpPr txBox="1"/>
          <p:nvPr/>
        </p:nvSpPr>
        <p:spPr>
          <a:xfrm>
            <a:off x="5964936" y="3123391"/>
            <a:ext cx="4491935" cy="369332"/>
          </a:xfrm>
          <a:prstGeom prst="rect">
            <a:avLst/>
          </a:prstGeom>
          <a:noFill/>
        </p:spPr>
        <p:txBody>
          <a:bodyPr wrap="none" rtlCol="0">
            <a:spAutoFit/>
          </a:bodyPr>
          <a:lstStyle/>
          <a:p>
            <a:r>
              <a:rPr lang="sr-Latn-BA" b="1">
                <a:solidFill>
                  <a:schemeClr val="bg2">
                    <a:lumMod val="90000"/>
                  </a:schemeClr>
                </a:solidFill>
                <a:latin typeface="Inter" panose="02000503000000020004" pitchFamily="2" charset="0"/>
                <a:ea typeface="Inter" panose="02000503000000020004" pitchFamily="2" charset="0"/>
              </a:rPr>
              <a:t>KONZISTENTNOST I PREDVIDLJIVOST</a:t>
            </a:r>
            <a:endParaRPr lang="en-US" b="1">
              <a:solidFill>
                <a:schemeClr val="bg2">
                  <a:lumMod val="90000"/>
                </a:schemeClr>
              </a:solidFill>
              <a:latin typeface="Inter" panose="02000503000000020004" pitchFamily="2" charset="0"/>
              <a:ea typeface="Inter" panose="02000503000000020004" pitchFamily="2" charset="0"/>
            </a:endParaRPr>
          </a:p>
        </p:txBody>
      </p:sp>
      <p:sp>
        <p:nvSpPr>
          <p:cNvPr id="28" name="TextBox 27">
            <a:extLst>
              <a:ext uri="{FF2B5EF4-FFF2-40B4-BE49-F238E27FC236}">
                <a16:creationId xmlns:a16="http://schemas.microsoft.com/office/drawing/2014/main" id="{FFC1FFCE-BEFB-B90A-E7EF-BA45239D326E}"/>
              </a:ext>
            </a:extLst>
          </p:cNvPr>
          <p:cNvSpPr txBox="1"/>
          <p:nvPr/>
        </p:nvSpPr>
        <p:spPr>
          <a:xfrm>
            <a:off x="5964936" y="3492723"/>
            <a:ext cx="5691748" cy="584775"/>
          </a:xfrm>
          <a:prstGeom prst="rect">
            <a:avLst/>
          </a:prstGeom>
          <a:noFill/>
        </p:spPr>
        <p:txBody>
          <a:bodyPr wrap="square" rtlCol="0">
            <a:spAutoFit/>
          </a:bodyPr>
          <a:lstStyle/>
          <a:p>
            <a:pPr algn="just"/>
            <a:r>
              <a:rPr lang="en-US" sz="1600">
                <a:solidFill>
                  <a:schemeClr val="bg1">
                    <a:lumMod val="75000"/>
                  </a:schemeClr>
                </a:solidFill>
              </a:rPr>
              <a:t>Iste akcije treba da imaju isto značenje u cijeloj aplikaciji. Tako korisnik lakše uči i brže se snalazi.</a:t>
            </a:r>
          </a:p>
        </p:txBody>
      </p:sp>
      <p:sp>
        <p:nvSpPr>
          <p:cNvPr id="29" name="TextBox 28">
            <a:extLst>
              <a:ext uri="{FF2B5EF4-FFF2-40B4-BE49-F238E27FC236}">
                <a16:creationId xmlns:a16="http://schemas.microsoft.com/office/drawing/2014/main" id="{3065D706-CECB-FB9C-AD1C-4CFB3EDBD1F5}"/>
              </a:ext>
            </a:extLst>
          </p:cNvPr>
          <p:cNvSpPr txBox="1"/>
          <p:nvPr/>
        </p:nvSpPr>
        <p:spPr>
          <a:xfrm>
            <a:off x="8971333" y="4990695"/>
            <a:ext cx="2685351" cy="369332"/>
          </a:xfrm>
          <a:prstGeom prst="rect">
            <a:avLst/>
          </a:prstGeom>
          <a:noFill/>
        </p:spPr>
        <p:txBody>
          <a:bodyPr wrap="none" rtlCol="0">
            <a:spAutoFit/>
          </a:bodyPr>
          <a:lstStyle/>
          <a:p>
            <a:r>
              <a:rPr lang="sr-Latn-BA" b="1">
                <a:solidFill>
                  <a:schemeClr val="bg2">
                    <a:lumMod val="90000"/>
                  </a:schemeClr>
                </a:solidFill>
                <a:latin typeface="Inter" panose="02000503000000020004" pitchFamily="2" charset="0"/>
                <a:ea typeface="Inter" panose="02000503000000020004" pitchFamily="2" charset="0"/>
              </a:rPr>
              <a:t>RESPONZIVNI DIZAJN</a:t>
            </a:r>
            <a:endParaRPr lang="en-US" b="1">
              <a:solidFill>
                <a:schemeClr val="bg2">
                  <a:lumMod val="90000"/>
                </a:schemeClr>
              </a:solidFill>
              <a:latin typeface="Inter" panose="02000503000000020004" pitchFamily="2" charset="0"/>
              <a:ea typeface="Inter" panose="02000503000000020004" pitchFamily="2" charset="0"/>
            </a:endParaRPr>
          </a:p>
        </p:txBody>
      </p:sp>
      <p:sp>
        <p:nvSpPr>
          <p:cNvPr id="30" name="TextBox 29">
            <a:extLst>
              <a:ext uri="{FF2B5EF4-FFF2-40B4-BE49-F238E27FC236}">
                <a16:creationId xmlns:a16="http://schemas.microsoft.com/office/drawing/2014/main" id="{37ABE1DE-A580-95D9-9725-1F518EBC8420}"/>
              </a:ext>
            </a:extLst>
          </p:cNvPr>
          <p:cNvSpPr txBox="1"/>
          <p:nvPr/>
        </p:nvSpPr>
        <p:spPr>
          <a:xfrm>
            <a:off x="5964936" y="5360027"/>
            <a:ext cx="5691748" cy="830997"/>
          </a:xfrm>
          <a:prstGeom prst="rect">
            <a:avLst/>
          </a:prstGeom>
          <a:noFill/>
        </p:spPr>
        <p:txBody>
          <a:bodyPr wrap="square" rtlCol="0">
            <a:spAutoFit/>
          </a:bodyPr>
          <a:lstStyle/>
          <a:p>
            <a:pPr algn="just"/>
            <a:r>
              <a:rPr lang="en-US" sz="1600">
                <a:solidFill>
                  <a:schemeClr val="bg1">
                    <a:lumMod val="75000"/>
                  </a:schemeClr>
                </a:solidFill>
              </a:rPr>
              <a:t>Aplikacija treba da se prilagodi različitim veličinama ekrana. Na mobilnim uređajima važno je da su bitne opcije lako dostupne prstom.</a:t>
            </a:r>
          </a:p>
        </p:txBody>
      </p:sp>
    </p:spTree>
    <p:extLst>
      <p:ext uri="{BB962C8B-B14F-4D97-AF65-F5344CB8AC3E}">
        <p14:creationId xmlns:p14="http://schemas.microsoft.com/office/powerpoint/2010/main" val="3451556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66313-D9E5-0B9A-D549-25DE1DD2686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1D248CD-E2E5-AB89-A843-3E8E010C5912}"/>
              </a:ext>
            </a:extLst>
          </p:cNvPr>
          <p:cNvSpPr/>
          <p:nvPr/>
        </p:nvSpPr>
        <p:spPr>
          <a:xfrm>
            <a:off x="0" y="0"/>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F5A4545-ADF6-4F89-49D4-C4B06FA382D7}"/>
              </a:ext>
            </a:extLst>
          </p:cNvPr>
          <p:cNvSpPr txBox="1"/>
          <p:nvPr/>
        </p:nvSpPr>
        <p:spPr>
          <a:xfrm>
            <a:off x="76200" y="123825"/>
            <a:ext cx="6983002" cy="461665"/>
          </a:xfrm>
          <a:prstGeom prst="rect">
            <a:avLst/>
          </a:prstGeom>
          <a:noFill/>
        </p:spPr>
        <p:txBody>
          <a:bodyPr wrap="none" rtlCol="0">
            <a:spAutoFit/>
          </a:bodyPr>
          <a:lstStyle/>
          <a:p>
            <a:r>
              <a:rPr lang="sr-Latn-BA" sz="24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POVRATNA INFORMACIJA I PRISTUPAČNOST</a:t>
            </a:r>
            <a:endParaRPr lang="en-US" sz="2400">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endParaRPr>
          </a:p>
        </p:txBody>
      </p:sp>
      <p:pic>
        <p:nvPicPr>
          <p:cNvPr id="5" name="Picture 4">
            <a:extLst>
              <a:ext uri="{FF2B5EF4-FFF2-40B4-BE49-F238E27FC236}">
                <a16:creationId xmlns:a16="http://schemas.microsoft.com/office/drawing/2014/main" id="{5F341E77-B5AD-D179-D270-DC04A28BCD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1176" y="788289"/>
            <a:ext cx="1414735" cy="3336417"/>
          </a:xfrm>
          <a:prstGeom prst="rect">
            <a:avLst/>
          </a:prstGeom>
        </p:spPr>
      </p:pic>
      <p:pic>
        <p:nvPicPr>
          <p:cNvPr id="10" name="Picture 9">
            <a:extLst>
              <a:ext uri="{FF2B5EF4-FFF2-40B4-BE49-F238E27FC236}">
                <a16:creationId xmlns:a16="http://schemas.microsoft.com/office/drawing/2014/main" id="{8DF3FAD7-8F00-088C-415F-95665D303F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592" y="788289"/>
            <a:ext cx="5931408" cy="3336417"/>
          </a:xfrm>
          <a:prstGeom prst="rect">
            <a:avLst/>
          </a:prstGeom>
        </p:spPr>
      </p:pic>
      <p:pic>
        <p:nvPicPr>
          <p:cNvPr id="14" name="Picture 13">
            <a:extLst>
              <a:ext uri="{FF2B5EF4-FFF2-40B4-BE49-F238E27FC236}">
                <a16:creationId xmlns:a16="http://schemas.microsoft.com/office/drawing/2014/main" id="{063F9297-673C-AADF-1279-CEA71D8E50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1087" y="1282065"/>
            <a:ext cx="3986321" cy="2342838"/>
          </a:xfrm>
          <a:prstGeom prst="rect">
            <a:avLst/>
          </a:prstGeom>
        </p:spPr>
      </p:pic>
      <p:sp>
        <p:nvSpPr>
          <p:cNvPr id="15" name="TextBox 14">
            <a:extLst>
              <a:ext uri="{FF2B5EF4-FFF2-40B4-BE49-F238E27FC236}">
                <a16:creationId xmlns:a16="http://schemas.microsoft.com/office/drawing/2014/main" id="{C64218E6-1BBD-4F3E-685D-B7FF8B2B3756}"/>
              </a:ext>
            </a:extLst>
          </p:cNvPr>
          <p:cNvSpPr txBox="1"/>
          <p:nvPr/>
        </p:nvSpPr>
        <p:spPr>
          <a:xfrm>
            <a:off x="76200" y="4462272"/>
            <a:ext cx="3853940" cy="369332"/>
          </a:xfrm>
          <a:prstGeom prst="rect">
            <a:avLst/>
          </a:prstGeom>
          <a:noFill/>
        </p:spPr>
        <p:txBody>
          <a:bodyPr wrap="none" rtlCol="0">
            <a:spAutoFit/>
          </a:bodyPr>
          <a:lstStyle/>
          <a:p>
            <a:r>
              <a:rPr lang="en-US" b="1">
                <a:solidFill>
                  <a:schemeClr val="bg1">
                    <a:lumMod val="85000"/>
                  </a:schemeClr>
                </a:solidFill>
                <a:latin typeface="Inter" panose="02000503000000020004" pitchFamily="2" charset="0"/>
                <a:ea typeface="Inter" panose="02000503000000020004" pitchFamily="2" charset="0"/>
              </a:rPr>
              <a:t>Povratna informacija (Feedback)</a:t>
            </a:r>
          </a:p>
        </p:txBody>
      </p:sp>
      <p:sp>
        <p:nvSpPr>
          <p:cNvPr id="16" name="TextBox 15">
            <a:extLst>
              <a:ext uri="{FF2B5EF4-FFF2-40B4-BE49-F238E27FC236}">
                <a16:creationId xmlns:a16="http://schemas.microsoft.com/office/drawing/2014/main" id="{0316EDC7-D44F-4FB6-DB9E-5C176AC28CEF}"/>
              </a:ext>
            </a:extLst>
          </p:cNvPr>
          <p:cNvSpPr txBox="1"/>
          <p:nvPr/>
        </p:nvSpPr>
        <p:spPr>
          <a:xfrm>
            <a:off x="76199" y="4831604"/>
            <a:ext cx="3700273" cy="1323439"/>
          </a:xfrm>
          <a:prstGeom prst="rect">
            <a:avLst/>
          </a:prstGeom>
          <a:noFill/>
        </p:spPr>
        <p:txBody>
          <a:bodyPr wrap="square" rtlCol="0">
            <a:spAutoFit/>
          </a:bodyPr>
          <a:lstStyle/>
          <a:p>
            <a:pPr algn="just"/>
            <a:r>
              <a:rPr lang="en-US" sz="1600">
                <a:solidFill>
                  <a:schemeClr val="bg1">
                    <a:lumMod val="75000"/>
                  </a:schemeClr>
                </a:solidFill>
              </a:rPr>
              <a:t>Svaka akcija korisnika treba da ima jasan i brz odgovor sistema, kao što su promjena dugmeta, animacija ili poruka. Tako korisnik zna da je radnja uspješno izvršena.</a:t>
            </a:r>
          </a:p>
        </p:txBody>
      </p:sp>
      <p:sp>
        <p:nvSpPr>
          <p:cNvPr id="17" name="TextBox 16">
            <a:extLst>
              <a:ext uri="{FF2B5EF4-FFF2-40B4-BE49-F238E27FC236}">
                <a16:creationId xmlns:a16="http://schemas.microsoft.com/office/drawing/2014/main" id="{828040FA-5708-FCE7-BC8C-EDDFDE530B87}"/>
              </a:ext>
            </a:extLst>
          </p:cNvPr>
          <p:cNvSpPr txBox="1"/>
          <p:nvPr/>
        </p:nvSpPr>
        <p:spPr>
          <a:xfrm>
            <a:off x="4367001" y="4462272"/>
            <a:ext cx="3457998" cy="369332"/>
          </a:xfrm>
          <a:prstGeom prst="rect">
            <a:avLst/>
          </a:prstGeom>
          <a:noFill/>
        </p:spPr>
        <p:txBody>
          <a:bodyPr wrap="none" rtlCol="0">
            <a:spAutoFit/>
          </a:bodyPr>
          <a:lstStyle/>
          <a:p>
            <a:r>
              <a:rPr lang="en-US" b="1">
                <a:solidFill>
                  <a:schemeClr val="bg1">
                    <a:lumMod val="85000"/>
                  </a:schemeClr>
                </a:solidFill>
                <a:latin typeface="Inter" panose="02000503000000020004" pitchFamily="2" charset="0"/>
                <a:ea typeface="Inter" panose="02000503000000020004" pitchFamily="2" charset="0"/>
              </a:rPr>
              <a:t>Pristupačnost (Accessibility)</a:t>
            </a:r>
          </a:p>
        </p:txBody>
      </p:sp>
      <p:sp>
        <p:nvSpPr>
          <p:cNvPr id="18" name="TextBox 17">
            <a:extLst>
              <a:ext uri="{FF2B5EF4-FFF2-40B4-BE49-F238E27FC236}">
                <a16:creationId xmlns:a16="http://schemas.microsoft.com/office/drawing/2014/main" id="{D5FD4E34-93B3-453E-1B9D-324515FC5C38}"/>
              </a:ext>
            </a:extLst>
          </p:cNvPr>
          <p:cNvSpPr txBox="1"/>
          <p:nvPr/>
        </p:nvSpPr>
        <p:spPr>
          <a:xfrm>
            <a:off x="4367001" y="4831604"/>
            <a:ext cx="3457998" cy="1323439"/>
          </a:xfrm>
          <a:prstGeom prst="rect">
            <a:avLst/>
          </a:prstGeom>
          <a:noFill/>
        </p:spPr>
        <p:txBody>
          <a:bodyPr wrap="square" rtlCol="0">
            <a:spAutoFit/>
          </a:bodyPr>
          <a:lstStyle/>
          <a:p>
            <a:pPr algn="just"/>
            <a:r>
              <a:rPr lang="en-US" sz="1600">
                <a:solidFill>
                  <a:schemeClr val="bg1">
                    <a:lumMod val="75000"/>
                  </a:schemeClr>
                </a:solidFill>
              </a:rPr>
              <a:t>Sistem treba biti prilagođen svim korisnicima, uključujući osobe sa invaliditetom. To znači dobar kontrast, mogućnost korišćenja tastature i jasne tekstualne informacije.</a:t>
            </a:r>
          </a:p>
        </p:txBody>
      </p:sp>
    </p:spTree>
    <p:extLst>
      <p:ext uri="{BB962C8B-B14F-4D97-AF65-F5344CB8AC3E}">
        <p14:creationId xmlns:p14="http://schemas.microsoft.com/office/powerpoint/2010/main" val="596349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96D9F-AF6D-F696-960A-B1390804AD1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84BBDFF-6FA0-EE22-AB0D-AEE871983473}"/>
              </a:ext>
            </a:extLst>
          </p:cNvPr>
          <p:cNvSpPr/>
          <p:nvPr/>
        </p:nvSpPr>
        <p:spPr>
          <a:xfrm>
            <a:off x="0" y="0"/>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4C6F9C4-4191-F6DC-9544-F6930477ABC3}"/>
              </a:ext>
            </a:extLst>
          </p:cNvPr>
          <p:cNvSpPr txBox="1"/>
          <p:nvPr/>
        </p:nvSpPr>
        <p:spPr>
          <a:xfrm>
            <a:off x="76200" y="123825"/>
            <a:ext cx="6186309" cy="461665"/>
          </a:xfrm>
          <a:prstGeom prst="rect">
            <a:avLst/>
          </a:prstGeom>
          <a:noFill/>
        </p:spPr>
        <p:txBody>
          <a:bodyPr wrap="none" rtlCol="0">
            <a:spAutoFit/>
          </a:bodyPr>
          <a:lstStyle/>
          <a:p>
            <a:r>
              <a:rPr lang="sr-Latn-BA" sz="24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MOBILE-FIRST DIZAJN I PERFORMANSE</a:t>
            </a:r>
            <a:endParaRPr lang="en-US" sz="2400">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endParaRPr>
          </a:p>
        </p:txBody>
      </p:sp>
      <p:sp>
        <p:nvSpPr>
          <p:cNvPr id="12" name="TextBox 11">
            <a:extLst>
              <a:ext uri="{FF2B5EF4-FFF2-40B4-BE49-F238E27FC236}">
                <a16:creationId xmlns:a16="http://schemas.microsoft.com/office/drawing/2014/main" id="{6A43433E-60C6-3619-FB3F-8B81B95C79CB}"/>
              </a:ext>
            </a:extLst>
          </p:cNvPr>
          <p:cNvSpPr txBox="1"/>
          <p:nvPr/>
        </p:nvSpPr>
        <p:spPr>
          <a:xfrm>
            <a:off x="8091832" y="2235229"/>
            <a:ext cx="3823399" cy="954107"/>
          </a:xfrm>
          <a:prstGeom prst="rect">
            <a:avLst/>
          </a:prstGeom>
          <a:noFill/>
        </p:spPr>
        <p:txBody>
          <a:bodyPr wrap="square" rtlCol="0">
            <a:spAutoFit/>
          </a:bodyPr>
          <a:lstStyle/>
          <a:p>
            <a:pPr algn="just"/>
            <a:r>
              <a:rPr lang="en-US" sz="1400">
                <a:solidFill>
                  <a:schemeClr val="bg1">
                    <a:lumMod val="85000"/>
                  </a:schemeClr>
                </a:solidFill>
                <a:latin typeface="Inter" panose="02000503000000020004" pitchFamily="2" charset="0"/>
                <a:ea typeface="Inter" panose="02000503000000020004" pitchFamily="2" charset="0"/>
              </a:rPr>
              <a:t>Dizajn se prvo pravi za mobilne uređaje, pa se zatim prilagođava većim ekranima. Na taj način se fokusira na najvažnije stvari i izbjegava nepotrebno komplikovanje.</a:t>
            </a:r>
          </a:p>
        </p:txBody>
      </p:sp>
      <p:pic>
        <p:nvPicPr>
          <p:cNvPr id="5" name="Picture 4">
            <a:extLst>
              <a:ext uri="{FF2B5EF4-FFF2-40B4-BE49-F238E27FC236}">
                <a16:creationId xmlns:a16="http://schemas.microsoft.com/office/drawing/2014/main" id="{C4FF2E35-8685-B580-1B36-51E04AB7BB2B}"/>
              </a:ext>
            </a:extLst>
          </p:cNvPr>
          <p:cNvPicPr>
            <a:picLocks noChangeAspect="1"/>
          </p:cNvPicPr>
          <p:nvPr/>
        </p:nvPicPr>
        <p:blipFill>
          <a:blip r:embed="rId2"/>
          <a:stretch>
            <a:fillRect/>
          </a:stretch>
        </p:blipFill>
        <p:spPr>
          <a:xfrm>
            <a:off x="175577" y="1466651"/>
            <a:ext cx="7639495" cy="4255718"/>
          </a:xfrm>
          <a:prstGeom prst="rect">
            <a:avLst/>
          </a:prstGeom>
          <a:effectLst>
            <a:outerShdw blurRad="63500" sx="102000" sy="102000" algn="ctr" rotWithShape="0">
              <a:prstClr val="black">
                <a:alpha val="40000"/>
              </a:prstClr>
            </a:outerShdw>
          </a:effectLst>
        </p:spPr>
      </p:pic>
      <p:sp>
        <p:nvSpPr>
          <p:cNvPr id="7" name="TextBox 6">
            <a:extLst>
              <a:ext uri="{FF2B5EF4-FFF2-40B4-BE49-F238E27FC236}">
                <a16:creationId xmlns:a16="http://schemas.microsoft.com/office/drawing/2014/main" id="{3F5F2CB4-3E3B-417C-D4AD-CAA3413C23D2}"/>
              </a:ext>
            </a:extLst>
          </p:cNvPr>
          <p:cNvSpPr txBox="1"/>
          <p:nvPr/>
        </p:nvSpPr>
        <p:spPr>
          <a:xfrm>
            <a:off x="8091837" y="3996781"/>
            <a:ext cx="3823396" cy="1169551"/>
          </a:xfrm>
          <a:prstGeom prst="rect">
            <a:avLst/>
          </a:prstGeom>
          <a:noFill/>
        </p:spPr>
        <p:txBody>
          <a:bodyPr wrap="square" rtlCol="0">
            <a:spAutoFit/>
          </a:bodyPr>
          <a:lstStyle/>
          <a:p>
            <a:pPr algn="just"/>
            <a:r>
              <a:rPr lang="en-US" sz="1400">
                <a:solidFill>
                  <a:schemeClr val="bg1">
                    <a:lumMod val="85000"/>
                  </a:schemeClr>
                </a:solidFill>
                <a:latin typeface="Inter" panose="02000503000000020004" pitchFamily="2" charset="0"/>
                <a:ea typeface="Inter" panose="02000503000000020004" pitchFamily="2" charset="0"/>
              </a:rPr>
              <a:t>Brzina aplikacije je veoma važna za korisničko iskustvo. Ako se stranica sporo učitava, korisnici će brzo odustati. Zato je bitno da aplikacija bude brza i optimizovana.</a:t>
            </a:r>
          </a:p>
        </p:txBody>
      </p:sp>
      <p:sp>
        <p:nvSpPr>
          <p:cNvPr id="10" name="TextBox 9">
            <a:extLst>
              <a:ext uri="{FF2B5EF4-FFF2-40B4-BE49-F238E27FC236}">
                <a16:creationId xmlns:a16="http://schemas.microsoft.com/office/drawing/2014/main" id="{CDEC51AD-6D25-CB22-79EC-423DE801865E}"/>
              </a:ext>
            </a:extLst>
          </p:cNvPr>
          <p:cNvSpPr txBox="1"/>
          <p:nvPr/>
        </p:nvSpPr>
        <p:spPr>
          <a:xfrm>
            <a:off x="8091833" y="1935781"/>
            <a:ext cx="3823399" cy="369332"/>
          </a:xfrm>
          <a:prstGeom prst="rect">
            <a:avLst/>
          </a:prstGeom>
          <a:noFill/>
        </p:spPr>
        <p:txBody>
          <a:bodyPr wrap="square" rtlCol="0">
            <a:spAutoFit/>
          </a:bodyPr>
          <a:lstStyle/>
          <a:p>
            <a:pPr algn="just"/>
            <a:r>
              <a:rPr lang="sr-Latn-BA" b="1">
                <a:solidFill>
                  <a:schemeClr val="bg1">
                    <a:lumMod val="85000"/>
                  </a:schemeClr>
                </a:solidFill>
                <a:latin typeface="Inter" panose="02000503000000020004" pitchFamily="2" charset="0"/>
                <a:ea typeface="Inter" panose="02000503000000020004" pitchFamily="2" charset="0"/>
              </a:rPr>
              <a:t>MOBILE-FIRST DIZAJN</a:t>
            </a:r>
            <a:endParaRPr lang="en-US" b="1">
              <a:solidFill>
                <a:schemeClr val="bg1">
                  <a:lumMod val="85000"/>
                </a:schemeClr>
              </a:solidFill>
              <a:latin typeface="Inter" panose="02000503000000020004" pitchFamily="2" charset="0"/>
              <a:ea typeface="Inter" panose="02000503000000020004" pitchFamily="2" charset="0"/>
            </a:endParaRPr>
          </a:p>
        </p:txBody>
      </p:sp>
      <p:sp>
        <p:nvSpPr>
          <p:cNvPr id="13" name="TextBox 12">
            <a:extLst>
              <a:ext uri="{FF2B5EF4-FFF2-40B4-BE49-F238E27FC236}">
                <a16:creationId xmlns:a16="http://schemas.microsoft.com/office/drawing/2014/main" id="{67B883B6-E33E-5D3A-8CD5-14FA6A2D6949}"/>
              </a:ext>
            </a:extLst>
          </p:cNvPr>
          <p:cNvSpPr txBox="1"/>
          <p:nvPr/>
        </p:nvSpPr>
        <p:spPr>
          <a:xfrm>
            <a:off x="8091833" y="3648894"/>
            <a:ext cx="3823399" cy="369332"/>
          </a:xfrm>
          <a:prstGeom prst="rect">
            <a:avLst/>
          </a:prstGeom>
          <a:noFill/>
        </p:spPr>
        <p:txBody>
          <a:bodyPr wrap="square" rtlCol="0">
            <a:spAutoFit/>
          </a:bodyPr>
          <a:lstStyle/>
          <a:p>
            <a:pPr algn="just"/>
            <a:r>
              <a:rPr lang="sr-Latn-BA" b="1">
                <a:solidFill>
                  <a:schemeClr val="bg1">
                    <a:lumMod val="85000"/>
                  </a:schemeClr>
                </a:solidFill>
                <a:latin typeface="Inter" panose="02000503000000020004" pitchFamily="2" charset="0"/>
                <a:ea typeface="Inter" panose="02000503000000020004" pitchFamily="2" charset="0"/>
              </a:rPr>
              <a:t>PERFORMANSE</a:t>
            </a:r>
            <a:endParaRPr lang="en-US" b="1">
              <a:solidFill>
                <a:schemeClr val="bg1">
                  <a:lumMod val="85000"/>
                </a:schemeClr>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224604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44F37-3D88-CAD0-74E1-19A4CFBD0B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7B540A9-B035-911C-C74F-46378F4A4EF3}"/>
              </a:ext>
            </a:extLst>
          </p:cNvPr>
          <p:cNvSpPr/>
          <p:nvPr/>
        </p:nvSpPr>
        <p:spPr>
          <a:xfrm>
            <a:off x="0" y="0"/>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3B4EB9F-1ECA-60EB-0D7A-CA6F892C8795}"/>
              </a:ext>
            </a:extLst>
          </p:cNvPr>
          <p:cNvSpPr txBox="1"/>
          <p:nvPr/>
        </p:nvSpPr>
        <p:spPr>
          <a:xfrm>
            <a:off x="76200" y="123825"/>
            <a:ext cx="7298793" cy="461665"/>
          </a:xfrm>
          <a:prstGeom prst="rect">
            <a:avLst/>
          </a:prstGeom>
          <a:noFill/>
        </p:spPr>
        <p:txBody>
          <a:bodyPr wrap="none" rtlCol="0">
            <a:spAutoFit/>
          </a:bodyPr>
          <a:lstStyle/>
          <a:p>
            <a:r>
              <a:rPr lang="sr-Latn-BA" sz="24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ESTETIKA, PSIHOLOGIJA I MODERNI TRENDOVI</a:t>
            </a:r>
            <a:endParaRPr lang="en-US" sz="2400">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endParaRPr>
          </a:p>
        </p:txBody>
      </p:sp>
      <p:pic>
        <p:nvPicPr>
          <p:cNvPr id="3" name="Picture 2">
            <a:extLst>
              <a:ext uri="{FF2B5EF4-FFF2-40B4-BE49-F238E27FC236}">
                <a16:creationId xmlns:a16="http://schemas.microsoft.com/office/drawing/2014/main" id="{14C3AE1D-DDB8-BC83-76E6-73B982A1E4AB}"/>
              </a:ext>
            </a:extLst>
          </p:cNvPr>
          <p:cNvPicPr>
            <a:picLocks noChangeAspect="1"/>
          </p:cNvPicPr>
          <p:nvPr/>
        </p:nvPicPr>
        <p:blipFill>
          <a:blip r:embed="rId2"/>
          <a:stretch>
            <a:fillRect/>
          </a:stretch>
        </p:blipFill>
        <p:spPr>
          <a:xfrm>
            <a:off x="7950540" y="215265"/>
            <a:ext cx="3450991" cy="2174712"/>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642FC2F3-68B7-766F-EF07-7CC1F2E61E1C}"/>
              </a:ext>
            </a:extLst>
          </p:cNvPr>
          <p:cNvPicPr>
            <a:picLocks noChangeAspect="1"/>
          </p:cNvPicPr>
          <p:nvPr/>
        </p:nvPicPr>
        <p:blipFill>
          <a:blip r:embed="rId3"/>
          <a:stretch>
            <a:fillRect/>
          </a:stretch>
        </p:blipFill>
        <p:spPr>
          <a:xfrm>
            <a:off x="7950539" y="2552007"/>
            <a:ext cx="3450991" cy="2197565"/>
          </a:xfrm>
          <a:prstGeom prst="rect">
            <a:avLst/>
          </a:prstGeom>
          <a:effectLst>
            <a:outerShdw blurRad="63500" sx="102000" sy="102000" algn="ctr" rotWithShape="0">
              <a:prstClr val="black">
                <a:alpha val="40000"/>
              </a:prstClr>
            </a:outerShdw>
          </a:effectLst>
        </p:spPr>
      </p:pic>
      <p:pic>
        <p:nvPicPr>
          <p:cNvPr id="16" name="Picture 15">
            <a:extLst>
              <a:ext uri="{FF2B5EF4-FFF2-40B4-BE49-F238E27FC236}">
                <a16:creationId xmlns:a16="http://schemas.microsoft.com/office/drawing/2014/main" id="{17034AAB-43A9-BE31-BE7D-FA05BF520796}"/>
              </a:ext>
            </a:extLst>
          </p:cNvPr>
          <p:cNvPicPr>
            <a:picLocks noChangeAspect="1"/>
          </p:cNvPicPr>
          <p:nvPr/>
        </p:nvPicPr>
        <p:blipFill>
          <a:blip r:embed="rId4"/>
          <a:stretch>
            <a:fillRect/>
          </a:stretch>
        </p:blipFill>
        <p:spPr>
          <a:xfrm>
            <a:off x="7950538" y="4911602"/>
            <a:ext cx="3450991" cy="1723414"/>
          </a:xfrm>
          <a:prstGeom prst="rect">
            <a:avLst/>
          </a:prstGeom>
          <a:effectLst>
            <a:outerShdw blurRad="63500" sx="102000" sy="102000" algn="ctr" rotWithShape="0">
              <a:prstClr val="black">
                <a:alpha val="40000"/>
              </a:prstClr>
            </a:outerShdw>
          </a:effectLst>
        </p:spPr>
      </p:pic>
      <p:sp>
        <p:nvSpPr>
          <p:cNvPr id="17" name="Shape 1">
            <a:extLst>
              <a:ext uri="{FF2B5EF4-FFF2-40B4-BE49-F238E27FC236}">
                <a16:creationId xmlns:a16="http://schemas.microsoft.com/office/drawing/2014/main" id="{7642F4D7-A5A8-3CB6-C2CC-C135434CD729}"/>
              </a:ext>
            </a:extLst>
          </p:cNvPr>
          <p:cNvSpPr/>
          <p:nvPr/>
        </p:nvSpPr>
        <p:spPr>
          <a:xfrm>
            <a:off x="150388" y="3790844"/>
            <a:ext cx="7055083" cy="903654"/>
          </a:xfrm>
          <a:prstGeom prst="roundRect">
            <a:avLst>
              <a:gd name="adj" fmla="val 1147"/>
            </a:avLst>
          </a:prstGeom>
          <a:solidFill>
            <a:schemeClr val="bg2">
              <a:lumMod val="25000"/>
            </a:schemeClr>
          </a:solidFill>
          <a:ln/>
        </p:spPr>
      </p:sp>
      <p:sp>
        <p:nvSpPr>
          <p:cNvPr id="18" name="Text 2">
            <a:extLst>
              <a:ext uri="{FF2B5EF4-FFF2-40B4-BE49-F238E27FC236}">
                <a16:creationId xmlns:a16="http://schemas.microsoft.com/office/drawing/2014/main" id="{DD901550-EBEC-6D67-C7E5-1C1CF22FCC9A}"/>
              </a:ext>
            </a:extLst>
          </p:cNvPr>
          <p:cNvSpPr/>
          <p:nvPr/>
        </p:nvSpPr>
        <p:spPr>
          <a:xfrm>
            <a:off x="283477" y="3901395"/>
            <a:ext cx="6219558" cy="236687"/>
          </a:xfrm>
          <a:prstGeom prst="rect">
            <a:avLst/>
          </a:prstGeom>
          <a:noFill/>
          <a:ln/>
        </p:spPr>
        <p:txBody>
          <a:bodyPr wrap="square" lIns="0" tIns="0" rIns="0" bIns="0" rtlCol="0" anchor="t"/>
          <a:lstStyle/>
          <a:p>
            <a:pPr>
              <a:lnSpc>
                <a:spcPts val="2450"/>
              </a:lnSpc>
            </a:pPr>
            <a:r>
              <a:rPr lang="sr-Latn-BA" sz="2000" b="1">
                <a:solidFill>
                  <a:schemeClr val="bg1">
                    <a:lumMod val="85000"/>
                  </a:schemeClr>
                </a:solidFill>
                <a:latin typeface="Inter" panose="02000503000000020004" pitchFamily="2" charset="0"/>
                <a:ea typeface="Inter" panose="02000503000000020004" pitchFamily="2" charset="0"/>
              </a:rPr>
              <a:t>EFEKAT ESTETIKE I UPOTREBLJIVOSTI</a:t>
            </a:r>
            <a:endParaRPr lang="en-US" sz="1950" b="1" dirty="0">
              <a:solidFill>
                <a:schemeClr val="bg1">
                  <a:lumMod val="85000"/>
                </a:schemeClr>
              </a:solidFill>
              <a:latin typeface="Inter" panose="02000503000000020004" pitchFamily="2" charset="0"/>
              <a:ea typeface="Inter" panose="02000503000000020004" pitchFamily="2" charset="0"/>
            </a:endParaRPr>
          </a:p>
        </p:txBody>
      </p:sp>
      <p:sp>
        <p:nvSpPr>
          <p:cNvPr id="19" name="Text 3">
            <a:extLst>
              <a:ext uri="{FF2B5EF4-FFF2-40B4-BE49-F238E27FC236}">
                <a16:creationId xmlns:a16="http://schemas.microsoft.com/office/drawing/2014/main" id="{DDA98A3F-730C-6C46-4873-263184F2093A}"/>
              </a:ext>
            </a:extLst>
          </p:cNvPr>
          <p:cNvSpPr/>
          <p:nvPr/>
        </p:nvSpPr>
        <p:spPr>
          <a:xfrm>
            <a:off x="283476" y="4248633"/>
            <a:ext cx="6702539" cy="611286"/>
          </a:xfrm>
          <a:prstGeom prst="rect">
            <a:avLst/>
          </a:prstGeom>
          <a:noFill/>
          <a:ln/>
        </p:spPr>
        <p:txBody>
          <a:bodyPr wrap="square" lIns="0" tIns="0" rIns="0" bIns="0" rtlCol="0" anchor="t"/>
          <a:lstStyle/>
          <a:p>
            <a:r>
              <a:rPr lang="en-US" sz="1100">
                <a:solidFill>
                  <a:schemeClr val="bg1">
                    <a:lumMod val="65000"/>
                  </a:schemeClr>
                </a:solidFill>
                <a:latin typeface="Inter" panose="02000503000000020004" pitchFamily="2" charset="0"/>
                <a:ea typeface="Inter" panose="02000503000000020004" pitchFamily="2" charset="0"/>
              </a:rPr>
              <a:t>Ljepši interfejsi često djeluju jednostavnije i lakše za korišćenje, čak i kada nisu nužno funkcionalniji. Vizuelni izgled utiče na to kako korisnik doživljava sistem i može stvoriti pozitivan utisak.</a:t>
            </a:r>
            <a:endParaRPr lang="en-US" sz="1100" dirty="0">
              <a:solidFill>
                <a:schemeClr val="bg1">
                  <a:lumMod val="65000"/>
                </a:schemeClr>
              </a:solidFill>
              <a:latin typeface="Inter" panose="02000503000000020004" pitchFamily="2" charset="0"/>
              <a:ea typeface="Inter" panose="02000503000000020004" pitchFamily="2" charset="0"/>
            </a:endParaRPr>
          </a:p>
        </p:txBody>
      </p:sp>
      <p:sp>
        <p:nvSpPr>
          <p:cNvPr id="20" name="Shape 1">
            <a:extLst>
              <a:ext uri="{FF2B5EF4-FFF2-40B4-BE49-F238E27FC236}">
                <a16:creationId xmlns:a16="http://schemas.microsoft.com/office/drawing/2014/main" id="{4E666829-5515-6B82-1960-233671B9F3E2}"/>
              </a:ext>
            </a:extLst>
          </p:cNvPr>
          <p:cNvSpPr/>
          <p:nvPr/>
        </p:nvSpPr>
        <p:spPr>
          <a:xfrm>
            <a:off x="150388" y="4816699"/>
            <a:ext cx="3417838" cy="1849277"/>
          </a:xfrm>
          <a:prstGeom prst="roundRect">
            <a:avLst>
              <a:gd name="adj" fmla="val 1147"/>
            </a:avLst>
          </a:prstGeom>
          <a:solidFill>
            <a:schemeClr val="bg2">
              <a:lumMod val="25000"/>
            </a:schemeClr>
          </a:solidFill>
          <a:ln/>
        </p:spPr>
      </p:sp>
      <p:sp>
        <p:nvSpPr>
          <p:cNvPr id="21" name="Text 2">
            <a:extLst>
              <a:ext uri="{FF2B5EF4-FFF2-40B4-BE49-F238E27FC236}">
                <a16:creationId xmlns:a16="http://schemas.microsoft.com/office/drawing/2014/main" id="{C5723ABE-222B-4CFD-FCA8-0A761A7C6003}"/>
              </a:ext>
            </a:extLst>
          </p:cNvPr>
          <p:cNvSpPr/>
          <p:nvPr/>
        </p:nvSpPr>
        <p:spPr>
          <a:xfrm>
            <a:off x="283476" y="4927251"/>
            <a:ext cx="2898391" cy="236687"/>
          </a:xfrm>
          <a:prstGeom prst="rect">
            <a:avLst/>
          </a:prstGeom>
          <a:noFill/>
          <a:ln/>
        </p:spPr>
        <p:txBody>
          <a:bodyPr wrap="square" lIns="0" tIns="0" rIns="0" bIns="0" rtlCol="0" anchor="t"/>
          <a:lstStyle/>
          <a:p>
            <a:pPr>
              <a:lnSpc>
                <a:spcPts val="2450"/>
              </a:lnSpc>
            </a:pPr>
            <a:r>
              <a:rPr lang="sr-Latn-BA" sz="2000" b="1">
                <a:solidFill>
                  <a:schemeClr val="bg1">
                    <a:lumMod val="85000"/>
                  </a:schemeClr>
                </a:solidFill>
                <a:latin typeface="Inter" panose="02000503000000020004" pitchFamily="2" charset="0"/>
                <a:ea typeface="Inter" panose="02000503000000020004" pitchFamily="2" charset="0"/>
              </a:rPr>
              <a:t>MINIMALIZAM I</a:t>
            </a:r>
          </a:p>
          <a:p>
            <a:pPr>
              <a:lnSpc>
                <a:spcPts val="2450"/>
              </a:lnSpc>
            </a:pPr>
            <a:r>
              <a:rPr lang="sr-Latn-BA" sz="2000" b="1">
                <a:solidFill>
                  <a:schemeClr val="bg1">
                    <a:lumMod val="85000"/>
                  </a:schemeClr>
                </a:solidFill>
                <a:latin typeface="Inter" panose="02000503000000020004" pitchFamily="2" charset="0"/>
                <a:ea typeface="Inter" panose="02000503000000020004" pitchFamily="2" charset="0"/>
              </a:rPr>
              <a:t>JASNA HIJERARHIJA</a:t>
            </a:r>
          </a:p>
          <a:p>
            <a:pPr>
              <a:lnSpc>
                <a:spcPts val="2450"/>
              </a:lnSpc>
            </a:pPr>
            <a:endParaRPr lang="en-US" sz="1950" b="1" dirty="0">
              <a:solidFill>
                <a:schemeClr val="bg1">
                  <a:lumMod val="85000"/>
                </a:schemeClr>
              </a:solidFill>
              <a:latin typeface="Inter" panose="02000503000000020004" pitchFamily="2" charset="0"/>
              <a:ea typeface="Inter" panose="02000503000000020004" pitchFamily="2" charset="0"/>
            </a:endParaRPr>
          </a:p>
        </p:txBody>
      </p:sp>
      <p:sp>
        <p:nvSpPr>
          <p:cNvPr id="22" name="Text 3">
            <a:extLst>
              <a:ext uri="{FF2B5EF4-FFF2-40B4-BE49-F238E27FC236}">
                <a16:creationId xmlns:a16="http://schemas.microsoft.com/office/drawing/2014/main" id="{E27666C6-4582-C433-357F-901E573B40DA}"/>
              </a:ext>
            </a:extLst>
          </p:cNvPr>
          <p:cNvSpPr/>
          <p:nvPr/>
        </p:nvSpPr>
        <p:spPr>
          <a:xfrm>
            <a:off x="283475" y="5561284"/>
            <a:ext cx="2898391" cy="611286"/>
          </a:xfrm>
          <a:prstGeom prst="rect">
            <a:avLst/>
          </a:prstGeom>
          <a:noFill/>
          <a:ln/>
        </p:spPr>
        <p:txBody>
          <a:bodyPr wrap="square" lIns="0" tIns="0" rIns="0" bIns="0" rtlCol="0" anchor="t"/>
          <a:lstStyle/>
          <a:p>
            <a:endParaRPr lang="sr-Latn-BA" sz="1200">
              <a:solidFill>
                <a:schemeClr val="bg1">
                  <a:lumMod val="65000"/>
                </a:schemeClr>
              </a:solidFill>
              <a:latin typeface="Inter" panose="02000503000000020004" pitchFamily="2" charset="0"/>
              <a:ea typeface="Inter" panose="02000503000000020004" pitchFamily="2" charset="0"/>
            </a:endParaRPr>
          </a:p>
          <a:p>
            <a:r>
              <a:rPr lang="en-US" sz="1200">
                <a:solidFill>
                  <a:schemeClr val="bg1">
                    <a:lumMod val="65000"/>
                  </a:schemeClr>
                </a:solidFill>
                <a:latin typeface="Inter" panose="02000503000000020004" pitchFamily="2" charset="0"/>
                <a:ea typeface="Inter" panose="02000503000000020004" pitchFamily="2" charset="0"/>
              </a:rPr>
              <a:t>Što korisnik ima više opcija, to mu treba više vremena da donese odluku. Zato je važno da se složeni zadaci razbiju na jednostavnije korake.</a:t>
            </a:r>
            <a:endParaRPr lang="en-US" sz="1200" dirty="0">
              <a:solidFill>
                <a:schemeClr val="bg1">
                  <a:lumMod val="65000"/>
                </a:schemeClr>
              </a:solidFill>
              <a:latin typeface="Inter" panose="02000503000000020004" pitchFamily="2" charset="0"/>
              <a:ea typeface="Inter" panose="02000503000000020004" pitchFamily="2" charset="0"/>
            </a:endParaRPr>
          </a:p>
        </p:txBody>
      </p:sp>
      <p:sp>
        <p:nvSpPr>
          <p:cNvPr id="23" name="Shape 1">
            <a:extLst>
              <a:ext uri="{FF2B5EF4-FFF2-40B4-BE49-F238E27FC236}">
                <a16:creationId xmlns:a16="http://schemas.microsoft.com/office/drawing/2014/main" id="{178B4D27-E473-5C07-64EE-EA7EC53A56C3}"/>
              </a:ext>
            </a:extLst>
          </p:cNvPr>
          <p:cNvSpPr/>
          <p:nvPr/>
        </p:nvSpPr>
        <p:spPr>
          <a:xfrm>
            <a:off x="3718616" y="4816699"/>
            <a:ext cx="3486855" cy="1849277"/>
          </a:xfrm>
          <a:prstGeom prst="roundRect">
            <a:avLst>
              <a:gd name="adj" fmla="val 1147"/>
            </a:avLst>
          </a:prstGeom>
          <a:solidFill>
            <a:schemeClr val="bg2">
              <a:lumMod val="25000"/>
            </a:schemeClr>
          </a:solidFill>
          <a:ln/>
        </p:spPr>
      </p:sp>
      <p:sp>
        <p:nvSpPr>
          <p:cNvPr id="24" name="Text 2">
            <a:extLst>
              <a:ext uri="{FF2B5EF4-FFF2-40B4-BE49-F238E27FC236}">
                <a16:creationId xmlns:a16="http://schemas.microsoft.com/office/drawing/2014/main" id="{19B381BF-DDF7-228D-1EF2-26C3141DCD6B}"/>
              </a:ext>
            </a:extLst>
          </p:cNvPr>
          <p:cNvSpPr/>
          <p:nvPr/>
        </p:nvSpPr>
        <p:spPr>
          <a:xfrm>
            <a:off x="3871037" y="4927251"/>
            <a:ext cx="3042294" cy="236687"/>
          </a:xfrm>
          <a:prstGeom prst="rect">
            <a:avLst/>
          </a:prstGeom>
          <a:noFill/>
          <a:ln/>
        </p:spPr>
        <p:txBody>
          <a:bodyPr wrap="square" lIns="0" tIns="0" rIns="0" bIns="0" rtlCol="0" anchor="t"/>
          <a:lstStyle/>
          <a:p>
            <a:pPr>
              <a:lnSpc>
                <a:spcPts val="2450"/>
              </a:lnSpc>
            </a:pPr>
            <a:r>
              <a:rPr lang="sr-Latn-BA" sz="2000" b="1">
                <a:solidFill>
                  <a:schemeClr val="bg1">
                    <a:lumMod val="85000"/>
                  </a:schemeClr>
                </a:solidFill>
                <a:latin typeface="Inter" panose="02000503000000020004" pitchFamily="2" charset="0"/>
                <a:ea typeface="Inter" panose="02000503000000020004" pitchFamily="2" charset="0"/>
              </a:rPr>
              <a:t>KOGNITIVNI TEST I</a:t>
            </a:r>
          </a:p>
          <a:p>
            <a:pPr>
              <a:lnSpc>
                <a:spcPts val="2450"/>
              </a:lnSpc>
            </a:pPr>
            <a:r>
              <a:rPr lang="sr-Latn-BA" sz="2000" b="1">
                <a:solidFill>
                  <a:schemeClr val="bg1">
                    <a:lumMod val="85000"/>
                  </a:schemeClr>
                </a:solidFill>
                <a:latin typeface="Inter" panose="02000503000000020004" pitchFamily="2" charset="0"/>
                <a:ea typeface="Inter" panose="02000503000000020004" pitchFamily="2" charset="0"/>
              </a:rPr>
              <a:t>HIČKOV ZAKON</a:t>
            </a:r>
            <a:endParaRPr lang="en-US" sz="1950" b="1" dirty="0">
              <a:solidFill>
                <a:schemeClr val="bg1">
                  <a:lumMod val="85000"/>
                </a:schemeClr>
              </a:solidFill>
              <a:latin typeface="Inter" panose="02000503000000020004" pitchFamily="2" charset="0"/>
              <a:ea typeface="Inter" panose="02000503000000020004" pitchFamily="2" charset="0"/>
            </a:endParaRPr>
          </a:p>
        </p:txBody>
      </p:sp>
      <p:sp>
        <p:nvSpPr>
          <p:cNvPr id="25" name="Text 3">
            <a:extLst>
              <a:ext uri="{FF2B5EF4-FFF2-40B4-BE49-F238E27FC236}">
                <a16:creationId xmlns:a16="http://schemas.microsoft.com/office/drawing/2014/main" id="{57EBFA4E-2860-047D-56C7-2E8C0132B38B}"/>
              </a:ext>
            </a:extLst>
          </p:cNvPr>
          <p:cNvSpPr/>
          <p:nvPr/>
        </p:nvSpPr>
        <p:spPr>
          <a:xfrm>
            <a:off x="3871036" y="5561284"/>
            <a:ext cx="3042294" cy="611286"/>
          </a:xfrm>
          <a:prstGeom prst="rect">
            <a:avLst/>
          </a:prstGeom>
          <a:noFill/>
          <a:ln/>
        </p:spPr>
        <p:txBody>
          <a:bodyPr wrap="square" lIns="0" tIns="0" rIns="0" bIns="0" rtlCol="0" anchor="t"/>
          <a:lstStyle/>
          <a:p>
            <a:endParaRPr lang="sr-Latn-BA" sz="1200">
              <a:solidFill>
                <a:schemeClr val="bg1">
                  <a:lumMod val="65000"/>
                </a:schemeClr>
              </a:solidFill>
              <a:latin typeface="Inter" panose="02000503000000020004" pitchFamily="2" charset="0"/>
              <a:ea typeface="Inter" panose="02000503000000020004" pitchFamily="2" charset="0"/>
            </a:endParaRPr>
          </a:p>
          <a:p>
            <a:r>
              <a:rPr lang="sr-Latn-BA" sz="1200">
                <a:solidFill>
                  <a:schemeClr val="bg1">
                    <a:lumMod val="65000"/>
                  </a:schemeClr>
                </a:solidFill>
                <a:latin typeface="Inter" panose="02000503000000020004" pitchFamily="2" charset="0"/>
                <a:ea typeface="Inter" panose="02000503000000020004" pitchFamily="2" charset="0"/>
              </a:rPr>
              <a:t>Dizajn </a:t>
            </a:r>
            <a:r>
              <a:rPr lang="en-US" sz="1200">
                <a:solidFill>
                  <a:schemeClr val="bg1">
                    <a:lumMod val="65000"/>
                  </a:schemeClr>
                </a:solidFill>
                <a:latin typeface="Inter" panose="02000503000000020004" pitchFamily="2" charset="0"/>
                <a:ea typeface="Inter" panose="02000503000000020004" pitchFamily="2" charset="0"/>
              </a:rPr>
              <a:t>treba da bude čist i pregledan, sa dovoljno praznog prostora i jednostavnim bojama. Na taj način sadržaj dolazi u prvi plan, a ne dekoracija..</a:t>
            </a:r>
            <a:endParaRPr lang="en-US" sz="1200" dirty="0">
              <a:solidFill>
                <a:schemeClr val="bg1">
                  <a:lumMod val="65000"/>
                </a:schemeClr>
              </a:solidFill>
              <a:latin typeface="Inter" panose="02000503000000020004" pitchFamily="2" charset="0"/>
              <a:ea typeface="Inter" panose="02000503000000020004" pitchFamily="2" charset="0"/>
            </a:endParaRPr>
          </a:p>
        </p:txBody>
      </p:sp>
      <p:pic>
        <p:nvPicPr>
          <p:cNvPr id="27" name="Picture 26">
            <a:extLst>
              <a:ext uri="{FF2B5EF4-FFF2-40B4-BE49-F238E27FC236}">
                <a16:creationId xmlns:a16="http://schemas.microsoft.com/office/drawing/2014/main" id="{455AFEE7-58A2-FAFF-108E-E3F5B9F532EE}"/>
              </a:ext>
            </a:extLst>
          </p:cNvPr>
          <p:cNvPicPr>
            <a:picLocks noChangeAspect="1"/>
          </p:cNvPicPr>
          <p:nvPr/>
        </p:nvPicPr>
        <p:blipFill>
          <a:blip r:embed="rId5"/>
          <a:stretch>
            <a:fillRect/>
          </a:stretch>
        </p:blipFill>
        <p:spPr>
          <a:xfrm>
            <a:off x="150388" y="606615"/>
            <a:ext cx="7055082" cy="301963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297795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3BFD0-24B5-6297-04F9-0FC41ECF06B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03E3B0C-A8A5-C0CD-3A79-9689D36A08E8}"/>
              </a:ext>
            </a:extLst>
          </p:cNvPr>
          <p:cNvSpPr/>
          <p:nvPr/>
        </p:nvSpPr>
        <p:spPr>
          <a:xfrm>
            <a:off x="0" y="0"/>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781AAC2-D56F-1235-5D03-9D79FAA0CF7A}"/>
              </a:ext>
            </a:extLst>
          </p:cNvPr>
          <p:cNvSpPr txBox="1"/>
          <p:nvPr/>
        </p:nvSpPr>
        <p:spPr>
          <a:xfrm>
            <a:off x="332232" y="230541"/>
            <a:ext cx="3679212" cy="769441"/>
          </a:xfrm>
          <a:prstGeom prst="rect">
            <a:avLst/>
          </a:prstGeom>
          <a:noFill/>
        </p:spPr>
        <p:txBody>
          <a:bodyPr wrap="none" rtlCol="0">
            <a:spAutoFit/>
          </a:bodyPr>
          <a:lstStyle/>
          <a:p>
            <a:r>
              <a:rPr lang="sr-Latn-BA" sz="4400" b="1">
                <a:solidFill>
                  <a:schemeClr val="tx1">
                    <a:lumMod val="50000"/>
                    <a:lumOff val="50000"/>
                  </a:schemeClr>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rPr>
              <a:t>ZAKLJUČAK</a:t>
            </a:r>
            <a:endParaRPr lang="en-US" sz="4400">
              <a:solidFill>
                <a:schemeClr val="bg1"/>
              </a:solidFill>
              <a:effectLst>
                <a:outerShdw blurRad="50800" dist="38100" dir="5400000" algn="t" rotWithShape="0">
                  <a:prstClr val="black">
                    <a:alpha val="40000"/>
                  </a:prstClr>
                </a:outerShdw>
              </a:effectLst>
              <a:latin typeface="Inter" panose="02000503000000020004" pitchFamily="2" charset="0"/>
              <a:ea typeface="Inter" panose="02000503000000020004" pitchFamily="2" charset="0"/>
            </a:endParaRPr>
          </a:p>
        </p:txBody>
      </p:sp>
      <p:sp>
        <p:nvSpPr>
          <p:cNvPr id="2" name="TextBox 1">
            <a:extLst>
              <a:ext uri="{FF2B5EF4-FFF2-40B4-BE49-F238E27FC236}">
                <a16:creationId xmlns:a16="http://schemas.microsoft.com/office/drawing/2014/main" id="{C272FF96-79A5-3469-2350-AA13974CFA32}"/>
              </a:ext>
            </a:extLst>
          </p:cNvPr>
          <p:cNvSpPr txBox="1"/>
          <p:nvPr/>
        </p:nvSpPr>
        <p:spPr>
          <a:xfrm>
            <a:off x="332232" y="1230523"/>
            <a:ext cx="10966704" cy="3539430"/>
          </a:xfrm>
          <a:prstGeom prst="rect">
            <a:avLst/>
          </a:prstGeom>
          <a:noFill/>
        </p:spPr>
        <p:txBody>
          <a:bodyPr wrap="square" rtlCol="0">
            <a:spAutoFit/>
          </a:bodyPr>
          <a:lstStyle/>
          <a:p>
            <a:pPr algn="just"/>
            <a:r>
              <a:rPr lang="en-US" sz="3200">
                <a:solidFill>
                  <a:schemeClr val="bg1">
                    <a:lumMod val="85000"/>
                  </a:schemeClr>
                </a:solidFill>
                <a:latin typeface="Inter" panose="02000503000000020004" pitchFamily="2" charset="0"/>
                <a:ea typeface="Inter" panose="02000503000000020004" pitchFamily="2" charset="0"/>
              </a:rPr>
              <a:t>Ulaganje u UX i UI dizajn ne treba posmatrati kao dodatni trošak u razvoju, već kao stratešku investiciju. Kvalitetan dizajn direktno utiče na zadovoljstvo korisnika, njihovu lojalnost i ukupnu efikasnost sistema. U savremenim digitalnim proizvodima, upravo UX i UI često prave razliku između uspješnog i neuspješnog rješenja.</a:t>
            </a:r>
          </a:p>
        </p:txBody>
      </p:sp>
    </p:spTree>
    <p:extLst>
      <p:ext uri="{BB962C8B-B14F-4D97-AF65-F5344CB8AC3E}">
        <p14:creationId xmlns:p14="http://schemas.microsoft.com/office/powerpoint/2010/main" val="2710173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32C92-1084-1A94-75A0-C5F9502D0F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AE18965-C13B-EF29-C0B5-3DF92D49A327}"/>
              </a:ext>
            </a:extLst>
          </p:cNvPr>
          <p:cNvSpPr/>
          <p:nvPr/>
        </p:nvSpPr>
        <p:spPr>
          <a:xfrm>
            <a:off x="0" y="0"/>
            <a:ext cx="12192000" cy="685800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1AF7DD4-242A-1294-1A03-A92477135C34}"/>
              </a:ext>
            </a:extLst>
          </p:cNvPr>
          <p:cNvSpPr txBox="1"/>
          <p:nvPr/>
        </p:nvSpPr>
        <p:spPr>
          <a:xfrm>
            <a:off x="932688" y="2875002"/>
            <a:ext cx="11411712" cy="1107996"/>
          </a:xfrm>
          <a:prstGeom prst="rect">
            <a:avLst/>
          </a:prstGeom>
          <a:noFill/>
          <a:effectLst>
            <a:outerShdw blurRad="50800" dist="38100" dir="5400000" algn="t" rotWithShape="0">
              <a:prstClr val="black">
                <a:alpha val="40000"/>
              </a:prstClr>
            </a:outerShdw>
          </a:effectLst>
        </p:spPr>
        <p:txBody>
          <a:bodyPr wrap="square" rtlCol="0">
            <a:spAutoFit/>
          </a:bodyPr>
          <a:lstStyle/>
          <a:p>
            <a:r>
              <a:rPr lang="sr-Latn-BA" sz="6600" b="1">
                <a:solidFill>
                  <a:schemeClr val="bg1">
                    <a:lumMod val="85000"/>
                  </a:schemeClr>
                </a:solidFill>
                <a:latin typeface="Inter" panose="02000503000000020004" pitchFamily="2" charset="0"/>
                <a:ea typeface="Inter" panose="02000503000000020004" pitchFamily="2" charset="0"/>
              </a:rPr>
              <a:t>HVALA VAM NA PAŽNJI!</a:t>
            </a:r>
            <a:endParaRPr lang="en-US" sz="6600" b="1">
              <a:solidFill>
                <a:schemeClr val="bg1">
                  <a:lumMod val="85000"/>
                </a:schemeClr>
              </a:solidFill>
              <a:latin typeface="Inter" panose="02000503000000020004" pitchFamily="2" charset="0"/>
              <a:ea typeface="Inter" panose="02000503000000020004" pitchFamily="2" charset="0"/>
            </a:endParaRPr>
          </a:p>
        </p:txBody>
      </p:sp>
    </p:spTree>
    <p:extLst>
      <p:ext uri="{BB962C8B-B14F-4D97-AF65-F5344CB8AC3E}">
        <p14:creationId xmlns:p14="http://schemas.microsoft.com/office/powerpoint/2010/main" val="22854762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720</Words>
  <Application>Microsoft Office PowerPoint</Application>
  <PresentationFormat>Widescreen</PresentationFormat>
  <Paragraphs>56</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Inter</vt:lpstr>
      <vt:lpstr>Jost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ipdeveloper2001@gmail.com</dc:creator>
  <cp:lastModifiedBy>ipdeveloper2001@gmail.com</cp:lastModifiedBy>
  <cp:revision>2</cp:revision>
  <dcterms:created xsi:type="dcterms:W3CDTF">2026-04-09T18:52:19Z</dcterms:created>
  <dcterms:modified xsi:type="dcterms:W3CDTF">2026-04-10T16:16:08Z</dcterms:modified>
</cp:coreProperties>
</file>