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ora" pitchFamily="2" charset="0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937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39826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Evolucija i Budućnost Korisničkih Interfejsa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24123" y="3588199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Seminarski rad iz predmeta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HCI – Interakcija čovjek-računar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324123" y="3923241"/>
            <a:ext cx="746855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Panevropski univerzitet Apeiron, 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Banja Luka</a:t>
            </a:r>
            <a:endParaRPr lang="sr-Latn-BA" sz="160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ctr">
              <a:lnSpc>
                <a:spcPts val="2600"/>
              </a:lnSpc>
              <a:buNone/>
            </a:pP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Fakultet informacionih tehnologija</a:t>
            </a:r>
            <a:endParaRPr lang="sr-Latn-BA" sz="160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ctr">
              <a:lnSpc>
                <a:spcPts val="2600"/>
              </a:lnSpc>
              <a:buNone/>
            </a:pP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Smjer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Inženjering informacionih tehnologija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324124" y="7047779"/>
            <a:ext cx="746855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Student: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Nikolina </a:t>
            </a:r>
            <a:r>
              <a:rPr lang="en-US" sz="1600" b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Bekić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(21-22-FIT-IIT1-PRO-240)</a:t>
            </a:r>
            <a:endParaRPr lang="sr-Latn-BA" sz="160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2600"/>
              </a:lnSpc>
              <a:buNone/>
            </a:pPr>
            <a:r>
              <a:rPr lang="sr-Latn-BA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Predmetni n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astavnik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Prof. dr Željko </a:t>
            </a:r>
            <a:r>
              <a:rPr lang="en-US" sz="1600" b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Stanković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8B6FDD-F281-1067-EA3A-E27840BCA251}"/>
              </a:ext>
            </a:extLst>
          </p:cNvPr>
          <p:cNvSpPr/>
          <p:nvPr/>
        </p:nvSpPr>
        <p:spPr>
          <a:xfrm>
            <a:off x="12822621" y="7717863"/>
            <a:ext cx="1702676" cy="427654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4F01C77-AE1E-DABB-B17A-8C8F71CFF426}"/>
              </a:ext>
            </a:extLst>
          </p:cNvPr>
          <p:cNvSpPr/>
          <p:nvPr/>
        </p:nvSpPr>
        <p:spPr>
          <a:xfrm>
            <a:off x="10058400" y="7800137"/>
            <a:ext cx="7468553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sr-Latn-BA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April,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593884"/>
            <a:ext cx="5036939" cy="462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Osnove HCI-a: Teorijski okvir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837724" y="1232654"/>
            <a:ext cx="7468553" cy="87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Interakcija čovjek–računar (HCI) je </a:t>
            </a:r>
            <a:r>
              <a:rPr lang="en-US" sz="12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interdisciplinarna oblast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koja proučava dizajn, evaluaciju i implementaciju interaktivnih sistema, s ciljem unapređenja efikasnosti, upotrebljivosti i ukupnog korisničkog iskustva (Dix, 2004). HCI spaja računarske nauke, psihologiju, dizajn, ergonomiju </a:t>
            </a:r>
            <a:r>
              <a:rPr lang="en-US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sociologiju</a:t>
            </a:r>
            <a:r>
              <a:rPr lang="sr-Latn-BA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r>
              <a:rPr lang="en-US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jedinstvenim ciljem da tehnologija bude pristupačna, korisna i prijatna za ljudsku upotrebu.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2244328"/>
            <a:ext cx="392668" cy="3926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7724" y="2784158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Psihologija i kognicija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37724" y="3085743"/>
            <a:ext cx="74685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Razumijevanje kako korisnici razmišljaju, pamte i donose odluke. Ljudi imaju ograničen </a:t>
            </a:r>
            <a:r>
              <a:rPr lang="en-US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kapacitet pažnje</a:t>
            </a:r>
            <a:r>
              <a:rPr lang="sr-Latn-BA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r>
              <a:rPr lang="en-US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složen interfejs stvara kognitivno opterećenje.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724" y="3760946"/>
            <a:ext cx="392668" cy="3926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7724" y="4300776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Računarske nauke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837724" y="4602361"/>
            <a:ext cx="7468553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Tehnička osnova za razvoj softvera i sistema. Omogućava implementaciju interaktivnih rješenja.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724" y="5057775"/>
            <a:ext cx="392668" cy="3926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7724" y="5597604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Dizajn i ergonomija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37724" y="5899190"/>
            <a:ext cx="7468553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Vizuelno oblikovanje i fizički </a:t>
            </a:r>
            <a:r>
              <a:rPr lang="en-US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aspekti interakcije</a:t>
            </a:r>
            <a:r>
              <a:rPr lang="sr-Latn-BA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r>
              <a:rPr lang="en-US" sz="12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položaj tijela, udobnost i intuitivnost sistema.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7724" y="6354604"/>
            <a:ext cx="392668" cy="3926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7724" y="6894433"/>
            <a:ext cx="1848088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Ciljevi HCI discipline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837724" y="7196018"/>
            <a:ext cx="7468553" cy="439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Smanjenje grešaka, ubrzanje zadataka, povećanje zadovoljstva korisnika i dostupnosti tehnologije svim tipovima korisnika.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582692"/>
            <a:ext cx="587823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Razvoj HCI-a kroz istoriju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1617464"/>
            <a:ext cx="12954952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Razvoj HCI-a usko je povezan sa razvojem računarske tehnologije. U ranim fazama, računari su bili namijenjeni stručnjacima, a interakcija se odvijala putem komandnih linija i složenih programskih jezika. Fokus je bio isključivo na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funkcionalnosti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dok je korisničko iskustvo bilo zanemareno (Dix, 2004).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7724" y="4799648"/>
            <a:ext cx="12954952" cy="22860"/>
          </a:xfrm>
          <a:prstGeom prst="roundRect">
            <a:avLst>
              <a:gd name="adj" fmla="val 137440"/>
            </a:avLst>
          </a:prstGeom>
          <a:solidFill>
            <a:srgbClr val="5D606B"/>
          </a:solidFill>
          <a:ln/>
        </p:spPr>
      </p:sp>
      <p:sp>
        <p:nvSpPr>
          <p:cNvPr id="5" name="Shape 3"/>
          <p:cNvSpPr/>
          <p:nvPr/>
        </p:nvSpPr>
        <p:spPr>
          <a:xfrm>
            <a:off x="3338632" y="4171355"/>
            <a:ext cx="22860" cy="628293"/>
          </a:xfrm>
          <a:prstGeom prst="roundRect">
            <a:avLst>
              <a:gd name="adj" fmla="val 137440"/>
            </a:avLst>
          </a:prstGeom>
          <a:solidFill>
            <a:srgbClr val="5D606B"/>
          </a:solidFill>
          <a:ln/>
        </p:spPr>
      </p:sp>
      <p:sp>
        <p:nvSpPr>
          <p:cNvPr id="6" name="Shape 4"/>
          <p:cNvSpPr/>
          <p:nvPr/>
        </p:nvSpPr>
        <p:spPr>
          <a:xfrm>
            <a:off x="3114437" y="4564023"/>
            <a:ext cx="471249" cy="471249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3202245" y="4668888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118003" y="285821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1940–1960.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47155" y="3291840"/>
            <a:ext cx="4605933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Prekidači, bušene kartice — interakcija direktno hardverom, visoko tehničko znanje neophodno.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2057" y="4799648"/>
            <a:ext cx="22860" cy="628293"/>
          </a:xfrm>
          <a:prstGeom prst="roundRect">
            <a:avLst>
              <a:gd name="adj" fmla="val 137440"/>
            </a:avLst>
          </a:prstGeom>
          <a:solidFill>
            <a:srgbClr val="5D606B"/>
          </a:solidFill>
          <a:ln/>
        </p:spPr>
      </p:sp>
      <p:sp>
        <p:nvSpPr>
          <p:cNvPr id="11" name="Shape 9"/>
          <p:cNvSpPr/>
          <p:nvPr/>
        </p:nvSpPr>
        <p:spPr>
          <a:xfrm>
            <a:off x="5757863" y="4564023"/>
            <a:ext cx="471249" cy="471249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2" name="Text 10"/>
          <p:cNvSpPr/>
          <p:nvPr/>
        </p:nvSpPr>
        <p:spPr>
          <a:xfrm>
            <a:off x="5834241" y="4675585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61428" y="563737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1960–1980.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90461" y="6070997"/>
            <a:ext cx="46060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 i SHELL okruženja — tekstualne komande ubrzavaju rad, ali i dalje zahtijevaju stručnost.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25364" y="4171355"/>
            <a:ext cx="22860" cy="628293"/>
          </a:xfrm>
          <a:prstGeom prst="roundRect">
            <a:avLst>
              <a:gd name="adj" fmla="val 137440"/>
            </a:avLst>
          </a:prstGeom>
          <a:solidFill>
            <a:srgbClr val="5D606B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1169" y="4564023"/>
            <a:ext cx="471249" cy="471249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7" name="Text 15"/>
          <p:cNvSpPr/>
          <p:nvPr/>
        </p:nvSpPr>
        <p:spPr>
          <a:xfrm>
            <a:off x="8488978" y="4665702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404735" y="2858214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1980–2000.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333768" y="3291840"/>
            <a:ext cx="46060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GUI, miš i WIMP paradigma — računari postaju dostupni široj populaciji.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268789" y="4799648"/>
            <a:ext cx="22860" cy="628293"/>
          </a:xfrm>
          <a:prstGeom prst="roundRect">
            <a:avLst>
              <a:gd name="adj" fmla="val 137440"/>
            </a:avLst>
          </a:prstGeom>
          <a:solidFill>
            <a:srgbClr val="5D606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44595" y="4564023"/>
            <a:ext cx="471249" cy="471249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22" name="Text 20"/>
          <p:cNvSpPr/>
          <p:nvPr/>
        </p:nvSpPr>
        <p:spPr>
          <a:xfrm>
            <a:off x="11122479" y="4665702"/>
            <a:ext cx="295632" cy="369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0048161" y="5637371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2000–danas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977193" y="6070997"/>
            <a:ext cx="46060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Mobilni uređaji, glasovni asistenti, VR, AI — interakcija putem dodira, glasa i gestova.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7724" y="6976705"/>
            <a:ext cx="12954952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Danas se HCI razvija zajedno sa 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modernim tehnologijama 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interakcija više nije ograničena na tastaturu i miš, već uključuje dodir, glas i gestove, značajno proširujući domen ove discipline.</a:t>
            </a:r>
            <a:endParaRPr lang="en-US" sz="16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D6F9D9-BB4B-8C9C-9705-344DB380540B}"/>
              </a:ext>
            </a:extLst>
          </p:cNvPr>
          <p:cNvSpPr/>
          <p:nvPr/>
        </p:nvSpPr>
        <p:spPr>
          <a:xfrm>
            <a:off x="12822621" y="7717863"/>
            <a:ext cx="1702676" cy="427654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39165"/>
            <a:ext cx="764595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Klasifikacija korisničkih interfejsa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1973937"/>
            <a:ext cx="2403277" cy="14853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3721060"/>
            <a:ext cx="249305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 – Linijski interfejs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37724" y="4154686"/>
            <a:ext cx="3569889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Command Line Interface zahtijeva tačne tekstualne komande. Izuzetno efikasan u brzini i potrošnji resursa, ali složen za početnike. Danas zastupljen u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sistemskom administriranju i programiranju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274" y="1973937"/>
            <a:ext cx="2403277" cy="14853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3274" y="3721060"/>
            <a:ext cx="265318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GUI – Grafički interfejs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243274" y="4154686"/>
            <a:ext cx="3376744" cy="1675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Graphical User Interface koristi prozore, ikone, menije i dugmad. Uveo </a:t>
            </a:r>
            <a:r>
              <a:rPr lang="en-US" sz="1600" b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direktnu manipulaciju</a:t>
            </a:r>
            <a:r>
              <a:rPr lang="sr-Latn-BA" sz="1600" b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sr-Latn-BA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gdje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korisnik vidi i upravlja elementima na ekranu. Dominantan u većini operativnih sistema i aplikacija.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8825" y="1973937"/>
            <a:ext cx="2403396" cy="14853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48825" y="3721060"/>
            <a:ext cx="294679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Web orijentisani interfejsi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648825" y="4154686"/>
            <a:ext cx="337674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Pristup aplikacijama putem pregledača bez instalacije. Omogućavaju korišćenje sa različitih uređaja i lokacija. Izazovi: performanse, sigurnost i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responzivni dizajn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37724" y="6065520"/>
            <a:ext cx="12954952" cy="1224915"/>
          </a:xfrm>
          <a:prstGeom prst="roundRect">
            <a:avLst>
              <a:gd name="adj" fmla="val 2565"/>
            </a:avLst>
          </a:prstGeom>
          <a:solidFill>
            <a:srgbClr val="49042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155" y="6372463"/>
            <a:ext cx="261818" cy="2094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18404" y="6327219"/>
            <a:ext cx="12064841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WIMP paradigma</a:t>
            </a: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(Windows, Icons, Menus, Pointer</a:t>
            </a:r>
            <a:r>
              <a:rPr lang="en-US" sz="160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</a:t>
            </a:r>
            <a:r>
              <a:rPr lang="sr-Latn-BA" sz="160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</a:t>
            </a:r>
            <a:r>
              <a:rPr lang="en-US" sz="160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osnovni model većine modernih grafičkih interfejsa koji je postavio standarde koji se i danas koriste.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103415-C420-C71A-F434-CC8779BB81FE}"/>
              </a:ext>
            </a:extLst>
          </p:cNvPr>
          <p:cNvSpPr/>
          <p:nvPr/>
        </p:nvSpPr>
        <p:spPr>
          <a:xfrm>
            <a:off x="12822621" y="7717863"/>
            <a:ext cx="1702676" cy="427654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693777"/>
            <a:ext cx="7140416" cy="52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Percepcijski korisnički interfejs (PUI)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324124" y="1444228"/>
            <a:ext cx="746855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Percepcijski korisnički interfejs teži prirodnijoj 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komunikaciji </a:t>
            </a:r>
            <a:r>
              <a:rPr lang="sr-Latn-BA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kako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računar prepoznaje i interpretira ljudske radnje (govor, pokrete, gestove) umjesto da korisnik prilagođava svoje ponašanje 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tehnološkim ograničenjima</a:t>
            </a:r>
            <a:r>
              <a:rPr lang="sr-Latn-BA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24124" y="2404467"/>
            <a:ext cx="7468553" cy="971788"/>
          </a:xfrm>
          <a:prstGeom prst="roundRect">
            <a:avLst>
              <a:gd name="adj" fmla="val 2748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6502122" y="2582466"/>
            <a:ext cx="209454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Računarski vid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02122" y="2934891"/>
            <a:ext cx="7112556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Prepoznavanje pokreta ruku, položaja tijela, izraza lica i 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kretanja očiju 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bez fizičkog unosa.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24124" y="3527584"/>
            <a:ext cx="7468553" cy="1235154"/>
          </a:xfrm>
          <a:prstGeom prst="roundRect">
            <a:avLst>
              <a:gd name="adj" fmla="val 2162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6502122" y="3705582"/>
            <a:ext cx="2136458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Prepoznavanje govora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02122" y="4058007"/>
            <a:ext cx="7112556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Pretvaranje izgovorenih riječi u tekst 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ili komande</a:t>
            </a:r>
            <a:r>
              <a:rPr lang="sr-Latn-BA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prirodan oblik komunikacije sličan ljudskom razgovoru.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24124" y="4914067"/>
            <a:ext cx="7468553" cy="1235154"/>
          </a:xfrm>
          <a:prstGeom prst="roundRect">
            <a:avLst>
              <a:gd name="adj" fmla="val 2162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6502122" y="5092065"/>
            <a:ext cx="2150507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Senzorske tehnologije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02122" y="5444490"/>
            <a:ext cx="7112556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Akcelerometri, žiroskopi i senzori pokreta za precizno praćenje korisničkih aktivnosti u realnom vremenu.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24124" y="6300549"/>
            <a:ext cx="7468553" cy="1235154"/>
          </a:xfrm>
          <a:prstGeom prst="roundRect">
            <a:avLst>
              <a:gd name="adj" fmla="val 2162"/>
            </a:avLst>
          </a:prstGeom>
          <a:solidFill>
            <a:srgbClr val="444752"/>
          </a:solidFill>
          <a:ln/>
        </p:spPr>
      </p:sp>
      <p:sp>
        <p:nvSpPr>
          <p:cNvPr id="15" name="Text 12"/>
          <p:cNvSpPr/>
          <p:nvPr/>
        </p:nvSpPr>
        <p:spPr>
          <a:xfrm>
            <a:off x="6502122" y="6478548"/>
            <a:ext cx="2611636" cy="261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Dodirni i heptički interfejsi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02122" y="6830973"/>
            <a:ext cx="7112556" cy="52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Ekran osjetljiv na dodir omogućava direktnu manipulaciju. Heptički interfejsi vraćaju povratnu informaciju putem </a:t>
            </a:r>
            <a:r>
              <a:rPr lang="en-US" sz="14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vibracija i simulacije </a:t>
            </a:r>
            <a:r>
              <a:rPr lang="en-US" sz="1400" b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fizičkog kontakta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183D85-C42C-BE9C-F180-329F444811FD}"/>
              </a:ext>
            </a:extLst>
          </p:cNvPr>
          <p:cNvSpPr/>
          <p:nvPr/>
        </p:nvSpPr>
        <p:spPr>
          <a:xfrm>
            <a:off x="12822621" y="7717863"/>
            <a:ext cx="1702676" cy="427654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39842"/>
            <a:ext cx="566987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Virtuelna realnost i VRUI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37724" y="1758315"/>
            <a:ext cx="6895267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Virtuelna realnost (VR) je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simulirano okruženje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koje stvara osjećaj fizičke prisutnosti. Korisnik nije samo 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posmatrač  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već aktivni učesnik koji se kreće, istražuje i manipuliše objektima unutar virtuelnog prostora.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7724" y="2951917"/>
            <a:ext cx="6895267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VRUI (Virtual Reality User Interface)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oslanja se na prostornu interakciju: korisnik koristi tijelo, pokrete ruku i pogled. Dizajn mora biti prilagođen trodimenzionalnom prostoru, a ne ravnoj površini ekrana.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37724" y="4192667"/>
            <a:ext cx="3342918" cy="1652111"/>
          </a:xfrm>
          <a:prstGeom prst="roundRect">
            <a:avLst>
              <a:gd name="adj" fmla="val 190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0015" y="4424958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Prostorno mapiranje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70015" y="4942403"/>
            <a:ext cx="287833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Objekti postavljeni u virtuelni prostor imitiraju realni svijet.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90073" y="4192667"/>
            <a:ext cx="3342918" cy="1652111"/>
          </a:xfrm>
          <a:prstGeom prst="roundRect">
            <a:avLst>
              <a:gd name="adj" fmla="val 190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2363" y="4424958"/>
            <a:ext cx="2710577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3D zvuk i vizuelni efekti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22363" y="4942403"/>
            <a:ext cx="2878336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Sjenke, osvjetljenje i dubina pojačavaju osjećaj prisutnosti.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627" y="1805464"/>
            <a:ext cx="5548670" cy="55486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DCF50E0-880B-2BCF-388B-76ED67937516}"/>
              </a:ext>
            </a:extLst>
          </p:cNvPr>
          <p:cNvSpPr/>
          <p:nvPr/>
        </p:nvSpPr>
        <p:spPr>
          <a:xfrm>
            <a:off x="12822621" y="7717863"/>
            <a:ext cx="1702676" cy="427654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346" y="348258"/>
            <a:ext cx="4544258" cy="356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Hipermedija, hipertekst i hiperlink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205" y="1252181"/>
            <a:ext cx="181570" cy="181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848" y="1321322"/>
            <a:ext cx="1424583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Hipermedija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70228" y="1629912"/>
            <a:ext cx="6289715" cy="305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Proširenje 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tradicionalnih medija</a:t>
            </a:r>
            <a:r>
              <a:rPr lang="sr-Latn-BA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povezivanje teksta, slika, audio i video sadržaja u jedinstvenu interaktivnu strukturu. Korisnik bira svoj put kroz sadržaj, ne prati linearan tok.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205" y="3165033"/>
            <a:ext cx="181570" cy="1815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0228" y="3225185"/>
            <a:ext cx="1424583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Hipertekst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70227" y="3571922"/>
            <a:ext cx="5623040" cy="768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1200"/>
              </a:lnSpc>
            </a:pP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Tekst koji sadrži veze ka drugim dokumentima ili dijelovima sadržaja</a:t>
            </a:r>
            <a:r>
              <a:rPr lang="sr-Latn-BA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stvara</a:t>
            </a:r>
            <a:endParaRPr lang="sr-Latn-BA" sz="140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algn="just">
              <a:lnSpc>
                <a:spcPts val="1200"/>
              </a:lnSpc>
            </a:pPr>
            <a:r>
              <a:rPr lang="en-US" sz="1400" b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nelinearno iskustvo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čitanja i učenja.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975" y="5107154"/>
            <a:ext cx="181570" cy="1815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848" y="5197939"/>
            <a:ext cx="1424583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Hiperlink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877848" y="5447742"/>
            <a:ext cx="6289715" cy="152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Konkretan element za povezivanje resursa — klikom korisnik 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prelazi na</a:t>
            </a:r>
            <a:endParaRPr lang="sr-Latn-BA" sz="140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 marL="0" indent="0" algn="l">
              <a:lnSpc>
                <a:spcPts val="1200"/>
              </a:lnSpc>
              <a:buNone/>
            </a:pP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drugi </a:t>
            </a: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dokument, stranicu ili multimedijalni </a:t>
            </a:r>
            <a:r>
              <a:rPr lang="en-US" sz="14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sadržaj.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458" y="887968"/>
            <a:ext cx="6683216" cy="668321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D0A2D32-435E-A4DD-FCF8-962F341C2D6D}"/>
              </a:ext>
            </a:extLst>
          </p:cNvPr>
          <p:cNvSpPr/>
          <p:nvPr/>
        </p:nvSpPr>
        <p:spPr>
          <a:xfrm>
            <a:off x="12822621" y="7717863"/>
            <a:ext cx="1702676" cy="427654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952" y="348273"/>
            <a:ext cx="5627489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Budućnost: AR, MR i HCI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11" y="2531088"/>
            <a:ext cx="2993283" cy="18496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2385" y="4506388"/>
            <a:ext cx="2618184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Proširena realnost (AR)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37724" y="4940014"/>
            <a:ext cx="2970371" cy="2010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Digitalni elementi se dodaju u stvarni svijet u 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realnom vremenu</a:t>
            </a:r>
            <a:r>
              <a:rPr lang="sr-Latn-BA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navigacione strelice na ulici, interaktivni 3D modeli. Primjena u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obrazovanju, medicini i industriji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133" y="2531086"/>
            <a:ext cx="2993283" cy="18496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78649" y="4506387"/>
            <a:ext cx="26954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Mješovita realnost (MR)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591552" y="4940014"/>
            <a:ext cx="3383310" cy="23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Fizički i virtuelni objekti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međusobno interaguju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 realnom vremenu. Digitalni objekti reaguju na 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fizičko okruženje</a:t>
            </a:r>
            <a:r>
              <a:rPr lang="sr-Latn-BA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položaj, svjetlost, prepreke. Veliki potencijal u simulacijama i arhitekturi.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0368" y="2531088"/>
            <a:ext cx="2993283" cy="18496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08970" y="4506388"/>
            <a:ext cx="247328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Adaptivni HCI sistemi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0467901" y="4940014"/>
            <a:ext cx="3437792" cy="23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Sistemi budućnosti prilagođavaju se korisniku, navikama i kontekstu korišćenja uz primjenu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vještačke inteligencije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Multimodalna interakcija kombinuje glas, dodir, pokret </a:t>
            </a:r>
            <a:r>
              <a:rPr lang="en-US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 pogled</a:t>
            </a:r>
            <a:r>
              <a:rPr lang="sr-Latn-BA" sz="160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8DD5A5-F1BC-8F21-D061-79C53F95B416}"/>
              </a:ext>
            </a:extLst>
          </p:cNvPr>
          <p:cNvSpPr/>
          <p:nvPr/>
        </p:nvSpPr>
        <p:spPr>
          <a:xfrm>
            <a:off x="12822621" y="7717863"/>
            <a:ext cx="1702676" cy="427654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487" y="487561"/>
            <a:ext cx="5861685" cy="43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Metodologija dizajna i upotrebljivost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4487" y="1127641"/>
            <a:ext cx="1332142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Dizajn interfejsa je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cikličan i iterativan </a:t>
            </a:r>
            <a:r>
              <a:rPr lang="en-US" sz="1150" b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</a:t>
            </a:r>
            <a:r>
              <a:rPr lang="en-US" sz="115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rješenja se stalno testiraju, unapređuju i </a:t>
            </a:r>
            <a:r>
              <a:rPr lang="en-US" sz="115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prilagođavaju korisnicima. 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Loš interfejs može umanjiti upotrebljivost čak i tehnički naprednog sistema.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603" y="1444704"/>
            <a:ext cx="11461194" cy="44930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59012" y="1665053"/>
            <a:ext cx="2098062" cy="31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Analiza potreba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673119" y="1665053"/>
            <a:ext cx="2098062" cy="31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Koncept i skice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673119" y="5400165"/>
            <a:ext cx="2098062" cy="31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Izrada prototipa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859012" y="5083021"/>
            <a:ext cx="2098062" cy="63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1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Testiranje i iteracija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54487" y="6054209"/>
            <a:ext cx="13321427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Ciklus se ponavlja sve dok se ne postigne zadovoljavajući nivo upotrebljivosti.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402" y="6371273"/>
            <a:ext cx="6693218" cy="1370647"/>
          </a:xfrm>
          <a:prstGeom prst="roundRect">
            <a:avLst>
              <a:gd name="adj" fmla="val 1612"/>
            </a:avLst>
          </a:prstGeom>
          <a:solidFill>
            <a:srgbClr val="F98AC7"/>
          </a:solidFill>
          <a:ln/>
        </p:spPr>
      </p:sp>
      <p:sp>
        <p:nvSpPr>
          <p:cNvPr id="11" name="Text 8"/>
          <p:cNvSpPr/>
          <p:nvPr/>
        </p:nvSpPr>
        <p:spPr>
          <a:xfrm>
            <a:off x="695563" y="6474738"/>
            <a:ext cx="2047875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Principi dobrog interfejsa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5563" y="6794659"/>
            <a:ext cx="6398895" cy="911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Jasnoća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svaki element razumljiv bez razmišljanja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Konzistentnost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iste funkcije na istim mjestima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Minimizacija kognitivnog opterećenja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samo potrebne informacije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Povratna informacija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korisnik zna da je akcija uspješna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02485" y="6474738"/>
            <a:ext cx="2009537" cy="21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Evaluacija upotrebljivosti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502485" y="6794659"/>
            <a:ext cx="6481048" cy="674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Testiranje sa korisnicima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posmatranje stvarnog ponašanja i poteškoća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Heuristička evaluacija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stručnjaci analiziraju sistem po definisanim principima</a:t>
            </a:r>
            <a:endParaRPr lang="en-US" sz="11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Ergonomija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prilagođavanje fizičkim i psihološkim sposobnostima korisnika</a:t>
            </a:r>
            <a:endParaRPr lang="en-US" sz="11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BC4095-A476-F080-9FF7-1F63835294E6}"/>
              </a:ext>
            </a:extLst>
          </p:cNvPr>
          <p:cNvSpPr/>
          <p:nvPr/>
        </p:nvSpPr>
        <p:spPr>
          <a:xfrm>
            <a:off x="12822621" y="7717863"/>
            <a:ext cx="1702676" cy="427654"/>
          </a:xfrm>
          <a:prstGeom prst="rect">
            <a:avLst/>
          </a:prstGeom>
          <a:solidFill>
            <a:srgbClr val="2528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50319"/>
            <a:ext cx="4681895" cy="585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Zaključak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1136094" y="1731645"/>
            <a:ext cx="7170182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„U središtu svakog interfejsa nalazi se čovjek, sa svojim kognitivnim ograničenjima, navikama i očekivanjima. Sistem koji ne razumije svog korisnika, ma koliko tehnički napredan bio, osuđen je na zaborav."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837724" y="1518999"/>
            <a:ext cx="22860" cy="1356122"/>
          </a:xfrm>
          <a:prstGeom prst="rect">
            <a:avLst/>
          </a:prstGeom>
          <a:solidFill>
            <a:srgbClr val="F98AC7"/>
          </a:solidFill>
          <a:ln/>
        </p:spPr>
      </p:sp>
      <p:sp>
        <p:nvSpPr>
          <p:cNvPr id="6" name="Shape 3"/>
          <p:cNvSpPr/>
          <p:nvPr/>
        </p:nvSpPr>
        <p:spPr>
          <a:xfrm>
            <a:off x="837724" y="3087767"/>
            <a:ext cx="3639741" cy="2044898"/>
          </a:xfrm>
          <a:prstGeom prst="roundRect">
            <a:avLst>
              <a:gd name="adj" fmla="val 1460"/>
            </a:avLst>
          </a:pr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1036677" y="3286720"/>
            <a:ext cx="2340888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Evolucija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6677" y="3692604"/>
            <a:ext cx="3241834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Od CLI preko GUI do percepcijskih i imerzivnih </a:t>
            </a:r>
            <a:r>
              <a:rPr lang="en-US" sz="155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sistema </a:t>
            </a:r>
            <a:r>
              <a:rPr lang="sr-Latn-BA" sz="155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gdje </a:t>
            </a:r>
            <a:r>
              <a:rPr lang="en-US" sz="155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svaka 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generacija rješavala je ograničenja prethodne.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666417" y="3087767"/>
            <a:ext cx="3639860" cy="2044898"/>
          </a:xfrm>
          <a:prstGeom prst="roundRect">
            <a:avLst>
              <a:gd name="adj" fmla="val 1460"/>
            </a:avLst>
          </a:prstGeom>
          <a:solidFill>
            <a:srgbClr val="444752"/>
          </a:solidFill>
          <a:ln/>
        </p:spPr>
      </p:sp>
      <p:sp>
        <p:nvSpPr>
          <p:cNvPr id="10" name="Text 7"/>
          <p:cNvSpPr/>
          <p:nvPr/>
        </p:nvSpPr>
        <p:spPr>
          <a:xfrm>
            <a:off x="4865370" y="3286720"/>
            <a:ext cx="2340888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Multidisciplinarnost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865370" y="3692604"/>
            <a:ext cx="3241953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HCI objedinjuje računarske nauke, psihologiju, ergonomiju i dizajn s jednim ciljem: jednostavna, efikasna i prijatna interakcija.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837724" y="5321617"/>
            <a:ext cx="7468553" cy="1424345"/>
          </a:xfrm>
          <a:prstGeom prst="roundRect">
            <a:avLst>
              <a:gd name="adj" fmla="val 2096"/>
            </a:avLst>
          </a:prstGeom>
          <a:solidFill>
            <a:srgbClr val="444752"/>
          </a:solidFill>
          <a:ln/>
        </p:spPr>
      </p:sp>
      <p:sp>
        <p:nvSpPr>
          <p:cNvPr id="13" name="Text 10"/>
          <p:cNvSpPr/>
          <p:nvPr/>
        </p:nvSpPr>
        <p:spPr>
          <a:xfrm>
            <a:off x="1036677" y="5520571"/>
            <a:ext cx="2340888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Budućnost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36677" y="5926455"/>
            <a:ext cx="707064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AR, MR i AI sistemi brišu granicu između fizičkog i </a:t>
            </a:r>
            <a:r>
              <a:rPr lang="en-US" sz="155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digitalnog tehnologija 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postaje </a:t>
            </a:r>
            <a:r>
              <a:rPr lang="en-US" sz="15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produžetak ljudske misli i akcije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1083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Lora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Ivan Pavlovic</dc:creator>
  <cp:lastModifiedBy>ipdeveloper2001@gmail.com</cp:lastModifiedBy>
  <cp:revision>15</cp:revision>
  <dcterms:created xsi:type="dcterms:W3CDTF">2026-04-12T13:51:58Z</dcterms:created>
  <dcterms:modified xsi:type="dcterms:W3CDTF">2026-04-12T14:07:25Z</dcterms:modified>
</cp:coreProperties>
</file>