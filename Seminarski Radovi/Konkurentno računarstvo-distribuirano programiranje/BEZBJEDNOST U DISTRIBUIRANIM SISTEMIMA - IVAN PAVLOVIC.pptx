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mpact" panose="020B0806030902050204" pitchFamily="34" charset="0"/>
      <p:regular r:id="rId13"/>
    </p:embeddedFont>
    <p:embeddedFont>
      <p:font typeface="Jost Black" pitchFamily="2" charset="0"/>
      <p:bold r:id="rId14"/>
      <p:boldItalic r:id="rId15"/>
    </p:embeddedFont>
    <p:embeddedFont>
      <p:font typeface="Source Sans 3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894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031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1630085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Bezbjednost u Distribuiranim Sistemima</a:t>
            </a:r>
            <a:endParaRPr lang="en-US" sz="4400" dirty="0">
              <a:latin typeface="Impact" panose="020B080603090205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3798" y="4104084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sr-Latn-BA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Konkurentno 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računarstvo-distribuirano programiranje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3798" y="5122069"/>
            <a:ext cx="4519255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9413" y="5203627"/>
            <a:ext cx="420802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PANEVROPSKI UNIVERZITET APEIRON, BANJA LUKA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3798" y="5859066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Ivan 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Pavlović </a:t>
            </a:r>
            <a:endParaRPr lang="sr-Latn-BA" sz="1900">
              <a:solidFill>
                <a:srgbClr val="E2E6E9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sr-Latn-BA" sz="1900" b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Predmetni </a:t>
            </a:r>
            <a:r>
              <a:rPr lang="en-US" sz="1900" b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Nastavnik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Prof. dr Negovan 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Stamenković </a:t>
            </a:r>
            <a:endParaRPr lang="sr-Latn-BA" sz="1900">
              <a:solidFill>
                <a:srgbClr val="E2E6E9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endParaRPr lang="sr-Latn-BA" sz="1900" b="1">
              <a:solidFill>
                <a:srgbClr val="E2E6E9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endParaRPr lang="sr-Latn-BA" sz="1900" b="1">
              <a:solidFill>
                <a:srgbClr val="E2E6E9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sr-Latn-BA" sz="1900" b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Banja Luka, </a:t>
            </a:r>
            <a:r>
              <a:rPr lang="en-US" sz="1900" b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April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2026.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30433"/>
          </a:xfrm>
          <a:prstGeom prst="rect">
            <a:avLst/>
          </a:prstGeom>
          <a:solidFill>
            <a:srgbClr val="3031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349" y="622102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678775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Šta su Distribuirani Sistemi?</a:t>
            </a:r>
            <a:endParaRPr lang="en-US" sz="4400" dirty="0">
              <a:latin typeface="Impact" panose="020B080603090205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3798" y="2451497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Skup međusobno povezanih računarskih jedinica koje zajednički 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ostvaruju funkcionalnost</a:t>
            </a:r>
            <a:r>
              <a:rPr lang="sr-Latn-BA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korisniku se predstavljaju kao jedinstven sistem. Podaci su raspoređeni kroz više lokacija, servisa i baza podataka.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3798" y="3839647"/>
            <a:ext cx="3584734" cy="2102763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1110615" y="40864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Skalabilnost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10615" y="4585097"/>
            <a:ext cx="3091101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Raspodjela opterećenja između čvorova omogućava rast sistema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695349" y="3839647"/>
            <a:ext cx="3584853" cy="2102763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4942165" y="40864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Dostupnost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42165" y="4585097"/>
            <a:ext cx="30912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Neprekidni rad servisa uz redundansu i replikaciju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3798" y="6189226"/>
            <a:ext cx="741640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1110615" y="643604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Složenost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10615" y="6934676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Veća površina napada i međuzavisnost komponenti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49392"/>
            <a:ext cx="8156377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Mehanizmi </a:t>
            </a:r>
            <a:r>
              <a:rPr lang="en-US" sz="375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Kontrole</a:t>
            </a:r>
            <a:endParaRPr lang="en-US" sz="3750" dirty="0">
              <a:latin typeface="Impact" panose="020B080603090205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1913453"/>
            <a:ext cx="5266134" cy="526613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1913453"/>
            <a:ext cx="5266134" cy="52661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8685" y="2207419"/>
            <a:ext cx="375761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Tri ključna stuba bezbjednosti</a:t>
            </a:r>
            <a:endParaRPr lang="en-US" sz="1850" dirty="0">
              <a:latin typeface="Impact" panose="020B080603090205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78685" y="2683550"/>
            <a:ext cx="6195536" cy="99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Povjerljivost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pristup samo ovlašćenim korisnicima i servisima</a:t>
            </a:r>
            <a:endParaRPr lang="en-US" sz="16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Integritet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tačnost i neizmijenjenost podataka i sistema</a:t>
            </a:r>
            <a:endParaRPr lang="en-US" sz="16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Dostupnost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sistem dostupan kada je potreban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578685" y="3841790"/>
            <a:ext cx="6195536" cy="87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 distribuiranim sistemima svaki stub zahtijeva zaštitu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 više nivoa istovremeno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 bazama, tokom prenosa i u međuservisnoj komunikaciji.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578685" y="4967764"/>
            <a:ext cx="6195536" cy="15716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578685" y="5236488"/>
            <a:ext cx="247233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Dodatni mehanizmi</a:t>
            </a:r>
            <a:endParaRPr lang="en-US" sz="1850" dirty="0">
              <a:latin typeface="Impact" panose="020B080603090205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578685" y="5712619"/>
            <a:ext cx="6195536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Autentifikacija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provjera identiteta korisnika, servisa i uređaja</a:t>
            </a:r>
            <a:endParaRPr lang="en-US" sz="16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Autorizacija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definisanje prava pristupa nakon provjere identiteta</a:t>
            </a:r>
            <a:endParaRPr lang="en-US" sz="16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Odgovornost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evidencija ko je i kada izvršio radnju</a:t>
            </a:r>
            <a:endParaRPr lang="en-US" sz="16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B0A677-BDE1-F847-66D4-2F817C84D265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45131"/>
            <a:ext cx="601682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Prije</a:t>
            </a:r>
            <a:r>
              <a:rPr lang="sr-Latn-BA" sz="4400" b="1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t</a:t>
            </a:r>
            <a:r>
              <a:rPr lang="en-US" sz="4400" b="1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nje </a:t>
            </a:r>
            <a:r>
              <a:rPr lang="en-US" sz="44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i Ranjivosti</a:t>
            </a:r>
            <a:endParaRPr lang="en-US" sz="4400" dirty="0">
              <a:latin typeface="Impact" panose="020B080603090205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240042"/>
            <a:ext cx="4136350" cy="2533888"/>
          </a:xfrm>
          <a:prstGeom prst="roundRect">
            <a:avLst>
              <a:gd name="adj" fmla="val 5774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240042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51733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Mrežne prijetnje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2535" y="3015972"/>
            <a:ext cx="34903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Presretanje saobraćaja, DNS manipulacija, neovlašćeni pristup kroz slabe lozinke i otvorene portove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6965" y="2240042"/>
            <a:ext cx="4136350" cy="2533888"/>
          </a:xfrm>
          <a:prstGeom prst="roundRect">
            <a:avLst>
              <a:gd name="adj" fmla="val 5774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485" y="2240042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15702" y="2517338"/>
            <a:ext cx="284011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Napadi na identitet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15702" y="3015972"/>
            <a:ext cx="34903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Phishing, krađa tokena, eskalacija privilegija i bočno kretanje kroz sistem nakon početne kompromitacije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240042"/>
            <a:ext cx="4136350" cy="2533888"/>
          </a:xfrm>
          <a:prstGeom prst="roundRect">
            <a:avLst>
              <a:gd name="adj" fmla="val 5774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9652" y="2240042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98869" y="251733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Napadi na podatke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98869" y="3015972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Krađa, izmjena ili brisanje podataka u bazama, kešu i tokom API komunikacije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5020747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18" y="5020747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2535" y="5298043"/>
            <a:ext cx="325254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Napadi na dostupnost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2535" y="5796677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DDoS i preopterećenje resursa — onemogućavanje normalnog rada servisa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246965" y="5020747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6485" y="5020747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15702" y="529804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Ljudski faktor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15702" y="5796677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Greške konfiguracije, zastarjele komponente i nedostatak bezbjednosne kulture</a:t>
            </a:r>
            <a:endParaRPr lang="en-US" sz="1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7E8C8C-7E41-03DD-4676-37EB62B10D37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06091"/>
            <a:ext cx="857678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Ključni Zahtjevi Bezbjednosti</a:t>
            </a:r>
            <a:endParaRPr lang="en-US" sz="4400" dirty="0">
              <a:latin typeface="Impact" panose="020B080603090205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798" y="2301002"/>
            <a:ext cx="616982" cy="61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3226475"/>
            <a:ext cx="32671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Povjerljivost podataka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3798" y="3725108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Klasifikacija podataka, kriptografija i kontrola pristupa na svim nivoima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7563" y="2301002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7563" y="322647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Integritet sistema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67563" y="3725108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Kriptografski potpisi, validacija ulaza i kontrola promjena konfiguracije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1328" y="2301002"/>
            <a:ext cx="616982" cy="616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1328" y="3226475"/>
            <a:ext cx="341661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Dostupnost i otpornost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1328" y="3725108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Redundansa, replikacija, balansiranje opterećenja i planovi kontinuiteta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798" y="4959072"/>
            <a:ext cx="616982" cy="6169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3798" y="5884545"/>
            <a:ext cx="348638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Upravljanje identitetom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63798" y="6383179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Centralizovani IAM, princip najmanjih privilegija i kontrola pristupa po ulozi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7563" y="4959072"/>
            <a:ext cx="616982" cy="6169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67563" y="5884545"/>
            <a:ext cx="324088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Revizija i odgovornost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67563" y="6383179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Centralizovani logovi, korelacija događaja i forenzička analiza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189C1F-FAAE-3F67-C7A4-1D05B17B2807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61" y="1003875"/>
            <a:ext cx="7086124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Tehnička Rješenja za Zaštitu</a:t>
            </a:r>
            <a:endParaRPr lang="en-US" sz="3750" dirty="0">
              <a:latin typeface="Impact" panose="020B080603090205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29442" y="2187773"/>
            <a:ext cx="471964" cy="471964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922430" y="2302192"/>
            <a:ext cx="28598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Bold" pitchFamily="34" charset="-120"/>
              </a:rPr>
              <a:t>1</a:t>
            </a:r>
            <a:endParaRPr lang="en-US" sz="225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79642" y="2259806"/>
            <a:ext cx="238410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Kriptografija</a:t>
            </a:r>
            <a:endParaRPr lang="en-US" sz="1850" dirty="0">
              <a:latin typeface="Impact" panose="020B080603090205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79642" y="2735937"/>
            <a:ext cx="755749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Šifrovanje podataka u mirovanju i tokom prenosa; pravilno upravljanje ključevima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9442" y="3383518"/>
            <a:ext cx="471964" cy="471964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922430" y="3497937"/>
            <a:ext cx="28598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Bold" pitchFamily="34" charset="-120"/>
              </a:rPr>
              <a:t>2</a:t>
            </a:r>
            <a:endParaRPr lang="en-US" sz="225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79642" y="3455551"/>
            <a:ext cx="238410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PKI i sertifikati</a:t>
            </a:r>
            <a:endParaRPr lang="en-US" sz="1850" dirty="0">
              <a:latin typeface="Impact" panose="020B080603090205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79642" y="3931682"/>
            <a:ext cx="7557492" cy="58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Digitalni sertifikati za međusobnu provjeru identiteta servisa; TLS za sve komunikacione tokove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29442" y="4870252"/>
            <a:ext cx="471964" cy="471964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922430" y="4984670"/>
            <a:ext cx="28598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Bold" pitchFamily="34" charset="-120"/>
              </a:rPr>
              <a:t>3</a:t>
            </a:r>
            <a:endParaRPr lang="en-US" sz="225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79642" y="4942284"/>
            <a:ext cx="3569732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Višefaktorska autentifikacija</a:t>
            </a:r>
            <a:endParaRPr lang="en-US" sz="1850" dirty="0">
              <a:latin typeface="Impact" panose="020B080603090205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79642" y="5418415"/>
            <a:ext cx="755749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Kombinacija znanja, posjedovanja i biometrije; kratkotrajni tokeni i kontrola sesija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29442" y="6065996"/>
            <a:ext cx="471964" cy="471964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7" name="Text 14"/>
          <p:cNvSpPr/>
          <p:nvPr/>
        </p:nvSpPr>
        <p:spPr>
          <a:xfrm>
            <a:off x="922430" y="6180415"/>
            <a:ext cx="28598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Bold" pitchFamily="34" charset="-120"/>
              </a:rPr>
              <a:t>4</a:t>
            </a:r>
            <a:endParaRPr lang="en-US" sz="225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79642" y="6138029"/>
            <a:ext cx="255901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Segmentacija mreže</a:t>
            </a:r>
            <a:endParaRPr lang="en-US" sz="1850" dirty="0">
              <a:latin typeface="Impact" panose="020B080603090205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479642" y="6614160"/>
            <a:ext cx="755749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Izolacija servisa, stroga pravila komunikacije i mrežni filteri za ograničavanje štete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D279C-A304-A4D1-A040-6A3C8492CDF1}"/>
              </a:ext>
            </a:extLst>
          </p:cNvPr>
          <p:cNvSpPr/>
          <p:nvPr/>
        </p:nvSpPr>
        <p:spPr>
          <a:xfrm>
            <a:off x="8064632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995F86-10FC-5450-940F-034787E0B6F3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51754"/>
            <a:ext cx="1256764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Bezbjednost u Savremenim Arhitekturama</a:t>
            </a:r>
            <a:endParaRPr lang="en-US" sz="4400" dirty="0">
              <a:latin typeface="Impact" panose="020B080603090205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846665"/>
            <a:ext cx="1736646" cy="10732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42283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Cloud okruženja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3798" y="4727019"/>
            <a:ext cx="299430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podijeljene odgovornosti — provajder štiti infrastrukturu, korisnik konfiguraciju, pristup i podatke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92" y="2846665"/>
            <a:ext cx="1736646" cy="10732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6592" y="42283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Mikroservisi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166592" y="4727019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Međusobna autentifikacija servisa, šifrovanje komunikacije i centralno upravljanje tajnama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386" y="2846665"/>
            <a:ext cx="1736646" cy="10732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9386" y="42283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API bezbjednost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469386" y="4727019"/>
            <a:ext cx="29943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Autentifikacija i autorizacija za svaki zahtjev, validacija ulaza i zaštita od zloupotrebe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180" y="2846665"/>
            <a:ext cx="1736765" cy="10733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2180" y="422850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Kontejneri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772180" y="4727138"/>
            <a:ext cx="299442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Kontrola porijekla slika, skeniranje ranjivosti i zaštita orkestracione ravni</a:t>
            </a:r>
            <a:endParaRPr lang="en-US" sz="1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31C0E3-D912-F2D1-1D41-91A6EBD086E8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375" y="426720"/>
            <a:ext cx="4130754" cy="42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Izazovi Implementacije</a:t>
            </a:r>
            <a:endParaRPr lang="en-US" sz="2650" dirty="0">
              <a:latin typeface="Impact" panose="020B080603090205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5" y="1094423"/>
            <a:ext cx="6605349" cy="66053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75" y="1094423"/>
            <a:ext cx="6605349" cy="66053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6295" y="3680936"/>
            <a:ext cx="2026087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Ključni izazovi u praksi</a:t>
            </a:r>
            <a:endParaRPr lang="en-US" sz="1300" dirty="0">
              <a:latin typeface="Impact" panose="020B080603090205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06295" y="3986213"/>
            <a:ext cx="660534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Složenost raste organski — gomilaju se zastarjele privilegije, napušteni servisi i privremena rješenja. Balans između performansi i bezbjednosti nije jednokratan, već </a:t>
            </a:r>
            <a:r>
              <a:rPr lang="en-US" sz="11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stalan proces</a:t>
            </a: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prilagođavanja.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7506295" y="4452223"/>
            <a:ext cx="6605349" cy="649486"/>
          </a:xfrm>
          <a:prstGeom prst="roundRect">
            <a:avLst>
              <a:gd name="adj" fmla="val 3474"/>
            </a:avLst>
          </a:prstGeom>
          <a:solidFill>
            <a:srgbClr val="262626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6671" y="4640104"/>
            <a:ext cx="188000" cy="1503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95047" y="4581287"/>
            <a:ext cx="5966222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Upravljanje tajnama (ključevi, tokeni, sertifikati) zahtijeva centralizovane alate i jasna organizaciona pravila — tehničko rješenje i praksa moraju biti usklađeni.</a:t>
            </a:r>
            <a:endParaRPr lang="en-US" sz="11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41D692-4116-30DB-08AF-EBE71B67B03F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36201"/>
            <a:ext cx="813149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Najbolje Prakse i Preporuke</a:t>
            </a:r>
            <a:endParaRPr lang="en-US" sz="4400" dirty="0">
              <a:latin typeface="Impact" panose="020B080603090205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2231112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icrosoft Himalaya" panose="01010100010101010101" pitchFamily="2" charset="0"/>
              </a:rPr>
              <a:t>01</a:t>
            </a:r>
            <a:endParaRPr lang="en-US" sz="190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3798" y="2620089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3798" y="280439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Security by Design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3798" y="3303032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Ugraditi bezbjednost od faze projektovanja — razmotriti rizike, identitete i tokove podataka unaprijed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6965" y="2231112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Light" pitchFamily="34" charset="-120"/>
              </a:rPr>
              <a:t>02</a:t>
            </a:r>
            <a:endParaRPr lang="en-US" sz="190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46965" y="2620089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46965" y="2804398"/>
            <a:ext cx="41363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Zero Trust &amp; najmanje privilegije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46965" y="3653671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Nijedan zahtjev nije automatski bezbjedan; svaki entitet dobija samo minimalno potrebna prava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231112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Light" pitchFamily="34" charset="-120"/>
              </a:rPr>
              <a:t>03</a:t>
            </a:r>
            <a:endParaRPr lang="en-US" sz="190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30132" y="2620089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2804398"/>
            <a:ext cx="41363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Redovno ažuriranje i testiranje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30132" y="3653671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Kontinuirano skeniranje ranjivosti, ažuriranje komponenti i procjena rizika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5196007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Light" pitchFamily="34" charset="-120"/>
              </a:rPr>
              <a:t>04</a:t>
            </a:r>
            <a:endParaRPr lang="en-US" sz="190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3798" y="5584984"/>
            <a:ext cx="632793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3798" y="5769293"/>
            <a:ext cx="408932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DevSecOps i automatizacija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3798" y="6267926"/>
            <a:ext cx="632793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Integrisati bezbjednosne provjere u CI/CD pipeline — problemi se otkrivaju ranije i rješavaju jeftinije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5196007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Jost Black" pitchFamily="2" charset="0"/>
                <a:ea typeface="Jost Black" pitchFamily="2" charset="0"/>
                <a:cs typeface="Montserrat Light" pitchFamily="34" charset="-120"/>
              </a:rPr>
              <a:t>05</a:t>
            </a:r>
            <a:endParaRPr lang="en-US" sz="1900" dirty="0">
              <a:latin typeface="Jost Black" pitchFamily="2" charset="0"/>
              <a:ea typeface="Jost Black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38549" y="5584984"/>
            <a:ext cx="632793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38549" y="5769293"/>
            <a:ext cx="487751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Edukacija i bezbjednosna kultura</a:t>
            </a:r>
            <a:endParaRPr lang="en-US" sz="2200" dirty="0">
              <a:latin typeface="Impact" panose="020B080603090205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8549" y="6267926"/>
            <a:ext cx="632793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Stalna obuka korisnika, administratora i programera — zaštita je zajednička odgovornost</a:t>
            </a:r>
            <a:endParaRPr lang="en-US" sz="1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4C35A1-ABAC-97AE-9341-077B41359E5A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44" y="739021"/>
            <a:ext cx="5522119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mpact" panose="020B0806030902050204" pitchFamily="34" charset="0"/>
                <a:ea typeface="Montserrat Bold" pitchFamily="34" charset="-122"/>
                <a:cs typeface="Montserrat Bold" pitchFamily="34" charset="-120"/>
              </a:rPr>
              <a:t>Zaključak</a:t>
            </a:r>
            <a:endParaRPr lang="en-US" sz="4300" dirty="0">
              <a:latin typeface="Impact" panose="020B080603090205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14795" y="2176463"/>
            <a:ext cx="12565261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Bezbjednost distribuiranih sistema je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trajni proces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 ne jednokratan zadatak — zahtijeva kombinaciju tehničkih rješenja, organizacionih mjera i razvijene bezbjednosne kulture.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0344" y="1907500"/>
            <a:ext cx="30480" cy="1261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8329" y="4260771"/>
            <a:ext cx="6032540" cy="278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Višeslojna odbrana — nijedan mehanizam nije dovoljan</a:t>
            </a:r>
            <a:endParaRPr lang="en-US" sz="19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Cloud, mikroservisi i kontejneri zahtijevaju Zero Trust pristup</a:t>
            </a:r>
            <a:endParaRPr lang="en-US" sz="19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Nadzor, automatizacija i spremnost na incidente su neophodni</a:t>
            </a:r>
            <a:endParaRPr lang="en-US" sz="19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 projektovan sa bezbjednošću u osnovi dugoročno očuva povjerenje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19167" y="3676650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19167" y="4260771"/>
            <a:ext cx="6168509" cy="197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Tanenbaum &amp; van Steen — </a:t>
            </a:r>
            <a:r>
              <a:rPr lang="en-US" sz="1900" i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Distributed Systems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2007.</a:t>
            </a:r>
            <a:endParaRPr lang="en-US" sz="19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Coulouris et al. — </a:t>
            </a:r>
            <a:r>
              <a:rPr lang="en-US" sz="1900" i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Distributed Systems: Concepts and Design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2011.</a:t>
            </a:r>
            <a:endParaRPr lang="en-US" sz="19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Kurose &amp; Ross — </a:t>
            </a:r>
            <a:r>
              <a:rPr lang="en-US" sz="1900" i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Computer Networking: A Top-Down Approach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2021.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619167" y="6565821"/>
            <a:ext cx="6168509" cy="18217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BC4E62-6053-6DB7-3563-A76E7344DC5F}"/>
              </a:ext>
            </a:extLst>
          </p:cNvPr>
          <p:cNvSpPr/>
          <p:nvPr/>
        </p:nvSpPr>
        <p:spPr>
          <a:xfrm>
            <a:off x="12801600" y="7695344"/>
            <a:ext cx="1746607" cy="43996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6A930D-98EB-A579-9566-73CD90E9F5EA}"/>
              </a:ext>
            </a:extLst>
          </p:cNvPr>
          <p:cNvSpPr/>
          <p:nvPr/>
        </p:nvSpPr>
        <p:spPr>
          <a:xfrm>
            <a:off x="7436644" y="3629190"/>
            <a:ext cx="6518314" cy="3172301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802606-690B-9FEB-AAED-E09CE6F4C94E}"/>
              </a:ext>
            </a:extLst>
          </p:cNvPr>
          <p:cNvSpPr/>
          <p:nvPr/>
        </p:nvSpPr>
        <p:spPr>
          <a:xfrm>
            <a:off x="542818" y="3968828"/>
            <a:ext cx="6957659" cy="2906913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688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Impact</vt:lpstr>
      <vt:lpstr>Source Sans 3</vt:lpstr>
      <vt:lpstr>Jost Black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 Pavlovic</dc:creator>
  <cp:lastModifiedBy>ipdeveloper2001@gmail.com</cp:lastModifiedBy>
  <cp:revision>6</cp:revision>
  <dcterms:created xsi:type="dcterms:W3CDTF">2026-04-25T06:13:07Z</dcterms:created>
  <dcterms:modified xsi:type="dcterms:W3CDTF">2026-04-25T06:27:07Z</dcterms:modified>
</cp:coreProperties>
</file>