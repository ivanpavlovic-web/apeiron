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" panose="02000503000000020004" pitchFamily="2" charset="0"/>
      <p:regular r:id="rId13"/>
      <p:bold r:id="rId14"/>
      <p:italic r:id="rId15"/>
      <p:boldItalic r:id="rId16"/>
    </p:embeddedFont>
    <p:embeddedFont>
      <p:font typeface="Inter Bold" panose="02000503000000020004" pitchFamily="2" charset="0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25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0024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11008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225492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Mrežne Arhitekture Distribuiranih Sistema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401264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Konkurentno 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računarstvo – distribuirano programiranje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99360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Student: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Nikolina Bekić</a:t>
            </a:r>
            <a:endParaRPr lang="sr-Latn-BA" sz="1750">
              <a:solidFill>
                <a:srgbClr val="E5E0D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sr-Latn-BA" sz="1750" b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Predmetni N</a:t>
            </a:r>
            <a:r>
              <a:rPr lang="en-US" sz="1750" b="1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astavnik</a:t>
            </a: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Prof. dr Negovan Stamenković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61165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sr-Latn-BA" sz="1750">
              <a:solidFill>
                <a:srgbClr val="E5E0D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sr-Latn-BA" sz="1750">
              <a:solidFill>
                <a:srgbClr val="E5E0D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sr-Latn-BA" sz="1750">
              <a:solidFill>
                <a:srgbClr val="E5E0DF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Panevropski 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univerzitet Apeiron, </a:t>
            </a:r>
            <a:r>
              <a:rPr lang="en-US" sz="175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Banja Luka</a:t>
            </a:r>
            <a:r>
              <a:rPr lang="sr-Latn-BA" sz="175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</a:t>
            </a:r>
            <a:r>
              <a:rPr lang="en-US" sz="175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 2026</a:t>
            </a:r>
            <a:endParaRPr lang="en-US" sz="17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88F5BC-A6C4-3F54-C994-1A4A186BC7D4}"/>
              </a:ext>
            </a:extLst>
          </p:cNvPr>
          <p:cNvSpPr/>
          <p:nvPr/>
        </p:nvSpPr>
        <p:spPr>
          <a:xfrm>
            <a:off x="12770778" y="7695344"/>
            <a:ext cx="1787703" cy="462337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11008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322" y="585668"/>
            <a:ext cx="5293638" cy="70582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753904"/>
            <a:ext cx="7107436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Osnove Distribuiranih Sistema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793790" y="1602105"/>
            <a:ext cx="7556421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Distribuirani </a:t>
            </a:r>
            <a:r>
              <a:rPr lang="en-US" sz="150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 </a:t>
            </a:r>
            <a:r>
              <a:rPr lang="sr-Latn-BA" sz="150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</a:t>
            </a:r>
            <a:r>
              <a:rPr lang="en-US" sz="150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skup nezavisnih računara koji komuniciraju preko mreže i </a:t>
            </a:r>
            <a:r>
              <a:rPr lang="en-US" sz="15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korisniku se predstavljaju kao jedinstven sistem</a:t>
            </a: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Komponente su fizički razdvojene, ali djeluju koherentno.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93790" y="2642235"/>
            <a:ext cx="7556421" cy="1085493"/>
          </a:xfrm>
          <a:prstGeom prst="roundRect">
            <a:avLst>
              <a:gd name="adj" fmla="val 746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94172" y="2842617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Istovremenost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94172" y="3242072"/>
            <a:ext cx="71556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Više komponenti istovremeno izvršava zadatke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93790" y="3891558"/>
            <a:ext cx="7556421" cy="1085493"/>
          </a:xfrm>
          <a:prstGeom prst="roundRect">
            <a:avLst>
              <a:gd name="adj" fmla="val 746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94172" y="4091940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Dijeljenje resursa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994172" y="4491395"/>
            <a:ext cx="71556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Pristup zajedničkim podacima i servisima bez obzira na lokaciju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93790" y="5140881"/>
            <a:ext cx="7556421" cy="1085493"/>
          </a:xfrm>
          <a:prstGeom prst="roundRect">
            <a:avLst>
              <a:gd name="adj" fmla="val 746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4172" y="5341263"/>
            <a:ext cx="254055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Otpornost na kvarove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994172" y="5740718"/>
            <a:ext cx="71556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Kvar jedne komponente ne ruši cijeli sistem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93790" y="6390203"/>
            <a:ext cx="7556421" cy="1085493"/>
          </a:xfrm>
          <a:prstGeom prst="roundRect">
            <a:avLst>
              <a:gd name="adj" fmla="val 746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94172" y="6590586"/>
            <a:ext cx="247911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Nema globalnog sata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994172" y="6990040"/>
            <a:ext cx="7155656" cy="285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Specifični mehanizmi sinhronizacije i koordinacije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2535"/>
            <a:ext cx="84274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Skalabilnost i Transparentnost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36627"/>
            <a:ext cx="4205168" cy="4205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9981" y="2725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Skalabilnost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559981" y="3306723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Sposobnost sistema da podrži rast korisnika i zahtjeva bez pada performansi.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559981" y="4236601"/>
            <a:ext cx="8284131" cy="805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Horizontalna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dodavanje novih čvorova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Vertikalna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unapređenje postojećih resursa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559981" y="52685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Transparentnost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559981" y="5849660"/>
            <a:ext cx="82841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Korisnik ne mora znati gdje se nalazi resurs niti koja komponenta obrađuje podatke. Sistem sakriva unutrašnju složenost.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A7547C-B93F-99B8-DBA8-BFB5406F568D}"/>
              </a:ext>
            </a:extLst>
          </p:cNvPr>
          <p:cNvSpPr/>
          <p:nvPr/>
        </p:nvSpPr>
        <p:spPr>
          <a:xfrm>
            <a:off x="12770778" y="7695344"/>
            <a:ext cx="1787703" cy="462337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7422"/>
            <a:ext cx="1046476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Klijent-Server i Višeslojna Arhitektura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39829"/>
            <a:ext cx="3700105" cy="22868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0101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Klijent-Server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500568"/>
            <a:ext cx="637960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Klijenti šalju zahtjeve, serveri ih obrađuju. Jasna podjela odgovornosti, ali centralni server može postati </a:t>
            </a: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kritična tačka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Osnova web aplikacija, bankarstva i poslovnih sistema.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2439829"/>
            <a:ext cx="3700224" cy="22868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5010150"/>
            <a:ext cx="30850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Višeslojna Arhitektura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5500568"/>
            <a:ext cx="637972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Prezentacioni, aplikacioni i sloj podataka odvojeni. Omogućava </a:t>
            </a: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nezavisno mijenjanje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svakog sloja. Troslojni model standard je poslovnih aplikacija.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70E711-71AD-3A11-2FF7-B204674DDE96}"/>
              </a:ext>
            </a:extLst>
          </p:cNvPr>
          <p:cNvSpPr/>
          <p:nvPr/>
        </p:nvSpPr>
        <p:spPr>
          <a:xfrm>
            <a:off x="12770778" y="7695344"/>
            <a:ext cx="1787703" cy="462337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23430"/>
            <a:ext cx="87635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P2P i Mikroservisna Arhitektura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991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Peer-to-Peer (P2P)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580328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Svaki čvor je i korisnik i pružalac usluge. Visoka </a:t>
            </a: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decentralizacija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 otpornost na centralni kvar. Primjena: razmjena fajlova, blockchain, kolaborativni sistemi.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4924187"/>
            <a:ext cx="6244709" cy="1326713"/>
          </a:xfrm>
          <a:prstGeom prst="roundRect">
            <a:avLst>
              <a:gd name="adj" fmla="val 7181"/>
            </a:avLst>
          </a:prstGeom>
          <a:solidFill>
            <a:srgbClr val="0A004D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268278"/>
            <a:ext cx="283488" cy="2268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0906" y="5207675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P2P unosi izazove: bezbjednost, autentifikacija i konzistentnost podataka su teži za upravljanje.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99521" y="2999184"/>
            <a:ext cx="36231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Mikroservisna Arhitektura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599521" y="3580328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Aplikacija se dijeli na </a:t>
            </a: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male, samostalne servise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svaki za tačno određenu funkciju. Nezavisno skaliranje i razvoj. Zahtijeva alate za orkestraciju, otkrivanje servisa i centralizovano logovanje.</a:t>
            </a:r>
            <a:endParaRPr lang="en-US" sz="17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6448A1-36A3-6970-F574-8417B7691FFB}"/>
              </a:ext>
            </a:extLst>
          </p:cNvPr>
          <p:cNvSpPr/>
          <p:nvPr/>
        </p:nvSpPr>
        <p:spPr>
          <a:xfrm>
            <a:off x="12770778" y="7695344"/>
            <a:ext cx="1787703" cy="462337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11008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80190" y="63972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Hibridne Arhitekture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168866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 praksi se rijetko koristi samo jedan model. </a:t>
            </a:r>
            <a:r>
              <a:rPr lang="en-US" sz="17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Hibridne arhitekture</a:t>
            </a: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kombinuju elemente klijent-server, višeslojnog, P2P i mikroservisnog pristupa.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80190" y="3032522"/>
            <a:ext cx="7556421" cy="1367909"/>
          </a:xfrm>
          <a:prstGeom prst="roundRect">
            <a:avLst>
              <a:gd name="adj" fmla="val 10695"/>
            </a:avLst>
          </a:prstGeom>
          <a:solidFill>
            <a:srgbClr val="272525"/>
          </a:solidFill>
          <a:ln w="30480">
            <a:solidFill>
              <a:srgbClr val="2A199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249710" y="3032522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2B0AFF"/>
          </a:solidFill>
          <a:ln/>
        </p:spPr>
      </p:sp>
      <p:sp>
        <p:nvSpPr>
          <p:cNvPr id="8" name="Text 5"/>
          <p:cNvSpPr/>
          <p:nvPr/>
        </p:nvSpPr>
        <p:spPr>
          <a:xfrm>
            <a:off x="6628924" y="32898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Prilagodljivost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628924" y="3780234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Svaki modul projektovan prema specifičnim zahtjevima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4627245"/>
            <a:ext cx="7556421" cy="1367909"/>
          </a:xfrm>
          <a:prstGeom prst="roundRect">
            <a:avLst>
              <a:gd name="adj" fmla="val 10695"/>
            </a:avLst>
          </a:prstGeom>
          <a:solidFill>
            <a:srgbClr val="272525"/>
          </a:solidFill>
          <a:ln w="30480">
            <a:solidFill>
              <a:srgbClr val="2A199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49710" y="4627245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2B0AFF"/>
          </a:solidFill>
          <a:ln/>
        </p:spPr>
      </p:sp>
      <p:sp>
        <p:nvSpPr>
          <p:cNvPr id="12" name="Text 9"/>
          <p:cNvSpPr/>
          <p:nvPr/>
        </p:nvSpPr>
        <p:spPr>
          <a:xfrm>
            <a:off x="6628924" y="4884539"/>
            <a:ext cx="309729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Kombinacija prednosti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628924" y="5374958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Centralna kontrola + horizontalna skalabilnost + lokalna obrada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6280190" y="6221968"/>
            <a:ext cx="7556421" cy="1367909"/>
          </a:xfrm>
          <a:prstGeom prst="roundRect">
            <a:avLst>
              <a:gd name="adj" fmla="val 10695"/>
            </a:avLst>
          </a:prstGeom>
          <a:solidFill>
            <a:srgbClr val="272525"/>
          </a:solidFill>
          <a:ln w="30480">
            <a:solidFill>
              <a:srgbClr val="2A199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49710" y="6221968"/>
            <a:ext cx="121920" cy="1367909"/>
          </a:xfrm>
          <a:prstGeom prst="roundRect">
            <a:avLst>
              <a:gd name="adj" fmla="val 78139"/>
            </a:avLst>
          </a:prstGeom>
          <a:solidFill>
            <a:srgbClr val="2B0AFF"/>
          </a:solidFill>
          <a:ln/>
        </p:spPr>
      </p:sp>
      <p:sp>
        <p:nvSpPr>
          <p:cNvPr id="16" name="Text 13"/>
          <p:cNvSpPr/>
          <p:nvPr/>
        </p:nvSpPr>
        <p:spPr>
          <a:xfrm>
            <a:off x="6628924" y="64792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Veća složenost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628924" y="6969681"/>
            <a:ext cx="69503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Zahtijeva jasnu dokumentaciju i standardizovanu komunikaciju</a:t>
            </a:r>
            <a:endParaRPr lang="en-US" sz="1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B33747-1B9F-4EA7-0E6A-39E650BFA75F}"/>
              </a:ext>
            </a:extLst>
          </p:cNvPr>
          <p:cNvSpPr/>
          <p:nvPr/>
        </p:nvSpPr>
        <p:spPr>
          <a:xfrm>
            <a:off x="12770778" y="7695344"/>
            <a:ext cx="1787703" cy="462337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30600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Komunikacioni Modeli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3425" y="779502"/>
            <a:ext cx="11263432" cy="70442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2317" y="4157594"/>
            <a:ext cx="2322181" cy="389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REST / gRPC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6153528" y="7135720"/>
            <a:ext cx="2322182" cy="389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RPC / RMI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0345389" y="3961503"/>
            <a:ext cx="2322181" cy="77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Asinhrona komunikacija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6153528" y="883494"/>
            <a:ext cx="2322182" cy="77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Sinhrona komunikacija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396835" y="7887414"/>
            <a:ext cx="13836729" cy="272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Pored direktnih poziva, distribuirani sistemi koriste </a:t>
            </a:r>
            <a:r>
              <a:rPr lang="en-US" sz="8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poruke i redove</a:t>
            </a:r>
            <a:r>
              <a:rPr lang="en-US" sz="8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komponente šalju poruke posredničkom sistemu (brokeru), što omogućava labaviju povezanost i veću otpornost na kvarove. Mrežni protokoli (TCP/IP, HTTP, TLS) osiguravaju standardizovanu komunikaciju.</a:t>
            </a:r>
            <a:endParaRPr lang="en-US" sz="8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8FD674-6304-4F4B-9E8D-EC13468119D9}"/>
              </a:ext>
            </a:extLst>
          </p:cNvPr>
          <p:cNvSpPr/>
          <p:nvPr/>
        </p:nvSpPr>
        <p:spPr>
          <a:xfrm>
            <a:off x="396836" y="7695344"/>
            <a:ext cx="14161646" cy="462337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9293"/>
            <a:ext cx="99636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Ključni Zahtjevi Mrežnih Arhitektura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171700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40613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B0A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2593181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3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Skalabilnost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803809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Rast bez pada kvaliteta usluge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5216962" y="2171700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51396" y="240613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B0A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2593181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1396" y="33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Pouzdanost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451396" y="380380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Visoka dostupnost, redundansa, failover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9640133" y="2171700"/>
            <a:ext cx="4196358" cy="2592348"/>
          </a:xfrm>
          <a:prstGeom prst="roundRect">
            <a:avLst>
              <a:gd name="adj" fmla="val 3675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874568" y="240613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B0A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1734" y="2593181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4568" y="33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Bezbjednost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9874568" y="380380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Enkripcija, autentifikacija, kontrola pristupa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93790" y="4990862"/>
            <a:ext cx="6407944" cy="2229445"/>
          </a:xfrm>
          <a:prstGeom prst="roundRect">
            <a:avLst>
              <a:gd name="adj" fmla="val 4273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28224" y="52252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B0A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15390" y="5412343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28224" y="61325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Performanse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1028224" y="6622971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Keširanje, kompresija, optimizacija saobraćaja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7428548" y="4990862"/>
            <a:ext cx="6407944" cy="2229445"/>
          </a:xfrm>
          <a:prstGeom prst="roundRect">
            <a:avLst>
              <a:gd name="adj" fmla="val 4273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62982" y="522529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B0AFF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850148" y="5412343"/>
            <a:ext cx="306110" cy="3061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662982" y="6132552"/>
            <a:ext cx="29407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Tolerancija na greške</a:t>
            </a:r>
            <a:endParaRPr lang="en-US" sz="2200" dirty="0"/>
          </a:p>
        </p:txBody>
      </p:sp>
      <p:sp>
        <p:nvSpPr>
          <p:cNvPr id="27" name="Text 20"/>
          <p:cNvSpPr/>
          <p:nvPr/>
        </p:nvSpPr>
        <p:spPr>
          <a:xfrm>
            <a:off x="7662982" y="6622971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Replikacija, automatski oporavak</a:t>
            </a:r>
            <a:endParaRPr lang="en-US" sz="17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256777D-F3C4-E599-3204-158DFAFB1257}"/>
              </a:ext>
            </a:extLst>
          </p:cNvPr>
          <p:cNvSpPr/>
          <p:nvPr/>
        </p:nvSpPr>
        <p:spPr>
          <a:xfrm>
            <a:off x="12770778" y="7695344"/>
            <a:ext cx="1787703" cy="462337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2226"/>
            <a:ext cx="7205901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Izazovi i Praktična Primjena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93790" y="1847374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Glavni izazovi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93790" y="2388632"/>
            <a:ext cx="6258520" cy="2567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Latencija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kašnjenje prenosa oblikuje arhitekturu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Konzistentnost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replikacija komplikuje upravljanje stanjem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Balansiranje opterećenja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raspodjela zahtjeva između resursa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Nadzor i dijagnostika</a:t>
            </a: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– centralizovano logovanje i monitoring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585710" y="1847374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Oblasti primjene</a:t>
            </a:r>
            <a:endParaRPr lang="en-US" sz="2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66553" y="2424827"/>
            <a:ext cx="323136" cy="3231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85917" y="2414230"/>
            <a:ext cx="5558314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računarstvo i data centri</a:t>
            </a:r>
            <a:endParaRPr lang="en-US" sz="16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66553" y="3491270"/>
            <a:ext cx="323136" cy="32313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85917" y="3480673"/>
            <a:ext cx="5558314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i mobilne platforme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66553" y="4557713"/>
            <a:ext cx="323136" cy="32313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85917" y="4547116"/>
            <a:ext cx="5558314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Bankarski i poslovni sistemi</a:t>
            </a:r>
            <a:endParaRPr lang="en-US" sz="16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66553" y="5624155"/>
            <a:ext cx="323136" cy="32313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85917" y="5613559"/>
            <a:ext cx="5558314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Internet stvari (IoT) i industrija</a:t>
            </a:r>
            <a:endParaRPr lang="en-US" sz="16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66553" y="6690598"/>
            <a:ext cx="323136" cy="32313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285917" y="6680002"/>
            <a:ext cx="5558314" cy="336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Multimedijalne i društvene platforme</a:t>
            </a:r>
            <a:endParaRPr lang="en-US" sz="16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32AAB0-A2B8-21BA-03DE-26BA192E7296}"/>
              </a:ext>
            </a:extLst>
          </p:cNvPr>
          <p:cNvSpPr/>
          <p:nvPr/>
        </p:nvSpPr>
        <p:spPr>
          <a:xfrm>
            <a:off x="12770778" y="7695344"/>
            <a:ext cx="1787703" cy="462337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11008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3297" y="576263"/>
            <a:ext cx="5307806" cy="70770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1407" y="694492"/>
            <a:ext cx="446555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Zaključak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781407" y="1463635"/>
            <a:ext cx="7581186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 postoji univerzalna arhitektura – svaki model donosi prednosti: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81407" y="1877258"/>
            <a:ext cx="7581186" cy="3918585"/>
          </a:xfrm>
          <a:prstGeom prst="roundRect">
            <a:avLst>
              <a:gd name="adj" fmla="val 1915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89027" y="1884878"/>
            <a:ext cx="7565946" cy="975836"/>
          </a:xfrm>
          <a:prstGeom prst="roundRect">
            <a:avLst>
              <a:gd name="adj" fmla="val 7688"/>
            </a:avLst>
          </a:prstGeom>
          <a:solidFill>
            <a:srgbClr val="110080"/>
          </a:solidFill>
          <a:ln/>
        </p:spPr>
      </p:sp>
      <p:sp>
        <p:nvSpPr>
          <p:cNvPr id="8" name="Text 5"/>
          <p:cNvSpPr/>
          <p:nvPr/>
        </p:nvSpPr>
        <p:spPr>
          <a:xfrm>
            <a:off x="967621" y="2063472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Klijent-Server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967621" y="2426732"/>
            <a:ext cx="7208758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Jasnoća i kontrola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89027" y="2860715"/>
            <a:ext cx="7565946" cy="975836"/>
          </a:xfrm>
          <a:prstGeom prst="rect">
            <a:avLst/>
          </a:prstGeom>
          <a:solidFill>
            <a:srgbClr val="110080"/>
          </a:solidFill>
          <a:ln/>
        </p:spPr>
      </p:sp>
      <p:sp>
        <p:nvSpPr>
          <p:cNvPr id="11" name="Shape 8"/>
          <p:cNvSpPr/>
          <p:nvPr/>
        </p:nvSpPr>
        <p:spPr>
          <a:xfrm>
            <a:off x="789027" y="2860715"/>
            <a:ext cx="7565946" cy="22860"/>
          </a:xfrm>
          <a:prstGeom prst="roundRect">
            <a:avLst>
              <a:gd name="adj" fmla="val 328186"/>
            </a:avLst>
          </a:prstGeom>
          <a:solidFill>
            <a:srgbClr val="2A1999"/>
          </a:solidFill>
          <a:ln/>
        </p:spPr>
      </p:sp>
      <p:sp>
        <p:nvSpPr>
          <p:cNvPr id="12" name="Text 9"/>
          <p:cNvSpPr/>
          <p:nvPr/>
        </p:nvSpPr>
        <p:spPr>
          <a:xfrm>
            <a:off x="967621" y="3039308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Višeslojna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967621" y="3402568"/>
            <a:ext cx="7208758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Modularnost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89027" y="3836551"/>
            <a:ext cx="7565946" cy="975836"/>
          </a:xfrm>
          <a:prstGeom prst="rect">
            <a:avLst/>
          </a:prstGeom>
          <a:solidFill>
            <a:srgbClr val="110080"/>
          </a:solidFill>
          <a:ln/>
        </p:spPr>
      </p:sp>
      <p:sp>
        <p:nvSpPr>
          <p:cNvPr id="15" name="Shape 12"/>
          <p:cNvSpPr/>
          <p:nvPr/>
        </p:nvSpPr>
        <p:spPr>
          <a:xfrm>
            <a:off x="789027" y="3836551"/>
            <a:ext cx="7565946" cy="22860"/>
          </a:xfrm>
          <a:prstGeom prst="roundRect">
            <a:avLst>
              <a:gd name="adj" fmla="val 328186"/>
            </a:avLst>
          </a:prstGeom>
          <a:solidFill>
            <a:srgbClr val="2A1999"/>
          </a:solidFill>
          <a:ln/>
        </p:spPr>
      </p:sp>
      <p:sp>
        <p:nvSpPr>
          <p:cNvPr id="16" name="Text 13"/>
          <p:cNvSpPr/>
          <p:nvPr/>
        </p:nvSpPr>
        <p:spPr>
          <a:xfrm>
            <a:off x="967621" y="4015145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P2P</a:t>
            </a:r>
            <a:endParaRPr lang="en-US" sz="1750" dirty="0"/>
          </a:p>
        </p:txBody>
      </p:sp>
      <p:sp>
        <p:nvSpPr>
          <p:cNvPr id="17" name="Text 14"/>
          <p:cNvSpPr/>
          <p:nvPr/>
        </p:nvSpPr>
        <p:spPr>
          <a:xfrm>
            <a:off x="967621" y="4378404"/>
            <a:ext cx="7208758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Decentralizacija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89027" y="4812387"/>
            <a:ext cx="7565946" cy="975836"/>
          </a:xfrm>
          <a:prstGeom prst="rect">
            <a:avLst/>
          </a:prstGeom>
          <a:solidFill>
            <a:srgbClr val="110080"/>
          </a:solidFill>
          <a:ln/>
        </p:spPr>
      </p:sp>
      <p:sp>
        <p:nvSpPr>
          <p:cNvPr id="19" name="Shape 16"/>
          <p:cNvSpPr/>
          <p:nvPr/>
        </p:nvSpPr>
        <p:spPr>
          <a:xfrm>
            <a:off x="789027" y="4812387"/>
            <a:ext cx="7565946" cy="22860"/>
          </a:xfrm>
          <a:prstGeom prst="roundRect">
            <a:avLst>
              <a:gd name="adj" fmla="val 328186"/>
            </a:avLst>
          </a:prstGeom>
          <a:solidFill>
            <a:srgbClr val="2A1999"/>
          </a:solidFill>
          <a:ln/>
        </p:spPr>
      </p:sp>
      <p:sp>
        <p:nvSpPr>
          <p:cNvPr id="20" name="Text 17"/>
          <p:cNvSpPr/>
          <p:nvPr/>
        </p:nvSpPr>
        <p:spPr>
          <a:xfrm>
            <a:off x="967621" y="4990981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Mikroservisi</a:t>
            </a:r>
            <a:endParaRPr lang="en-US" sz="1750" dirty="0"/>
          </a:p>
        </p:txBody>
      </p:sp>
      <p:sp>
        <p:nvSpPr>
          <p:cNvPr id="21" name="Text 18"/>
          <p:cNvSpPr/>
          <p:nvPr/>
        </p:nvSpPr>
        <p:spPr>
          <a:xfrm>
            <a:off x="967621" y="5354241"/>
            <a:ext cx="7208758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Fleksibilnost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81407" y="5954078"/>
            <a:ext cx="7581186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Kvalitet arhitekture zavisi od komunikacije, protokola, bezbjednosti i tolerancije na greške. Razumijevanje ovih arhitektura – </a:t>
            </a:r>
            <a:r>
              <a:rPr lang="en-US" sz="140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neophodno znanje</a:t>
            </a:r>
            <a:r>
              <a:rPr lang="en-US" sz="14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za svakog IT inženjera.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81407" y="6623090"/>
            <a:ext cx="7581186" cy="911900"/>
          </a:xfrm>
          <a:prstGeom prst="roundRect">
            <a:avLst>
              <a:gd name="adj" fmla="val 8227"/>
            </a:avLst>
          </a:prstGeom>
          <a:solidFill>
            <a:srgbClr val="022349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001" y="6880503"/>
            <a:ext cx="223242" cy="17859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361837" y="6808351"/>
            <a:ext cx="6822162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Izvori: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Tanenbaum &amp; van Steen, </a:t>
            </a:r>
            <a:r>
              <a:rPr lang="en-US" sz="14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 Systems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(2007); Coulouris et al., </a:t>
            </a:r>
            <a:r>
              <a:rPr lang="en-US" sz="14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 Systems: Concepts and Design</a:t>
            </a: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(2011)</a:t>
            </a:r>
            <a:endParaRPr lang="en-US" sz="14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D63B81-0C2C-004B-0BB8-C24BA93444E8}"/>
              </a:ext>
            </a:extLst>
          </p:cNvPr>
          <p:cNvSpPr/>
          <p:nvPr/>
        </p:nvSpPr>
        <p:spPr>
          <a:xfrm>
            <a:off x="580430" y="6623090"/>
            <a:ext cx="7936846" cy="9119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565</Words>
  <Application>Microsoft Office PowerPoint</Application>
  <PresentationFormat>Custom</PresentationFormat>
  <Paragraphs>95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Inter</vt:lpstr>
      <vt:lpstr>Inter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Ivan Pavlovic</dc:creator>
  <cp:lastModifiedBy>ipdeveloper2001@gmail.com</cp:lastModifiedBy>
  <cp:revision>3</cp:revision>
  <dcterms:created xsi:type="dcterms:W3CDTF">2026-04-25T06:05:56Z</dcterms:created>
  <dcterms:modified xsi:type="dcterms:W3CDTF">2026-04-25T06:08:36Z</dcterms:modified>
</cp:coreProperties>
</file>