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9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6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2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6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0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1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8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99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1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pPr/>
              <a:t>12/27/2021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99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840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807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065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418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88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825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1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4E46AA-1EC0-4433-9956-E798E94A6FB7}" type="datetimeFigureOut">
              <a:rPr lang="en-US" smtClean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C38C08-47C7-4847-B0BE-B9D8DEEB3D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6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Abstract background of mesh">
            <a:extLst>
              <a:ext uri="{FF2B5EF4-FFF2-40B4-BE49-F238E27FC236}">
                <a16:creationId xmlns:a16="http://schemas.microsoft.com/office/drawing/2014/main" id="{FA00DFB7-8FBB-458D-A3D7-226EF22227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87238B-8449-4AF5-84FD-C3C1819BD4AE}"/>
              </a:ext>
            </a:extLst>
          </p:cNvPr>
          <p:cNvSpPr txBox="1"/>
          <p:nvPr/>
        </p:nvSpPr>
        <p:spPr>
          <a:xfrm>
            <a:off x="219364" y="1310177"/>
            <a:ext cx="65855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STRINGOVI</a:t>
            </a:r>
            <a:r>
              <a:rPr lang="sr-Latn-BA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BROJEVI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ASEMBLERSKOM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PROGRAMSKOM JEZIKU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6A2A7-198C-464E-B9DA-4D8CBB5BCD1D}"/>
              </a:ext>
            </a:extLst>
          </p:cNvPr>
          <p:cNvSpPr txBox="1"/>
          <p:nvPr/>
        </p:nvSpPr>
        <p:spPr>
          <a:xfrm>
            <a:off x="8719128" y="6391564"/>
            <a:ext cx="3271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IVAN PAVLOVI</a:t>
            </a:r>
            <a:r>
              <a:rPr lang="sr-Latn-BA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 92-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sr-Latn-BA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/RITP-S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9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2D84C7-EDB9-4397-A3C0-47966619B703}"/>
              </a:ext>
            </a:extLst>
          </p:cNvPr>
          <p:cNvSpPr txBox="1"/>
          <p:nvPr/>
        </p:nvSpPr>
        <p:spPr>
          <a:xfrm>
            <a:off x="3352801" y="118532"/>
            <a:ext cx="7831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ŠTA JE TO STRING ?</a:t>
            </a:r>
            <a:endParaRPr lang="en-US" sz="40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D5F04-E78A-4A3D-8372-0A9936D3886A}"/>
              </a:ext>
            </a:extLst>
          </p:cNvPr>
          <p:cNvSpPr txBox="1"/>
          <p:nvPr/>
        </p:nvSpPr>
        <p:spPr>
          <a:xfrm>
            <a:off x="2112434" y="965201"/>
            <a:ext cx="9194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-ovi su kao rečenice. Oni se formiraju od liste karaktera koji su zaprave nizovi znakova.</a:t>
            </a:r>
          </a:p>
          <a:p>
            <a:endParaRPr lang="sr-Latn-B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4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-ovi su veoma korisni kada informaciju iz programa želimo da saopštimo korisniku programa.</a:t>
            </a:r>
          </a:p>
          <a:p>
            <a:pPr algn="just"/>
            <a:endParaRPr lang="sr-Latn-B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Oni su manje korisni kada čuvaju informacije koje računar može koristiti.</a:t>
            </a:r>
          </a:p>
          <a:p>
            <a:pPr algn="just"/>
            <a:endParaRPr lang="sr-Latn-B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Primjer stringa u programskom jeziku Python: print(„Hello world“)</a:t>
            </a:r>
          </a:p>
          <a:p>
            <a:pPr algn="just"/>
            <a:endParaRPr lang="sr-Latn-B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Broj karaktera u stringu nazivamo lenght (dužina), a „Hello world“ ima dužinu 11 – tj. sastoji se od 10 slova i 1 razmaka. Obično postoji ograničenje maksimalne dužine stringa, a također postoji i prazan string, koji ne sadrži znakove (0 karaktera).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94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D75005-8097-4F8C-8F5D-2F0A9B6E34B3}"/>
              </a:ext>
            </a:extLst>
          </p:cNvPr>
          <p:cNvSpPr txBox="1"/>
          <p:nvPr/>
        </p:nvSpPr>
        <p:spPr>
          <a:xfrm>
            <a:off x="2633134" y="152400"/>
            <a:ext cx="79417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BA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BINARNI I HEKSADECIMALNI</a:t>
            </a:r>
          </a:p>
          <a:p>
            <a:pPr algn="ctr"/>
            <a:r>
              <a:rPr lang="sr-Latn-BA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BROJEVNI SISTEM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CBD6A1-B1E6-45A0-A05D-14C32AAA7DF6}"/>
              </a:ext>
            </a:extLst>
          </p:cNvPr>
          <p:cNvSpPr txBox="1"/>
          <p:nvPr/>
        </p:nvSpPr>
        <p:spPr>
          <a:xfrm>
            <a:off x="1841500" y="1388532"/>
            <a:ext cx="952500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BA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BINARNI sistem je brojevni sistem u kojem se zapis sastoji od cifara 0 i 1 i sadrži bazu 2. Svaki broj se može predstaviti kao zbir eksponenta dvojke. Zbog jednostavne primjene u elektronskim kolima došlo je do toga da svi moderni računari koriste taj brojevni sistem.</a:t>
            </a:r>
          </a:p>
          <a:p>
            <a:pPr algn="just"/>
            <a:endParaRPr lang="sr-Latn-BA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HEKSADECIMALNI sistem – u matematici i informatici se često koristi heksadecimalni brojevni sistem. To je brojevni sistem sa bazom 16, odnosno sistem sa 16 različitih cifara.</a:t>
            </a:r>
          </a:p>
          <a:p>
            <a:pPr algn="just"/>
            <a:endParaRPr lang="sr-Latn-BA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Ovaj sistem je pogodno koristiti u računarima je pretvaranje između binarnog i heksadecimalnog sistema veoma jednostavno, jer svaka 4 bita mogu se napisati u obliku heksadecimalnog sistema, što znači da se jedan bajt može napisati kao dve cifre u hex sistemu.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8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2AFBF86-5DAF-4D46-8786-F4C7A376C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E19B3BDB-2DCF-406C-9AA8-9E0970E1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12B0D721-E797-4F4F-929E-7008008C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530C853-97C0-43FB-B7C2-1E5E42A73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DCAD804E-1F0F-4678-871B-39A05266F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EE94EE6-76C6-4910-A4B6-935054712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87D2EB15-59ED-43BB-8CED-7BA0BB5D3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6" name="Rounded Rectangle 16">
            <a:extLst>
              <a:ext uri="{FF2B5EF4-FFF2-40B4-BE49-F238E27FC236}">
                <a16:creationId xmlns:a16="http://schemas.microsoft.com/office/drawing/2014/main" id="{8C2CE3DB-200E-4445-B316-69FE3850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72279" y="648931"/>
            <a:ext cx="8930745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, white, document&#10;&#10;Description automatically generated">
            <a:extLst>
              <a:ext uri="{FF2B5EF4-FFF2-40B4-BE49-F238E27FC236}">
                <a16:creationId xmlns:a16="http://schemas.microsoft.com/office/drawing/2014/main" id="{F51B3FFD-3C04-43EF-A9EC-C03C93E96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968" y="1011765"/>
            <a:ext cx="4798636" cy="4546708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1529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660379-5836-4490-87DD-9F130DD30913}"/>
              </a:ext>
            </a:extLst>
          </p:cNvPr>
          <p:cNvSpPr txBox="1"/>
          <p:nvPr/>
        </p:nvSpPr>
        <p:spPr>
          <a:xfrm>
            <a:off x="3378200" y="50800"/>
            <a:ext cx="7357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ŠTA JE TO ASEMBLER ?</a:t>
            </a:r>
            <a:endParaRPr lang="en-US" sz="40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50298-3227-4AE0-8B88-32030065633A}"/>
              </a:ext>
            </a:extLst>
          </p:cNvPr>
          <p:cNvSpPr txBox="1"/>
          <p:nvPr/>
        </p:nvSpPr>
        <p:spPr>
          <a:xfrm>
            <a:off x="2286000" y="1371599"/>
            <a:ext cx="91609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Asemblerski jezik je programski jezik niskog nivoa čija se svaka naredba prevodi u izvršni mašinski kod pomoću utility programa koji se naziva ASEMBLER.</a:t>
            </a:r>
          </a:p>
          <a:p>
            <a:pPr algn="just"/>
            <a:endParaRPr lang="sr-Latn-B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Bitno je napomenuti da je jedna instrukcija mašinskog jezika zamijenjena jednom instrukcijom asemblerskog jezika.</a:t>
            </a:r>
          </a:p>
          <a:p>
            <a:pPr algn="just"/>
            <a:endParaRPr lang="sr-Latn-B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Vremenom je programiranje na semblerskom jeziku obogaćeno raznovrsnik načinima adresiranja, mogućnošću logičkog organizovanja programa, radom sa makroima.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60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9837E4-EBB5-4E49-B9E6-CC1E7A7B8FE3}"/>
              </a:ext>
            </a:extLst>
          </p:cNvPr>
          <p:cNvSpPr txBox="1"/>
          <p:nvPr/>
        </p:nvSpPr>
        <p:spPr>
          <a:xfrm>
            <a:off x="3132666" y="0"/>
            <a:ext cx="63087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BROJEVI U ASEMBLERU</a:t>
            </a:r>
            <a:endParaRPr lang="en-US" sz="40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FCE9F-FD35-4019-8AA7-C3A498008760}"/>
              </a:ext>
            </a:extLst>
          </p:cNvPr>
          <p:cNvSpPr txBox="1"/>
          <p:nvPr/>
        </p:nvSpPr>
        <p:spPr>
          <a:xfrm>
            <a:off x="2344219" y="1228397"/>
            <a:ext cx="924664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Numerički podaci se uglavnom predstavljaju u binarnom sistemu. Aritmetičke instrukcije rade na binarnim podacima. Kada su brojevi prikazani na ekranu ili unijeti sa tastature, oni dolaze u ASCII obliku.</a:t>
            </a:r>
          </a:p>
          <a:p>
            <a:pPr algn="just"/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Numeričke podatke možemo da predstavimo u dva oblika: ASCII i BCD</a:t>
            </a:r>
          </a:p>
          <a:p>
            <a:pPr algn="just"/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0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ASCII </a:t>
            </a:r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(American Standard Code for Information Interchange) je standard za kodiranje znakova za elektronsku komunikaciju. ASCII kodovi predstavljaju tekst u računarima, telekomunikacionoj opremi i drugim uređejima. Npr. decimalna vrijednost broja 1234 se čuva kao: 31 32 33 34H</a:t>
            </a:r>
          </a:p>
          <a:p>
            <a:pPr algn="just"/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0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 </a:t>
            </a:r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(Binary Coded Decimal) je sistem pisanja brojeva koji svakoj cifri od 0 do 9 decimalnog broja (osnove 10) dodjeljuje četverocifreni binarni kod. Npr. broj 1234 se čuva kao: 12 34H </a:t>
            </a:r>
            <a:endParaRPr lang="en-US" sz="200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851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98BC7A-C7B2-476D-9E50-0B9E12766406}"/>
              </a:ext>
            </a:extLst>
          </p:cNvPr>
          <p:cNvSpPr txBox="1"/>
          <p:nvPr/>
        </p:nvSpPr>
        <p:spPr>
          <a:xfrm>
            <a:off x="2980266" y="135467"/>
            <a:ext cx="7078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ASCII OBRAD</a:t>
            </a:r>
            <a:r>
              <a:rPr lang="en-US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sr-Latn-BA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BROJEVA</a:t>
            </a:r>
            <a:endParaRPr lang="en-US" sz="40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A2DC5-43AD-4901-A4F0-15B57EC0E92A}"/>
              </a:ext>
            </a:extLst>
          </p:cNvPr>
          <p:cNvSpPr txBox="1"/>
          <p:nvPr/>
        </p:nvSpPr>
        <p:spPr>
          <a:xfrm>
            <a:off x="2595033" y="1874728"/>
            <a:ext cx="7848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8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sr-Latn-B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ASCII podešavanje nakon dodavanja;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B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8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AAS</a:t>
            </a:r>
            <a:r>
              <a:rPr lang="sr-Latn-B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ASCII podešavanje nakon oduzimanja;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B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8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AAM</a:t>
            </a:r>
            <a:r>
              <a:rPr lang="sr-Latn-B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ASCII podešavanje nakon množenja;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B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8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AAD</a:t>
            </a:r>
            <a:r>
              <a:rPr lang="sr-Latn-B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ASCII podešavanje nakon djeljenja;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886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10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30" name="Rectangle 18">
            <a:extLst>
              <a:ext uri="{FF2B5EF4-FFF2-40B4-BE49-F238E27FC236}">
                <a16:creationId xmlns:a16="http://schemas.microsoft.com/office/drawing/2014/main" id="{A6073935-E043-4801-AF06-06093A91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F7A8A-135A-4B7E-AB81-FFF800278BB6}"/>
              </a:ext>
            </a:extLst>
          </p:cNvPr>
          <p:cNvSpPr txBox="1"/>
          <p:nvPr/>
        </p:nvSpPr>
        <p:spPr>
          <a:xfrm>
            <a:off x="7846978" y="648930"/>
            <a:ext cx="3656045" cy="33473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ln w="3175" cmpd="sng">
                  <a:noFill/>
                </a:ln>
                <a:solidFill>
                  <a:srgbClr val="CC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PRIMJER AAA KONCEPTA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C26FF4-D6F9-4A94-A837-D051A101E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FFE501B-F9EC-4229-99D6-F39E38A71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064C6A0-3DE4-4F4A-B650-78A628163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25">
              <a:extLst>
                <a:ext uri="{FF2B5EF4-FFF2-40B4-BE49-F238E27FC236}">
                  <a16:creationId xmlns:a16="http://schemas.microsoft.com/office/drawing/2014/main" id="{43CD3E83-3D0D-40EE-B1A2-9C989EBF2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71553909-760D-4B98-96A4-F9F48339A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1F006A6C-F843-49BC-AC84-89BD2AF58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62AEE6F3-16F4-4944-8459-4D5EEA341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9" name="Rounded Rectangle 16">
            <a:extLst>
              <a:ext uri="{FF2B5EF4-FFF2-40B4-BE49-F238E27FC236}">
                <a16:creationId xmlns:a16="http://schemas.microsoft.com/office/drawing/2014/main" id="{8D6B9972-4A81-4223-9901-0E559A1D5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6854433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868BF1B0-8169-4C30-B5EE-BE0E84367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576" y="805863"/>
            <a:ext cx="3740438" cy="492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33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26C1D6-3ED5-48BE-BB17-7211A2E91EA5}"/>
              </a:ext>
            </a:extLst>
          </p:cNvPr>
          <p:cNvSpPr txBox="1"/>
          <p:nvPr/>
        </p:nvSpPr>
        <p:spPr>
          <a:xfrm>
            <a:off x="3564467" y="33867"/>
            <a:ext cx="840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 PREZENTACIJA</a:t>
            </a:r>
            <a:endParaRPr lang="en-US" sz="40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83278-2654-4D1D-80FE-C376385DB87B}"/>
              </a:ext>
            </a:extLst>
          </p:cNvPr>
          <p:cNvSpPr txBox="1"/>
          <p:nvPr/>
        </p:nvSpPr>
        <p:spPr>
          <a:xfrm>
            <a:off x="2827867" y="1075267"/>
            <a:ext cx="9144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Postoje dva tipa BCD prezentacije: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Raspakovan BCD (engl. UnPacked);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Zapakovan BCD (engl. Packed);</a:t>
            </a:r>
          </a:p>
          <a:p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RASPAKOVANA BCD:</a:t>
            </a:r>
          </a:p>
          <a:p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Četiri ASCII instrukcije za podešavanje, AAA, AAS, AAM i AAD, također se mogu koristiti sa raspakovanim BCD prikazom.</a:t>
            </a:r>
          </a:p>
          <a:p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ZAPAKOVANA BCD:</a:t>
            </a:r>
          </a:p>
          <a:p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Postoje dvije instrukcije za obradu ovih brojeva: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DAA – Decimalno podešavanje nakon sabiranja;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 – Decimalno podešavanje nakon oduzimanja;</a:t>
            </a:r>
          </a:p>
          <a:p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postoji podrška za množenje i djeljenje u zapakovanoj BCD prezentaciji!</a:t>
            </a:r>
          </a:p>
          <a:p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06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762C5-4682-47D0-B83C-083EF6FAA4AA}"/>
              </a:ext>
            </a:extLst>
          </p:cNvPr>
          <p:cNvSpPr txBox="1"/>
          <p:nvPr/>
        </p:nvSpPr>
        <p:spPr>
          <a:xfrm>
            <a:off x="3081867" y="110066"/>
            <a:ext cx="7916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STRINGOVI U ASEMBLERU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DAECC8-CFCB-45E5-863A-3CF4983C8381}"/>
              </a:ext>
            </a:extLst>
          </p:cNvPr>
          <p:cNvSpPr txBox="1"/>
          <p:nvPr/>
        </p:nvSpPr>
        <p:spPr>
          <a:xfrm>
            <a:off x="2345266" y="1007533"/>
            <a:ext cx="8966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STRING-ovi u asembleru su niz potpisanih bajtova tj. znakova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chars)</a:t>
            </a:r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interpretiranih njihovim ASCII kodom. Npr. karakter ’A’ se čuva kao 0x41, a ’B’ se čuva kao 0x42 itd.</a:t>
            </a:r>
          </a:p>
          <a:p>
            <a:pPr algn="just"/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 konvenciji, obično se završavaju sa NULL karakterom (vrijednost 0). Ova konvencija nam je omogućila da odbacimo velike bafere (komade memorije) i da koristimo samo dijelove koji su nam potrebni, a zatim kasnije identifikujemo koliki je dio bafera zapravo u potrebi.</a:t>
            </a:r>
          </a:p>
          <a:p>
            <a:pPr algn="just"/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slici iznad ovog teksta 0x00 govori programu </a:t>
            </a:r>
            <a:r>
              <a:rPr lang="sr-Latn-B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„prestani da čitaš ovdje“ </a:t>
            </a:r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sve ostalo poslje toga bi se ignorisalo.</a:t>
            </a:r>
          </a:p>
          <a:p>
            <a:pPr algn="just"/>
            <a:endParaRPr lang="sr-Latn-B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Standardni način učitavanja STRING-a je preko .asciz direktorijuma (z označava 0 na kraju). Ono očitava string u memoriju i dodaje nulti bajt 0x00 da ga završi.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D9373E-6820-4DCE-8E91-CFD00DA41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874" y="3687751"/>
            <a:ext cx="8744983" cy="19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40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058DD9-DB01-448A-AA10-449676862225}"/>
              </a:ext>
            </a:extLst>
          </p:cNvPr>
          <p:cNvSpPr txBox="1"/>
          <p:nvPr/>
        </p:nvSpPr>
        <p:spPr>
          <a:xfrm>
            <a:off x="2861733" y="10124"/>
            <a:ext cx="795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INSTRUKCIJE STRING-ova</a:t>
            </a:r>
            <a:endParaRPr lang="en-US" sz="40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572B9-5819-4E1A-815D-87DEDC1E2A1D}"/>
              </a:ext>
            </a:extLst>
          </p:cNvPr>
          <p:cNvSpPr txBox="1"/>
          <p:nvPr/>
        </p:nvSpPr>
        <p:spPr>
          <a:xfrm>
            <a:off x="2734733" y="872067"/>
            <a:ext cx="92540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Osnovne instrukcije stringova su: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STOS – Skladišteni string (engl. Stored String);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LODS – Učitavanje stringa (engl. Load String);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CMPS – Upoređivanje stringa (engl. Compare String);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SCAS – Skeniranje stringa (engl. Scan String);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MOVS – Pomjeranje stringa (engl. Move String);</a:t>
            </a:r>
          </a:p>
          <a:p>
            <a:endParaRPr lang="sr-Latn-B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Svako od ovih uputstava ima dve varijante, varijantu bajta i word-a. Varijanta se može dobiti dodavanjem B ili W na kraju instrukcije. Primjer: MOVSB ili MOVSW.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9C609A84-6F4F-4353-A0AE-65459A4B4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475" y="3611447"/>
            <a:ext cx="5198179" cy="264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66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5FC753-2B66-4224-994F-AA2823818A22}"/>
              </a:ext>
            </a:extLst>
          </p:cNvPr>
          <p:cNvSpPr txBox="1"/>
          <p:nvPr/>
        </p:nvSpPr>
        <p:spPr>
          <a:xfrm>
            <a:off x="3090333" y="0"/>
            <a:ext cx="7763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DI:SI Registri, REPE i REPNE</a:t>
            </a:r>
            <a:endParaRPr lang="en-US" sz="40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92255-45B2-4896-A23C-1106347ABA51}"/>
              </a:ext>
            </a:extLst>
          </p:cNvPr>
          <p:cNvSpPr txBox="1"/>
          <p:nvPr/>
        </p:nvSpPr>
        <p:spPr>
          <a:xfrm>
            <a:off x="2573866" y="1036248"/>
            <a:ext cx="9169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B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DI:SI se koristi za pristup memoriji, drugačije se nazivaju D destination (odredišni) indeks i S source (izvorni) indeks radi string instrukcija.</a:t>
            </a:r>
          </a:p>
          <a:p>
            <a:pPr algn="just"/>
            <a:r>
              <a:rPr lang="sr-Latn-B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Kad god instrukciji treba izvor memorije, DI:SI drži pokazivač na nju, a za odredište memorije, pokazivač se postavlja na ES:DI.</a:t>
            </a:r>
          </a:p>
          <a:p>
            <a:pPr algn="just"/>
            <a:endParaRPr lang="sr-Latn-B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 – ponavlja sljedeću instrukciju stringa dok je postavljem zero flag.</a:t>
            </a:r>
          </a:p>
          <a:p>
            <a:pPr algn="just"/>
            <a:endParaRPr lang="sr-Latn-B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REPNE – ponavlja sljedeću instrukciju stringa dok je zero flag isključen.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082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BBC5EB-7474-4198-99A1-5FC478299D04}"/>
              </a:ext>
            </a:extLst>
          </p:cNvPr>
          <p:cNvSpPr txBox="1"/>
          <p:nvPr/>
        </p:nvSpPr>
        <p:spPr>
          <a:xfrm>
            <a:off x="4961467" y="98286"/>
            <a:ext cx="7230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STOS i LODS</a:t>
            </a:r>
            <a:endParaRPr lang="en-US" sz="40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467A8-A3E4-405B-9F08-B132D270A121}"/>
              </a:ext>
            </a:extLst>
          </p:cNvPr>
          <p:cNvSpPr txBox="1"/>
          <p:nvPr/>
        </p:nvSpPr>
        <p:spPr>
          <a:xfrm>
            <a:off x="2336799" y="1659285"/>
            <a:ext cx="9271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B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STOS transferuje bajt ili word iz registra u AL ili AX u memorijski element adresiran od strane ES:DI i ažurira DI ka sljedećoj lokaciji. STOS se često koristi za brisanje bloka memorije ili njegovo popunjavanje konstantom. Izvor će uvijek biti AL ili AX.</a:t>
            </a:r>
          </a:p>
          <a:p>
            <a:pPr algn="just"/>
            <a:endParaRPr lang="sr-Latn-B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LODS prenosi bajt ili word sa izvorne lokacije DI:SI u AL ili AX. U suštini radi obrnuto od STOS.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287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DB3405-9BC6-4761-B289-EDFE48D5C012}"/>
              </a:ext>
            </a:extLst>
          </p:cNvPr>
          <p:cNvSpPr txBox="1"/>
          <p:nvPr/>
        </p:nvSpPr>
        <p:spPr>
          <a:xfrm>
            <a:off x="4106332" y="211865"/>
            <a:ext cx="51427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4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SCAS, CMPS i MOVS</a:t>
            </a:r>
            <a:endParaRPr lang="en-US" sz="40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7970D-A67D-4986-BF2C-76E47EE40732}"/>
              </a:ext>
            </a:extLst>
          </p:cNvPr>
          <p:cNvSpPr txBox="1"/>
          <p:nvPr/>
        </p:nvSpPr>
        <p:spPr>
          <a:xfrm>
            <a:off x="2108200" y="1303867"/>
            <a:ext cx="942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SCAS upoređuje izvorni bajt ili word u registru AL ili AX sa elementom odredišta stringa koji adresira ES:DI i ažurira zastavice (engl. flags).</a:t>
            </a:r>
          </a:p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SCAS se koristi za provjeru jednakosti/nejednakosti u stringu pomoću REPE ili REPNE, također može se koristiti za pronalaženje nule u stringu sa nultim krajem da bi se izračunala njegova dužina.</a:t>
            </a:r>
          </a:p>
          <a:p>
            <a:pPr algn="just"/>
            <a:endParaRPr lang="sr-Latn-B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CMPS oduzima izvornu lokaciju DI:SI od odredišne lokacije ES:DI bez uticaja na sam izvor i odredište.</a:t>
            </a:r>
          </a:p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CMPS se može koristiti i za pronalaženje podstringa u stringu.</a:t>
            </a:r>
          </a:p>
          <a:p>
            <a:pPr algn="just"/>
            <a:endParaRPr lang="sr-Latn-B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B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MOVS prenosi bajt ili word iz DS:SI u ES:DI i ažurira SI i Di u skladu sa tim, također koristi se za pomjeranje bloka memorije.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063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64080D6-34DE-4277-97CC-2FB381284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people sitting in a theater&#10;&#10;Description automatically generated with medium confidence">
            <a:extLst>
              <a:ext uri="{FF2B5EF4-FFF2-40B4-BE49-F238E27FC236}">
                <a16:creationId xmlns:a16="http://schemas.microsoft.com/office/drawing/2014/main" id="{0D39C12D-312E-4FD6-83C6-BF261EE3CC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2" b="322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E0AA33-B79B-489E-AB05-42A903E9E50A}"/>
              </a:ext>
            </a:extLst>
          </p:cNvPr>
          <p:cNvSpPr txBox="1"/>
          <p:nvPr/>
        </p:nvSpPr>
        <p:spPr>
          <a:xfrm>
            <a:off x="1711851" y="1084504"/>
            <a:ext cx="8574622" cy="26161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HVALA NA PAŽNJI !!!</a:t>
            </a:r>
          </a:p>
        </p:txBody>
      </p:sp>
    </p:spTree>
    <p:extLst>
      <p:ext uri="{BB962C8B-B14F-4D97-AF65-F5344CB8AC3E}">
        <p14:creationId xmlns:p14="http://schemas.microsoft.com/office/powerpoint/2010/main" val="3106287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155</TotalTime>
  <Words>1099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Corbel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Ivan Pavlovic</dc:creator>
  <cp:lastModifiedBy>Ivan Pavlovic</cp:lastModifiedBy>
  <cp:revision>1</cp:revision>
  <dcterms:created xsi:type="dcterms:W3CDTF">2021-12-27T17:20:47Z</dcterms:created>
  <dcterms:modified xsi:type="dcterms:W3CDTF">2021-12-27T19:55:58Z</dcterms:modified>
</cp:coreProperties>
</file>