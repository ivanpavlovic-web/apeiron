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Cambria Math" panose="02040503050406030204" pitchFamily="18" charset="0"/>
      <p:regular r:id="rId9"/>
    </p:embeddedFont>
    <p:embeddedFont>
      <p:font typeface="Impact" panose="020B0806030902050204" pitchFamily="34" charset="0"/>
      <p:regular r:id="rId10"/>
    </p:embeddedFont>
    <p:embeddedFont>
      <p:font typeface="Inter" panose="02000503000000020004" pitchFamily="2" charset="0"/>
      <p:regular r:id="rId11"/>
      <p:bold r:id="rId12"/>
      <p:italic r:id="rId13"/>
      <p:bold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745"/>
    <a:srgbClr val="EBE3A7"/>
    <a:srgbClr val="2E2910"/>
    <a:srgbClr val="EB7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0" d="100"/>
          <a:sy n="80" d="100"/>
        </p:scale>
        <p:origin x="1794"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B1884-CD8C-B78F-D72A-FFDF6A20E1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EDBEFA-7F6B-8893-034E-E5464FC681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95AEA4-96CD-0DAE-7804-B42320865041}"/>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5" name="Footer Placeholder 4">
            <a:extLst>
              <a:ext uri="{FF2B5EF4-FFF2-40B4-BE49-F238E27FC236}">
                <a16:creationId xmlns:a16="http://schemas.microsoft.com/office/drawing/2014/main" id="{1B7BC116-D70C-5944-E4E4-7E95CCC2A4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D7772-8BD7-599A-B1EC-6F61976020A0}"/>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202708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A0DE9-DCDC-8F62-6A32-66076F3716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1CA53D-EA7B-4339-9F96-DEE549AD85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E4BAB0-0BFC-9190-8414-BD84965570BF}"/>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5" name="Footer Placeholder 4">
            <a:extLst>
              <a:ext uri="{FF2B5EF4-FFF2-40B4-BE49-F238E27FC236}">
                <a16:creationId xmlns:a16="http://schemas.microsoft.com/office/drawing/2014/main" id="{B5038F84-ADD3-F170-0731-5408214A56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6715B0-C61F-1147-EE81-20E405D86010}"/>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392251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8EA5C-BAC3-3CF0-3474-8E4A1CB303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0964F5-520D-739B-CE31-B7B9FE5493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D66FA5-ACE2-B192-6407-0830461A4DC7}"/>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5" name="Footer Placeholder 4">
            <a:extLst>
              <a:ext uri="{FF2B5EF4-FFF2-40B4-BE49-F238E27FC236}">
                <a16:creationId xmlns:a16="http://schemas.microsoft.com/office/drawing/2014/main" id="{D6AB0DDE-5DD1-E890-E2B8-28C595C91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40357-4857-A628-6FCD-E98398F0063E}"/>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4266979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5DA0-B029-B308-2140-6ECAA33E0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458CD3-BDC7-F260-CC50-036BFCB35D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E2C70C-F115-4E1A-E0B0-EF74A079EC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804793-DE75-3E82-181B-FF5AC6A7ED11}"/>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6" name="Footer Placeholder 5">
            <a:extLst>
              <a:ext uri="{FF2B5EF4-FFF2-40B4-BE49-F238E27FC236}">
                <a16:creationId xmlns:a16="http://schemas.microsoft.com/office/drawing/2014/main" id="{ABDF5295-E9E1-04A8-7748-8ACF550910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26C5F2-189D-EADF-2227-59DDD1FFB900}"/>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4102921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DA53F-A3B3-7AAB-5FE9-BF2862D542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1B9C93-4600-38B1-9144-0A2ECACE4E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090BB-5118-2D20-239A-4C24DA0545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AD0BA7-1D00-4DE4-CDC6-8EE799CB5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93C9EE-FAD8-D9E0-2F28-3902E20B6C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E785BC-3A9D-FFB3-478A-D798E1C1D347}"/>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8" name="Footer Placeholder 7">
            <a:extLst>
              <a:ext uri="{FF2B5EF4-FFF2-40B4-BE49-F238E27FC236}">
                <a16:creationId xmlns:a16="http://schemas.microsoft.com/office/drawing/2014/main" id="{F42E8843-7214-CB2A-7702-0A5D00108A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D78544-F0EB-3160-13A9-2D555D9F285A}"/>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3370209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FD50-3DC5-2CCF-5C83-2A8B17219E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FFB2A5-9623-6799-9246-B57BC85B5B62}"/>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4" name="Footer Placeholder 3">
            <a:extLst>
              <a:ext uri="{FF2B5EF4-FFF2-40B4-BE49-F238E27FC236}">
                <a16:creationId xmlns:a16="http://schemas.microsoft.com/office/drawing/2014/main" id="{44D6229A-F253-FAE3-E35E-FEEBE1FB22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5B4A4C-5A61-DBE0-E296-343D12C2A277}"/>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2050716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8F03BC-859E-3BF5-020A-8C193D6264F6}"/>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3" name="Footer Placeholder 2">
            <a:extLst>
              <a:ext uri="{FF2B5EF4-FFF2-40B4-BE49-F238E27FC236}">
                <a16:creationId xmlns:a16="http://schemas.microsoft.com/office/drawing/2014/main" id="{18279367-D683-56CC-1B3A-856BC799FA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023845-3787-4194-3AE0-5D7A3DD50C5B}"/>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271786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973FA-1364-064B-1AAE-B2986D845B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7E315E-B676-5745-1238-115E73E75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88E46A-56DD-B362-CCB4-70194FF4F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823B4E-0F9C-DB5A-8C00-4DC82753857A}"/>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6" name="Footer Placeholder 5">
            <a:extLst>
              <a:ext uri="{FF2B5EF4-FFF2-40B4-BE49-F238E27FC236}">
                <a16:creationId xmlns:a16="http://schemas.microsoft.com/office/drawing/2014/main" id="{B912FF57-61C3-A9AD-807E-9674FF1E5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9A0880-F5E2-2530-48A7-A20E79474FDC}"/>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201166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0D5DD-B9C9-E6D4-FDD9-AE56914124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D34DC1-D9ED-B4C4-7F87-DA4B7AFB1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2E954D-AE12-BBA7-8A68-216DCC8BB8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FFE28-413F-633D-688B-4514387B358C}"/>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6" name="Footer Placeholder 5">
            <a:extLst>
              <a:ext uri="{FF2B5EF4-FFF2-40B4-BE49-F238E27FC236}">
                <a16:creationId xmlns:a16="http://schemas.microsoft.com/office/drawing/2014/main" id="{962CBEF9-2835-404A-0295-58FE2FF004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936934-8791-43F3-7513-27741756D73C}"/>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477033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FE0CD-6A85-379A-1C04-E132501BF1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D870AE-1FDF-4A37-7134-6A71BAEF13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08A388-802C-B5B0-D63B-5203792ACFF3}"/>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5" name="Footer Placeholder 4">
            <a:extLst>
              <a:ext uri="{FF2B5EF4-FFF2-40B4-BE49-F238E27FC236}">
                <a16:creationId xmlns:a16="http://schemas.microsoft.com/office/drawing/2014/main" id="{E8C0E94B-1C31-F6CB-DE3D-17A7316C88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0F785A-E602-6DEB-C1F3-9254253214C8}"/>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2606356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B7AE51-0051-75F5-A8A3-BADD4A3ECE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45BF05-557C-9577-0FB3-66F073C3DF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A08B85-9ACC-3288-016D-87410D154ED4}"/>
              </a:ext>
            </a:extLst>
          </p:cNvPr>
          <p:cNvSpPr>
            <a:spLocks noGrp="1"/>
          </p:cNvSpPr>
          <p:nvPr>
            <p:ph type="dt" sz="half" idx="10"/>
          </p:nvPr>
        </p:nvSpPr>
        <p:spPr/>
        <p:txBody>
          <a:bodyPr/>
          <a:lstStyle/>
          <a:p>
            <a:fld id="{6A561E9F-41A2-43EC-A03D-45C43D1F4B14}" type="datetimeFigureOut">
              <a:rPr lang="en-US" smtClean="0"/>
              <a:t>9/9/2026</a:t>
            </a:fld>
            <a:endParaRPr lang="en-US"/>
          </a:p>
        </p:txBody>
      </p:sp>
      <p:sp>
        <p:nvSpPr>
          <p:cNvPr id="5" name="Footer Placeholder 4">
            <a:extLst>
              <a:ext uri="{FF2B5EF4-FFF2-40B4-BE49-F238E27FC236}">
                <a16:creationId xmlns:a16="http://schemas.microsoft.com/office/drawing/2014/main" id="{60A40373-0303-F7FA-3980-8E5E90384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36A66E-8E89-9C27-F9A5-01DEDB8CDD29}"/>
              </a:ext>
            </a:extLst>
          </p:cNvPr>
          <p:cNvSpPr>
            <a:spLocks noGrp="1"/>
          </p:cNvSpPr>
          <p:nvPr>
            <p:ph type="sldNum" sz="quarter" idx="12"/>
          </p:nvPr>
        </p:nvSpPr>
        <p:spPr/>
        <p:txBody>
          <a:bodyPr/>
          <a:lstStyle/>
          <a:p>
            <a:fld id="{4C9D7170-B3FC-467D-9AD3-76866A91396B}" type="slidenum">
              <a:rPr lang="en-US" smtClean="0"/>
              <a:t>‹#›</a:t>
            </a:fld>
            <a:endParaRPr lang="en-US"/>
          </a:p>
        </p:txBody>
      </p:sp>
    </p:spTree>
    <p:extLst>
      <p:ext uri="{BB962C8B-B14F-4D97-AF65-F5344CB8AC3E}">
        <p14:creationId xmlns:p14="http://schemas.microsoft.com/office/powerpoint/2010/main" val="598077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9E39B9-B66B-EB36-5482-86BC8A82B2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F9C78E-8EC0-9315-EBF8-CBA8182A29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A02F8-A3DD-7260-5237-A2746D8B83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561E9F-41A2-43EC-A03D-45C43D1F4B14}" type="datetimeFigureOut">
              <a:rPr lang="en-US" smtClean="0"/>
              <a:t>9/9/2026</a:t>
            </a:fld>
            <a:endParaRPr lang="en-US"/>
          </a:p>
        </p:txBody>
      </p:sp>
      <p:sp>
        <p:nvSpPr>
          <p:cNvPr id="5" name="Footer Placeholder 4">
            <a:extLst>
              <a:ext uri="{FF2B5EF4-FFF2-40B4-BE49-F238E27FC236}">
                <a16:creationId xmlns:a16="http://schemas.microsoft.com/office/drawing/2014/main" id="{94D10BD4-3D4C-F3A1-0388-0CAB294C7C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97406E-8594-B82C-7933-AD9629C309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9D7170-B3FC-467D-9AD3-76866A91396B}" type="slidenum">
              <a:rPr lang="en-US" smtClean="0"/>
              <a:t>‹#›</a:t>
            </a:fld>
            <a:endParaRPr lang="en-US"/>
          </a:p>
        </p:txBody>
      </p:sp>
    </p:spTree>
    <p:extLst>
      <p:ext uri="{BB962C8B-B14F-4D97-AF65-F5344CB8AC3E}">
        <p14:creationId xmlns:p14="http://schemas.microsoft.com/office/powerpoint/2010/main" val="1712263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406640-C4BE-5042-9096-81DE726D9FE4}"/>
              </a:ext>
            </a:extLst>
          </p:cNvPr>
          <p:cNvSpPr/>
          <p:nvPr/>
        </p:nvSpPr>
        <p:spPr>
          <a:xfrm>
            <a:off x="0" y="0"/>
            <a:ext cx="12192000" cy="6858000"/>
          </a:xfrm>
          <a:prstGeom prst="rect">
            <a:avLst/>
          </a:prstGeom>
          <a:solidFill>
            <a:srgbClr val="EB7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0813420-2880-7164-8F4C-D9C833DCCE98}"/>
              </a:ext>
            </a:extLst>
          </p:cNvPr>
          <p:cNvSpPr txBox="1"/>
          <p:nvPr/>
        </p:nvSpPr>
        <p:spPr>
          <a:xfrm>
            <a:off x="82295" y="146304"/>
            <a:ext cx="8123241" cy="3785652"/>
          </a:xfrm>
          <a:prstGeom prst="rect">
            <a:avLst/>
          </a:prstGeom>
          <a:noFill/>
        </p:spPr>
        <p:txBody>
          <a:bodyPr wrap="square" rtlCol="0">
            <a:spAutoFit/>
          </a:bodyPr>
          <a:lstStyle/>
          <a:p>
            <a:r>
              <a:rPr lang="sr-Latn-BA" sz="6000" b="1">
                <a:solidFill>
                  <a:srgbClr val="2E2910"/>
                </a:solidFill>
                <a:latin typeface="Impact" panose="020B0806030902050204" pitchFamily="34" charset="0"/>
              </a:rPr>
              <a:t>ANALIZA PERFORMANSI SEKVENCIJALNOG I PARALELNOG IZVRŠAVANJA PROGRAMA U PYTHONU</a:t>
            </a:r>
            <a:endParaRPr lang="en-US" sz="6000">
              <a:solidFill>
                <a:srgbClr val="2E2910"/>
              </a:solidFill>
              <a:latin typeface="Impact" panose="020B0806030902050204" pitchFamily="34" charset="0"/>
            </a:endParaRPr>
          </a:p>
        </p:txBody>
      </p:sp>
      <p:sp>
        <p:nvSpPr>
          <p:cNvPr id="6" name="TextBox 5">
            <a:extLst>
              <a:ext uri="{FF2B5EF4-FFF2-40B4-BE49-F238E27FC236}">
                <a16:creationId xmlns:a16="http://schemas.microsoft.com/office/drawing/2014/main" id="{C1661C73-9976-0B79-A003-73A98A04D6B0}"/>
              </a:ext>
            </a:extLst>
          </p:cNvPr>
          <p:cNvSpPr txBox="1"/>
          <p:nvPr/>
        </p:nvSpPr>
        <p:spPr>
          <a:xfrm>
            <a:off x="82295" y="3847427"/>
            <a:ext cx="7679436" cy="461665"/>
          </a:xfrm>
          <a:prstGeom prst="rect">
            <a:avLst/>
          </a:prstGeom>
          <a:noFill/>
        </p:spPr>
        <p:txBody>
          <a:bodyPr wrap="square" rtlCol="0">
            <a:spAutoFit/>
          </a:bodyPr>
          <a:lstStyle/>
          <a:p>
            <a:r>
              <a:rPr lang="en-US" sz="2400">
                <a:solidFill>
                  <a:srgbClr val="2C5745"/>
                </a:solidFill>
                <a:latin typeface="Impact" panose="020B0806030902050204" pitchFamily="34" charset="0"/>
              </a:rPr>
              <a:t>KONKURENTNO RAČUNARSTVO – PARALELNO PROGRAMIRANJE</a:t>
            </a:r>
          </a:p>
        </p:txBody>
      </p:sp>
      <p:pic>
        <p:nvPicPr>
          <p:cNvPr id="10" name="Picture 9">
            <a:extLst>
              <a:ext uri="{FF2B5EF4-FFF2-40B4-BE49-F238E27FC236}">
                <a16:creationId xmlns:a16="http://schemas.microsoft.com/office/drawing/2014/main" id="{96E100B8-6D87-C9F8-19BF-E7B465CCD0BE}"/>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8287831" y="348471"/>
            <a:ext cx="3583485" cy="3583485"/>
          </a:xfrm>
          <a:prstGeom prst="rect">
            <a:avLst/>
          </a:prstGeom>
        </p:spPr>
      </p:pic>
      <p:sp>
        <p:nvSpPr>
          <p:cNvPr id="12" name="TextBox 11">
            <a:extLst>
              <a:ext uri="{FF2B5EF4-FFF2-40B4-BE49-F238E27FC236}">
                <a16:creationId xmlns:a16="http://schemas.microsoft.com/office/drawing/2014/main" id="{7FD04EF5-FC07-2764-A16A-5AFA49F5A378}"/>
              </a:ext>
            </a:extLst>
          </p:cNvPr>
          <p:cNvSpPr txBox="1"/>
          <p:nvPr/>
        </p:nvSpPr>
        <p:spPr>
          <a:xfrm>
            <a:off x="155447" y="5234368"/>
            <a:ext cx="7533131" cy="1477328"/>
          </a:xfrm>
          <a:prstGeom prst="rect">
            <a:avLst/>
          </a:prstGeom>
          <a:noFill/>
        </p:spPr>
        <p:txBody>
          <a:bodyPr wrap="square" rtlCol="0">
            <a:spAutoFit/>
          </a:bodyPr>
          <a:lstStyle/>
          <a:p>
            <a:r>
              <a:rPr lang="sr-Latn-CS" b="1">
                <a:solidFill>
                  <a:srgbClr val="EBE3A7"/>
                </a:solidFill>
                <a:latin typeface="Inter" panose="02000503000000020004" pitchFamily="2" charset="0"/>
                <a:ea typeface="Inter" panose="02000503000000020004" pitchFamily="2" charset="0"/>
              </a:rPr>
              <a:t>Predmetni nastavnik</a:t>
            </a:r>
            <a:r>
              <a:rPr lang="en-US">
                <a:solidFill>
                  <a:srgbClr val="EBE3A7"/>
                </a:solidFill>
                <a:latin typeface="Inter" panose="02000503000000020004" pitchFamily="2" charset="0"/>
                <a:ea typeface="Inter" panose="02000503000000020004" pitchFamily="2" charset="0"/>
              </a:rPr>
              <a:t>:</a:t>
            </a:r>
            <a:r>
              <a:rPr lang="en-US">
                <a:latin typeface="Inter" panose="02000503000000020004" pitchFamily="2" charset="0"/>
                <a:ea typeface="Inter" panose="02000503000000020004" pitchFamily="2" charset="0"/>
              </a:rPr>
              <a:t> </a:t>
            </a:r>
            <a:r>
              <a:rPr lang="en-US">
                <a:solidFill>
                  <a:srgbClr val="EBE3A7"/>
                </a:solidFill>
                <a:latin typeface="Inter" panose="02000503000000020004" pitchFamily="2" charset="0"/>
                <a:ea typeface="Inter" panose="02000503000000020004" pitchFamily="2" charset="0"/>
              </a:rPr>
              <a:t>Prof.dr Negovan Stamenković</a:t>
            </a:r>
          </a:p>
          <a:p>
            <a:r>
              <a:rPr lang="sr-Latn-BA" b="1">
                <a:solidFill>
                  <a:srgbClr val="EBE3A7"/>
                </a:solidFill>
                <a:latin typeface="Inter" panose="02000503000000020004" pitchFamily="2" charset="0"/>
                <a:ea typeface="Inter" panose="02000503000000020004" pitchFamily="2" charset="0"/>
              </a:rPr>
              <a:t>Student:</a:t>
            </a:r>
            <a:r>
              <a:rPr lang="sr-Latn-BA" b="1">
                <a:latin typeface="Inter" panose="02000503000000020004" pitchFamily="2" charset="0"/>
                <a:ea typeface="Inter" panose="02000503000000020004" pitchFamily="2" charset="0"/>
              </a:rPr>
              <a:t> </a:t>
            </a:r>
            <a:r>
              <a:rPr lang="sr-Latn-CS">
                <a:solidFill>
                  <a:srgbClr val="EBE3A7"/>
                </a:solidFill>
                <a:latin typeface="Inter" panose="02000503000000020004" pitchFamily="2" charset="0"/>
                <a:ea typeface="Inter" panose="02000503000000020004" pitchFamily="2" charset="0"/>
              </a:rPr>
              <a:t>Nikolina Beki</a:t>
            </a:r>
            <a:r>
              <a:rPr lang="sr-Latn-BA">
                <a:solidFill>
                  <a:srgbClr val="EBE3A7"/>
                </a:solidFill>
                <a:latin typeface="Inter" panose="02000503000000020004" pitchFamily="2" charset="0"/>
                <a:ea typeface="Inter" panose="02000503000000020004" pitchFamily="2" charset="0"/>
              </a:rPr>
              <a:t>ć</a:t>
            </a:r>
            <a:endParaRPr lang="en-US">
              <a:solidFill>
                <a:srgbClr val="EBE3A7"/>
              </a:solidFill>
              <a:latin typeface="Inter" panose="02000503000000020004" pitchFamily="2" charset="0"/>
              <a:ea typeface="Inter" panose="02000503000000020004" pitchFamily="2" charset="0"/>
            </a:endParaRPr>
          </a:p>
          <a:p>
            <a:r>
              <a:rPr lang="sr-Latn-CS" b="1">
                <a:solidFill>
                  <a:srgbClr val="EBE3A7"/>
                </a:solidFill>
                <a:latin typeface="Inter" panose="02000503000000020004" pitchFamily="2" charset="0"/>
                <a:ea typeface="Inter" panose="02000503000000020004" pitchFamily="2" charset="0"/>
              </a:rPr>
              <a:t>Br. Indeksa : </a:t>
            </a:r>
            <a:r>
              <a:rPr lang="sr-Latn-CS">
                <a:solidFill>
                  <a:srgbClr val="EBE3A7"/>
                </a:solidFill>
                <a:latin typeface="Inter" panose="02000503000000020004" pitchFamily="2" charset="0"/>
                <a:ea typeface="Inter" panose="02000503000000020004" pitchFamily="2" charset="0"/>
              </a:rPr>
              <a:t>21-22-FIT-IIT1-PRO-240</a:t>
            </a:r>
            <a:endParaRPr lang="en-US">
              <a:solidFill>
                <a:srgbClr val="EBE3A7"/>
              </a:solidFill>
              <a:latin typeface="Inter" panose="02000503000000020004" pitchFamily="2" charset="0"/>
              <a:ea typeface="Inter" panose="02000503000000020004" pitchFamily="2" charset="0"/>
            </a:endParaRPr>
          </a:p>
          <a:p>
            <a:endParaRPr lang="en-US">
              <a:latin typeface="Inter" panose="02000503000000020004" pitchFamily="2" charset="0"/>
              <a:ea typeface="Inter" panose="02000503000000020004" pitchFamily="2" charset="0"/>
            </a:endParaRPr>
          </a:p>
          <a:p>
            <a:r>
              <a:rPr lang="sr-Latn-CS" i="1">
                <a:solidFill>
                  <a:srgbClr val="EBE3A7"/>
                </a:solidFill>
                <a:latin typeface="Inter" panose="02000503000000020004" pitchFamily="2" charset="0"/>
                <a:ea typeface="Inter" panose="02000503000000020004" pitchFamily="2" charset="0"/>
              </a:rPr>
              <a:t>Banja Luka, septembar 2026</a:t>
            </a:r>
            <a:endParaRPr lang="en-US" i="1">
              <a:solidFill>
                <a:srgbClr val="EBE3A7"/>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546563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286C0-2D88-590A-FE67-D7F8896CD31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AB89FAF-91AB-518B-2D8C-FCF3B85E54C6}"/>
              </a:ext>
            </a:extLst>
          </p:cNvPr>
          <p:cNvSpPr/>
          <p:nvPr/>
        </p:nvSpPr>
        <p:spPr>
          <a:xfrm>
            <a:off x="0" y="0"/>
            <a:ext cx="12192000" cy="6858000"/>
          </a:xfrm>
          <a:prstGeom prst="rect">
            <a:avLst/>
          </a:prstGeom>
          <a:solidFill>
            <a:srgbClr val="EB7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DC07E5A-84EB-9F65-5BAC-D8368B00B88F}"/>
              </a:ext>
            </a:extLst>
          </p:cNvPr>
          <p:cNvSpPr txBox="1"/>
          <p:nvPr/>
        </p:nvSpPr>
        <p:spPr>
          <a:xfrm>
            <a:off x="120316" y="96253"/>
            <a:ext cx="9131968" cy="400110"/>
          </a:xfrm>
          <a:prstGeom prst="rect">
            <a:avLst/>
          </a:prstGeom>
          <a:noFill/>
        </p:spPr>
        <p:txBody>
          <a:bodyPr wrap="square" rtlCol="0">
            <a:spAutoFit/>
          </a:bodyPr>
          <a:lstStyle/>
          <a:p>
            <a:r>
              <a:rPr lang="en-US" sz="2000" b="1">
                <a:solidFill>
                  <a:srgbClr val="EBE3A7"/>
                </a:solidFill>
                <a:latin typeface="Inter" panose="02000503000000020004" pitchFamily="2" charset="0"/>
                <a:ea typeface="Inter" panose="02000503000000020004" pitchFamily="2" charset="0"/>
              </a:rPr>
              <a:t>SIMULACIJA VI</a:t>
            </a:r>
            <a:r>
              <a:rPr lang="sr-Latn-BA" sz="2000" b="1">
                <a:solidFill>
                  <a:srgbClr val="EBE3A7"/>
                </a:solidFill>
                <a:latin typeface="Inter" panose="02000503000000020004" pitchFamily="2" charset="0"/>
                <a:ea typeface="Inter" panose="02000503000000020004" pitchFamily="2" charset="0"/>
              </a:rPr>
              <a:t>ŠE SPORIH OPERACIJA</a:t>
            </a:r>
            <a:endParaRPr lang="en-US" sz="2000" b="1">
              <a:solidFill>
                <a:srgbClr val="EBE3A7"/>
              </a:solidFill>
              <a:latin typeface="Inter" panose="02000503000000020004" pitchFamily="2" charset="0"/>
              <a:ea typeface="Inter" panose="02000503000000020004" pitchFamily="2" charset="0"/>
            </a:endParaRPr>
          </a:p>
        </p:txBody>
      </p:sp>
      <p:pic>
        <p:nvPicPr>
          <p:cNvPr id="8" name="Picture 7">
            <a:extLst>
              <a:ext uri="{FF2B5EF4-FFF2-40B4-BE49-F238E27FC236}">
                <a16:creationId xmlns:a16="http://schemas.microsoft.com/office/drawing/2014/main" id="{ADCF3A9F-0CE9-2581-70DE-928456BFB389}"/>
              </a:ext>
            </a:extLst>
          </p:cNvPr>
          <p:cNvPicPr>
            <a:picLocks noChangeAspect="1"/>
          </p:cNvPicPr>
          <p:nvPr/>
        </p:nvPicPr>
        <p:blipFill>
          <a:blip r:embed="rId2"/>
          <a:srcRect r="44062"/>
          <a:stretch>
            <a:fillRect/>
          </a:stretch>
        </p:blipFill>
        <p:spPr>
          <a:xfrm>
            <a:off x="5690940" y="96253"/>
            <a:ext cx="4756484" cy="3798255"/>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5B64C432-D282-0248-5A1C-0A0B852C9458}"/>
              </a:ext>
            </a:extLst>
          </p:cNvPr>
          <p:cNvPicPr>
            <a:picLocks noChangeAspect="1"/>
          </p:cNvPicPr>
          <p:nvPr/>
        </p:nvPicPr>
        <p:blipFill>
          <a:blip r:embed="rId3"/>
          <a:srcRect r="57220"/>
          <a:stretch>
            <a:fillRect/>
          </a:stretch>
        </p:blipFill>
        <p:spPr>
          <a:xfrm>
            <a:off x="7784431" y="3003128"/>
            <a:ext cx="4287253" cy="3705645"/>
          </a:xfrm>
          <a:prstGeom prst="rect">
            <a:avLst/>
          </a:prstGeom>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8C8811B7-9D33-4CB9-B63E-4634AF102F11}"/>
              </a:ext>
            </a:extLst>
          </p:cNvPr>
          <p:cNvSpPr txBox="1"/>
          <p:nvPr/>
        </p:nvSpPr>
        <p:spPr>
          <a:xfrm>
            <a:off x="120316" y="496363"/>
            <a:ext cx="5053263" cy="2462213"/>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Potrebno je izvršiti 5 sporih i međusobno nezavisnih operacija, pri čemu svaka traje tačno 2 sekunde. U ovom primjeru koristi se time.sleep(2) kako bi se simuliralo čekanje na eksterne resurse, kao što su I/O operacije, mrežni HTTP zahtjevi ili upiti prema bazi podataka. Sekvencijalna verzija izvršava operacije jednu za drugom unutar jedne niti glavnog procesa. Paralelna verzija koristi ThreadPoolExecutor(max_workers=5) iz modula concurrent.futures, čime se operacije raspoređuju na 5 zasebnih niti koje se izvršavaju istovremeno.</a:t>
            </a:r>
            <a:endParaRPr lang="en-US" sz="1400">
              <a:solidFill>
                <a:srgbClr val="2E2910"/>
              </a:solidFill>
              <a:latin typeface="Inter" panose="02000503000000020004" pitchFamily="2" charset="0"/>
              <a:ea typeface="Inter" panose="02000503000000020004" pitchFamily="2" charset="0"/>
            </a:endParaRPr>
          </a:p>
          <a:p>
            <a:pPr algn="just"/>
            <a:endParaRPr lang="en-US" sz="1400">
              <a:solidFill>
                <a:srgbClr val="2E2910"/>
              </a:solidFill>
              <a:latin typeface="Inter" panose="02000503000000020004" pitchFamily="2" charset="0"/>
              <a:ea typeface="Inter" panose="02000503000000020004" pitchFamily="2" charset="0"/>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A2D1AF2-A01C-5F12-5BD6-C44A90EA63A9}"/>
                  </a:ext>
                </a:extLst>
              </p:cNvPr>
              <p:cNvSpPr txBox="1"/>
              <p:nvPr/>
            </p:nvSpPr>
            <p:spPr>
              <a:xfrm>
                <a:off x="-136859" y="2797250"/>
                <a:ext cx="5567611" cy="561436"/>
              </a:xfrm>
              <a:prstGeom prst="rect">
                <a:avLst/>
              </a:prstGeom>
              <a:noFill/>
            </p:spPr>
            <p:txBody>
              <a:bodyPr wrap="square">
                <a:spAutoFit/>
              </a:bodyPr>
              <a:lstStyle/>
              <a:p>
                <a:pPr/>
                <a14:m>
                  <m:oMathPara xmlns:m="http://schemas.openxmlformats.org/officeDocument/2006/math">
                    <m:oMath>
                      <m:r>
                        <m:rPr>
                          <m:nor/>
                        </m:rPr>
                        <a:rPr lang="en-US" sz="1400" b="0" i="0" smtClean="0"/>
                        <m:t>Ubrzanje</m:t>
                      </m:r>
                      <m:r>
                        <a:rPr lang="en-US" sz="1400" b="0" i="0">
                          <a:latin typeface="Cambria Math" panose="02040503050406030204" pitchFamily="18" charset="0"/>
                        </a:rPr>
                        <m:t>=</m:t>
                      </m:r>
                      <m:f>
                        <m:fPr>
                          <m:ctrlPr>
                            <a:rPr lang="en-US" sz="1400" b="0" i="1">
                              <a:latin typeface="Cambria Math" panose="02040503050406030204" pitchFamily="18" charset="0"/>
                            </a:rPr>
                          </m:ctrlPr>
                        </m:fPr>
                        <m:num>
                          <m:sSub>
                            <m:sSubPr>
                              <m:ctrlPr>
                                <a:rPr lang="en-US" sz="1400" b="0" i="1">
                                  <a:latin typeface="Cambria Math" panose="02040503050406030204" pitchFamily="18" charset="0"/>
                                </a:rPr>
                              </m:ctrlPr>
                            </m:sSubPr>
                            <m:e>
                              <m:r>
                                <a:rPr lang="en-US" sz="1400" b="0" i="1">
                                  <a:latin typeface="Cambria Math" panose="02040503050406030204" pitchFamily="18" charset="0"/>
                                </a:rPr>
                                <m:t>𝑇</m:t>
                              </m:r>
                            </m:e>
                            <m:sub>
                              <m:r>
                                <a:rPr lang="en-US" sz="1400" b="0" i="1">
                                  <a:latin typeface="Cambria Math" panose="02040503050406030204" pitchFamily="18" charset="0"/>
                                </a:rPr>
                                <m:t>𝑠</m:t>
                              </m:r>
                            </m:sub>
                          </m:sSub>
                        </m:num>
                        <m:den>
                          <m:sSub>
                            <m:sSubPr>
                              <m:ctrlPr>
                                <a:rPr lang="en-US" sz="1400" b="0" i="1">
                                  <a:latin typeface="Cambria Math" panose="02040503050406030204" pitchFamily="18" charset="0"/>
                                </a:rPr>
                              </m:ctrlPr>
                            </m:sSubPr>
                            <m:e>
                              <m:r>
                                <a:rPr lang="en-US" sz="1400" b="0" i="1">
                                  <a:latin typeface="Cambria Math" panose="02040503050406030204" pitchFamily="18" charset="0"/>
                                </a:rPr>
                                <m:t>𝑇</m:t>
                              </m:r>
                            </m:e>
                            <m:sub>
                              <m:r>
                                <a:rPr lang="en-US" sz="1400" b="0" i="1">
                                  <a:latin typeface="Cambria Math" panose="02040503050406030204" pitchFamily="18" charset="0"/>
                                </a:rPr>
                                <m:t>𝑝</m:t>
                              </m:r>
                            </m:sub>
                          </m:sSub>
                        </m:den>
                      </m:f>
                      <m:r>
                        <a:rPr lang="en-US" sz="1400" b="0" i="0">
                          <a:latin typeface="Cambria Math" panose="02040503050406030204" pitchFamily="18" charset="0"/>
                        </a:rPr>
                        <m:t>=</m:t>
                      </m:r>
                      <m:f>
                        <m:fPr>
                          <m:ctrlPr>
                            <a:rPr lang="en-US" sz="1400" b="0" i="0">
                              <a:latin typeface="Cambria Math" panose="02040503050406030204" pitchFamily="18" charset="0"/>
                            </a:rPr>
                          </m:ctrlPr>
                        </m:fPr>
                        <m:num>
                          <m:r>
                            <a:rPr lang="en-US" sz="1400" b="0" i="0">
                              <a:latin typeface="Cambria Math" panose="02040503050406030204" pitchFamily="18" charset="0"/>
                            </a:rPr>
                            <m:t>10.00222499994561</m:t>
                          </m:r>
                        </m:num>
                        <m:den>
                          <m:r>
                            <a:rPr lang="en-US" sz="1400" b="0" i="0">
                              <a:latin typeface="Cambria Math" panose="02040503050406030204" pitchFamily="18" charset="0"/>
                            </a:rPr>
                            <m:t>2.0018610999686643</m:t>
                          </m:r>
                        </m:den>
                      </m:f>
                      <m:r>
                        <a:rPr lang="en-US" sz="1400" b="0" i="0">
                          <a:latin typeface="Cambria Math" panose="02040503050406030204" pitchFamily="18" charset="0"/>
                        </a:rPr>
                        <m:t>≈</m:t>
                      </m:r>
                      <m:r>
                        <a:rPr lang="en-US" sz="1400" b="1" i="0">
                          <a:latin typeface="Cambria Math" panose="02040503050406030204" pitchFamily="18" charset="0"/>
                        </a:rPr>
                        <m:t>𝟒</m:t>
                      </m:r>
                      <m:r>
                        <a:rPr lang="en-US" sz="1400" b="0" i="0">
                          <a:latin typeface="Cambria Math" panose="02040503050406030204" pitchFamily="18" charset="0"/>
                        </a:rPr>
                        <m:t>.</m:t>
                      </m:r>
                      <m:r>
                        <a:rPr lang="en-US" sz="1400" b="1" i="0">
                          <a:latin typeface="Cambria Math" panose="02040503050406030204" pitchFamily="18" charset="0"/>
                        </a:rPr>
                        <m:t>𝟗𝟗𝟔𝟒𝟔𝟑</m:t>
                      </m:r>
                    </m:oMath>
                  </m:oMathPara>
                </a14:m>
                <a:endParaRPr lang="en-US" sz="1400"/>
              </a:p>
            </p:txBody>
          </p:sp>
        </mc:Choice>
        <mc:Fallback>
          <p:sp>
            <p:nvSpPr>
              <p:cNvPr id="13" name="TextBox 12">
                <a:extLst>
                  <a:ext uri="{FF2B5EF4-FFF2-40B4-BE49-F238E27FC236}">
                    <a16:creationId xmlns:a16="http://schemas.microsoft.com/office/drawing/2014/main" id="{9A2D1AF2-A01C-5F12-5BD6-C44A90EA63A9}"/>
                  </a:ext>
                </a:extLst>
              </p:cNvPr>
              <p:cNvSpPr txBox="1">
                <a:spLocks noRot="1" noChangeAspect="1" noMove="1" noResize="1" noEditPoints="1" noAdjustHandles="1" noChangeArrowheads="1" noChangeShapeType="1" noTextEdit="1"/>
              </p:cNvSpPr>
              <p:nvPr/>
            </p:nvSpPr>
            <p:spPr>
              <a:xfrm>
                <a:off x="-136859" y="2797250"/>
                <a:ext cx="5567611" cy="561436"/>
              </a:xfrm>
              <a:prstGeom prst="rect">
                <a:avLst/>
              </a:prstGeom>
              <a:blipFill>
                <a:blip r:embed="rId4"/>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C1A2C40E-7465-D7C9-B2EF-616C2B730253}"/>
              </a:ext>
            </a:extLst>
          </p:cNvPr>
          <p:cNvGraphicFramePr>
            <a:graphicFrameLocks noGrp="1"/>
          </p:cNvGraphicFramePr>
          <p:nvPr>
            <p:extLst>
              <p:ext uri="{D42A27DB-BD31-4B8C-83A1-F6EECF244321}">
                <p14:modId xmlns:p14="http://schemas.microsoft.com/office/powerpoint/2010/main" val="2685151770"/>
              </p:ext>
            </p:extLst>
          </p:nvPr>
        </p:nvGraphicFramePr>
        <p:xfrm>
          <a:off x="61665" y="3427992"/>
          <a:ext cx="5567611" cy="561435"/>
        </p:xfrm>
        <a:graphic>
          <a:graphicData uri="http://schemas.openxmlformats.org/drawingml/2006/table">
            <a:tbl>
              <a:tblPr firstRow="1" firstCol="1" bandRow="1">
                <a:tableStyleId>{284E427A-3D55-4303-BF80-6455036E1DE7}</a:tableStyleId>
              </a:tblPr>
              <a:tblGrid>
                <a:gridCol w="794084">
                  <a:extLst>
                    <a:ext uri="{9D8B030D-6E8A-4147-A177-3AD203B41FA5}">
                      <a16:colId xmlns:a16="http://schemas.microsoft.com/office/drawing/2014/main" val="2029033141"/>
                    </a:ext>
                  </a:extLst>
                </a:gridCol>
                <a:gridCol w="1725930">
                  <a:extLst>
                    <a:ext uri="{9D8B030D-6E8A-4147-A177-3AD203B41FA5}">
                      <a16:colId xmlns:a16="http://schemas.microsoft.com/office/drawing/2014/main" val="1653522019"/>
                    </a:ext>
                  </a:extLst>
                </a:gridCol>
                <a:gridCol w="938455">
                  <a:extLst>
                    <a:ext uri="{9D8B030D-6E8A-4147-A177-3AD203B41FA5}">
                      <a16:colId xmlns:a16="http://schemas.microsoft.com/office/drawing/2014/main" val="668672097"/>
                    </a:ext>
                  </a:extLst>
                </a:gridCol>
                <a:gridCol w="1055762">
                  <a:extLst>
                    <a:ext uri="{9D8B030D-6E8A-4147-A177-3AD203B41FA5}">
                      <a16:colId xmlns:a16="http://schemas.microsoft.com/office/drawing/2014/main" val="3966214887"/>
                    </a:ext>
                  </a:extLst>
                </a:gridCol>
                <a:gridCol w="1053380">
                  <a:extLst>
                    <a:ext uri="{9D8B030D-6E8A-4147-A177-3AD203B41FA5}">
                      <a16:colId xmlns:a16="http://schemas.microsoft.com/office/drawing/2014/main" val="1560866070"/>
                    </a:ext>
                  </a:extLst>
                </a:gridCol>
              </a:tblGrid>
              <a:tr h="374290">
                <a:tc>
                  <a:txBody>
                    <a:bodyPr/>
                    <a:lstStyle/>
                    <a:p>
                      <a:pPr marL="0" marR="0" algn="just">
                        <a:buNone/>
                      </a:pPr>
                      <a:r>
                        <a:rPr lang="hr-HR" sz="1200">
                          <a:effectLst/>
                        </a:rPr>
                        <a:t>Broj operacija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Trajanje pojedinačne operacije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Sekvencijalno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Paralelno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Ubrzanje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7282027"/>
                  </a:ext>
                </a:extLst>
              </a:tr>
              <a:tr h="187145">
                <a:tc>
                  <a:txBody>
                    <a:bodyPr/>
                    <a:lstStyle/>
                    <a:p>
                      <a:pPr marL="0" marR="0" algn="just">
                        <a:buNone/>
                      </a:pPr>
                      <a:r>
                        <a:rPr lang="hr-HR" sz="1200">
                          <a:effectLst/>
                        </a:rPr>
                        <a:t>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2.0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10.002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2.002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4.996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30245322"/>
                  </a:ext>
                </a:extLst>
              </a:tr>
            </a:tbl>
          </a:graphicData>
        </a:graphic>
      </p:graphicFrame>
      <p:sp>
        <p:nvSpPr>
          <p:cNvPr id="16" name="TextBox 15">
            <a:extLst>
              <a:ext uri="{FF2B5EF4-FFF2-40B4-BE49-F238E27FC236}">
                <a16:creationId xmlns:a16="http://schemas.microsoft.com/office/drawing/2014/main" id="{9319AB36-AFB1-8C87-E5B7-A27C3D92F56F}"/>
              </a:ext>
            </a:extLst>
          </p:cNvPr>
          <p:cNvSpPr txBox="1"/>
          <p:nvPr/>
        </p:nvSpPr>
        <p:spPr>
          <a:xfrm>
            <a:off x="120316" y="4000096"/>
            <a:ext cx="7536279" cy="2893100"/>
          </a:xfrm>
          <a:prstGeom prst="rect">
            <a:avLst/>
          </a:prstGeom>
          <a:noFill/>
        </p:spPr>
        <p:txBody>
          <a:bodyPr wrap="square" rtlCol="0">
            <a:spAutoFit/>
          </a:bodyPr>
          <a:lstStyle/>
          <a:p>
            <a:pPr algn="just"/>
            <a:r>
              <a:rPr lang="hr-HR" sz="1400">
                <a:latin typeface="Inter" panose="02000503000000020004" pitchFamily="2" charset="0"/>
                <a:ea typeface="Inter" panose="02000503000000020004" pitchFamily="2" charset="0"/>
              </a:rPr>
              <a:t>Na testiranom primjeru, paralelna verzija sa nitima ostvarila je gotovo teorijski maksimalno ubrzanje od 5 puta u odnosu na sekvencijalnu verziju. Sekvencijalno izvršavanje 5 operacija trajalo je 10,002 sekunde, dok je konkurentno izvršavanje pomoću niti trajalo svega 2,002 sekunde. Na osnovu toga, ostvareno ubrzanje iznosi 4,996.</a:t>
            </a:r>
            <a:endParaRPr lang="en-US" sz="1400">
              <a:latin typeface="Inter" panose="02000503000000020004" pitchFamily="2" charset="0"/>
              <a:ea typeface="Inter" panose="02000503000000020004" pitchFamily="2" charset="0"/>
            </a:endParaRPr>
          </a:p>
          <a:p>
            <a:pPr algn="just"/>
            <a:r>
              <a:rPr lang="hr-HR" sz="1400">
                <a:latin typeface="Inter" panose="02000503000000020004" pitchFamily="2" charset="0"/>
                <a:ea typeface="Inter" panose="02000503000000020004" pitchFamily="2" charset="0"/>
              </a:rPr>
              <a:t> </a:t>
            </a:r>
            <a:endParaRPr lang="en-US" sz="1400">
              <a:latin typeface="Inter" panose="02000503000000020004" pitchFamily="2" charset="0"/>
              <a:ea typeface="Inter" panose="02000503000000020004" pitchFamily="2" charset="0"/>
            </a:endParaRPr>
          </a:p>
          <a:p>
            <a:pPr algn="just"/>
            <a:r>
              <a:rPr lang="hr-HR" sz="1400">
                <a:latin typeface="Inter" panose="02000503000000020004" pitchFamily="2" charset="0"/>
                <a:ea typeface="Inter" panose="02000503000000020004" pitchFamily="2" charset="0"/>
              </a:rPr>
              <a:t>Konkurentno izvršavanje pomoću ThreadPoolExecutor-a predstavlja veoma pogodan pristup za operacije ograničene ulazno-izlaznim operacijama (I/O-bound tasks). Za razliku od računski intenzivnih zadataka (CPU-bound), kod kojih se za efikasnu paralelizaciju najčešće koriste odvojeni procesi, I/O operacije uglavnom provode vrijeme čekajući odgovor eksternih resursa. Zbog toga višenitni pristup u ovakvim slučajevima može ostvariti gotovo linearno ubrzanje, proporcionalno broju angažovanih niti.</a:t>
            </a:r>
            <a:endParaRPr lang="en-US" sz="140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553306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977C-7E29-9E06-B54B-22B810DA37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502747-EA25-096D-8044-F42A46BF53BB}"/>
              </a:ext>
            </a:extLst>
          </p:cNvPr>
          <p:cNvSpPr/>
          <p:nvPr/>
        </p:nvSpPr>
        <p:spPr>
          <a:xfrm>
            <a:off x="0" y="0"/>
            <a:ext cx="12192000" cy="6858000"/>
          </a:xfrm>
          <a:prstGeom prst="rect">
            <a:avLst/>
          </a:prstGeom>
          <a:solidFill>
            <a:srgbClr val="EB7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1E49A56-4353-5E5E-640C-40948261B79C}"/>
              </a:ext>
            </a:extLst>
          </p:cNvPr>
          <p:cNvSpPr txBox="1"/>
          <p:nvPr/>
        </p:nvSpPr>
        <p:spPr>
          <a:xfrm>
            <a:off x="120316" y="96253"/>
            <a:ext cx="9131968" cy="400110"/>
          </a:xfrm>
          <a:prstGeom prst="rect">
            <a:avLst/>
          </a:prstGeom>
          <a:noFill/>
        </p:spPr>
        <p:txBody>
          <a:bodyPr wrap="square" rtlCol="0">
            <a:spAutoFit/>
          </a:bodyPr>
          <a:lstStyle/>
          <a:p>
            <a:r>
              <a:rPr lang="en-US" sz="2000" b="1">
                <a:solidFill>
                  <a:srgbClr val="EBE3A7"/>
                </a:solidFill>
                <a:latin typeface="Inter" panose="02000503000000020004" pitchFamily="2" charset="0"/>
                <a:ea typeface="Inter" panose="02000503000000020004" pitchFamily="2" charset="0"/>
              </a:rPr>
              <a:t>SIMULACIJA SENZORSKIH O</a:t>
            </a:r>
            <a:r>
              <a:rPr lang="sr-Latn-BA" sz="2000" b="1">
                <a:solidFill>
                  <a:srgbClr val="EBE3A7"/>
                </a:solidFill>
                <a:latin typeface="Inter" panose="02000503000000020004" pitchFamily="2" charset="0"/>
                <a:ea typeface="Inter" panose="02000503000000020004" pitchFamily="2" charset="0"/>
              </a:rPr>
              <a:t>ČITANJA</a:t>
            </a:r>
            <a:endParaRPr lang="en-US" sz="2000" b="1">
              <a:solidFill>
                <a:srgbClr val="EBE3A7"/>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8C342965-1210-E650-DC11-D1FA81B8A7ED}"/>
              </a:ext>
            </a:extLst>
          </p:cNvPr>
          <p:cNvSpPr txBox="1"/>
          <p:nvPr/>
        </p:nvSpPr>
        <p:spPr>
          <a:xfrm>
            <a:off x="120316" y="496363"/>
            <a:ext cx="5390147" cy="2246769"/>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Potrebno je simulirati očitavanje podataka sa 6 nezavisnih senzora. Čitanje sa svakog pojedinačnog senzora traje 1 sekundu, pri čemu time.sleep(1) simulira mrežne/I-O zastoje i vrijeme odziva opreme. Funkcija zatim generiše nasumičnu vrijednost u opsegu od 20,0 do 30,0. Sekvencijalna verzija očitava senzore jedan po jedan unutar glavne niti, dok paralelna verzija koristi ThreadPoolExecutor(max_workers=6) iz modula concurrent.futures. Na ovaj način se svakom senzoru dodjeljuje po jedna nit, čime se omogućava konkurentno očitavanje svih senzora.</a:t>
            </a:r>
            <a:endParaRPr lang="en-US" sz="1400">
              <a:solidFill>
                <a:srgbClr val="2E2910"/>
              </a:solidFill>
              <a:latin typeface="Inter" panose="02000503000000020004" pitchFamily="2" charset="0"/>
              <a:ea typeface="Inter" panose="02000503000000020004" pitchFamily="2" charset="0"/>
            </a:endParaRPr>
          </a:p>
        </p:txBody>
      </p:sp>
      <p:sp>
        <p:nvSpPr>
          <p:cNvPr id="16" name="TextBox 15">
            <a:extLst>
              <a:ext uri="{FF2B5EF4-FFF2-40B4-BE49-F238E27FC236}">
                <a16:creationId xmlns:a16="http://schemas.microsoft.com/office/drawing/2014/main" id="{50713A91-6B51-4EAE-99B5-8BADF8D9356F}"/>
              </a:ext>
            </a:extLst>
          </p:cNvPr>
          <p:cNvSpPr txBox="1"/>
          <p:nvPr/>
        </p:nvSpPr>
        <p:spPr>
          <a:xfrm>
            <a:off x="120316" y="3843997"/>
            <a:ext cx="7536279" cy="1384995"/>
          </a:xfrm>
          <a:prstGeom prst="rect">
            <a:avLst/>
          </a:prstGeom>
          <a:noFill/>
        </p:spPr>
        <p:txBody>
          <a:bodyPr wrap="square" rtlCol="0">
            <a:spAutoFit/>
          </a:bodyPr>
          <a:lstStyle/>
          <a:p>
            <a:pPr algn="just"/>
            <a:r>
              <a:rPr lang="en-US" sz="1400">
                <a:solidFill>
                  <a:srgbClr val="2E2910"/>
                </a:solidFill>
                <a:latin typeface="Inter" panose="02000503000000020004" pitchFamily="2" charset="0"/>
                <a:ea typeface="Inter" panose="02000503000000020004" pitchFamily="2" charset="0"/>
              </a:rPr>
              <a:t>Na ovom primjeru paralelna verzija zasnovana na nitima ostvarila je skoro idealno ubrzanje. Sekvencijalno prikupljanje podataka sa šest senzora trajalo je 6,0015 sekundi, dok je paralelna akvizicija pomoću radnih niti završena za svega 1,0019 sekundi. Na osnovu ovih rezultata, paralelna verzija je bila približno 5,99 puta brža od sekvencijalne verzije. To pokazuje da je korištenje više niti u ovom slučaju značajno smanjilo vrijeme potrebno za prikupljanje podataka.</a:t>
            </a:r>
          </a:p>
        </p:txBody>
      </p:sp>
      <p:grpSp>
        <p:nvGrpSpPr>
          <p:cNvPr id="12" name="Group 11">
            <a:extLst>
              <a:ext uri="{FF2B5EF4-FFF2-40B4-BE49-F238E27FC236}">
                <a16:creationId xmlns:a16="http://schemas.microsoft.com/office/drawing/2014/main" id="{FFB55C57-6F84-2479-4178-E706B19889D4}"/>
              </a:ext>
            </a:extLst>
          </p:cNvPr>
          <p:cNvGrpSpPr/>
          <p:nvPr/>
        </p:nvGrpSpPr>
        <p:grpSpPr>
          <a:xfrm>
            <a:off x="5763629" y="96253"/>
            <a:ext cx="6285104" cy="6172200"/>
            <a:chOff x="5763629" y="96253"/>
            <a:chExt cx="6285104" cy="6172200"/>
          </a:xfrm>
          <a:effectLst>
            <a:outerShdw blurRad="63500" sx="102000" sy="102000" algn="ctr" rotWithShape="0">
              <a:prstClr val="black">
                <a:alpha val="40000"/>
              </a:prstClr>
            </a:outerShdw>
          </a:effectLst>
        </p:grpSpPr>
        <p:pic>
          <p:nvPicPr>
            <p:cNvPr id="3" name="Picture 2">
              <a:extLst>
                <a:ext uri="{FF2B5EF4-FFF2-40B4-BE49-F238E27FC236}">
                  <a16:creationId xmlns:a16="http://schemas.microsoft.com/office/drawing/2014/main" id="{CAC80B43-C216-0F10-FAE2-502F88F41668}"/>
                </a:ext>
              </a:extLst>
            </p:cNvPr>
            <p:cNvPicPr>
              <a:picLocks noChangeAspect="1"/>
            </p:cNvPicPr>
            <p:nvPr/>
          </p:nvPicPr>
          <p:blipFill>
            <a:blip r:embed="rId2"/>
            <a:srcRect r="58131"/>
            <a:stretch>
              <a:fillRect/>
            </a:stretch>
          </p:blipFill>
          <p:spPr>
            <a:xfrm>
              <a:off x="5763629" y="96253"/>
              <a:ext cx="3846204" cy="3503733"/>
            </a:xfrm>
            <a:prstGeom prst="rect">
              <a:avLst/>
            </a:prstGeom>
          </p:spPr>
        </p:pic>
        <p:pic>
          <p:nvPicPr>
            <p:cNvPr id="5" name="Picture 4">
              <a:extLst>
                <a:ext uri="{FF2B5EF4-FFF2-40B4-BE49-F238E27FC236}">
                  <a16:creationId xmlns:a16="http://schemas.microsoft.com/office/drawing/2014/main" id="{95B86D7C-E5AA-DAFB-22CF-048C8B166063}"/>
                </a:ext>
              </a:extLst>
            </p:cNvPr>
            <p:cNvPicPr>
              <a:picLocks noChangeAspect="1"/>
            </p:cNvPicPr>
            <p:nvPr/>
          </p:nvPicPr>
          <p:blipFill>
            <a:blip r:embed="rId3"/>
            <a:srcRect r="48313"/>
            <a:stretch>
              <a:fillRect/>
            </a:stretch>
          </p:blipFill>
          <p:spPr>
            <a:xfrm>
              <a:off x="8014144" y="2743323"/>
              <a:ext cx="4034589" cy="3525130"/>
            </a:xfrm>
            <a:prstGeom prst="rect">
              <a:avLst/>
            </a:prstGeom>
          </p:spPr>
        </p:pic>
      </p:gr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DD0A54B-9F67-267C-F7BF-9829D108EE24}"/>
                  </a:ext>
                </a:extLst>
              </p:cNvPr>
              <p:cNvSpPr txBox="1"/>
              <p:nvPr/>
            </p:nvSpPr>
            <p:spPr>
              <a:xfrm>
                <a:off x="-231608" y="3012846"/>
                <a:ext cx="6093994" cy="561436"/>
              </a:xfrm>
              <a:prstGeom prst="rect">
                <a:avLst/>
              </a:prstGeom>
              <a:noFill/>
            </p:spPr>
            <p:txBody>
              <a:bodyPr wrap="square">
                <a:spAutoFit/>
              </a:bodyPr>
              <a:lstStyle/>
              <a:p>
                <a:pPr/>
                <a14:m>
                  <m:oMathPara xmlns:m="http://schemas.openxmlformats.org/officeDocument/2006/math">
                    <m:oMath>
                      <m:r>
                        <m:rPr>
                          <m:nor/>
                        </m:rPr>
                        <a:rPr lang="en-US" sz="1400" b="0" i="0" smtClean="0">
                          <a:solidFill>
                            <a:srgbClr val="2E2910"/>
                          </a:solidFill>
                        </a:rPr>
                        <m:t>Ubrzanje</m:t>
                      </m:r>
                      <m:r>
                        <a:rPr lang="en-US" sz="1400" b="0" i="0">
                          <a:solidFill>
                            <a:srgbClr val="2E2910"/>
                          </a:solidFill>
                          <a:latin typeface="Cambria Math" panose="02040503050406030204" pitchFamily="18" charset="0"/>
                        </a:rPr>
                        <m:t>=</m:t>
                      </m:r>
                      <m:f>
                        <m:fPr>
                          <m:ctrlPr>
                            <a:rPr lang="en-US" sz="1400" b="0" i="1">
                              <a:solidFill>
                                <a:srgbClr val="2E2910"/>
                              </a:solidFill>
                              <a:latin typeface="Cambria Math" panose="02040503050406030204" pitchFamily="18" charset="0"/>
                            </a:rPr>
                          </m:ctrlPr>
                        </m:fPr>
                        <m:num>
                          <m:sSub>
                            <m:sSubPr>
                              <m:ctrlPr>
                                <a:rPr lang="en-US" sz="1400" b="0" i="1">
                                  <a:solidFill>
                                    <a:srgbClr val="2E2910"/>
                                  </a:solidFill>
                                  <a:latin typeface="Cambria Math" panose="02040503050406030204" pitchFamily="18" charset="0"/>
                                </a:rPr>
                              </m:ctrlPr>
                            </m:sSubPr>
                            <m:e>
                              <m:r>
                                <a:rPr lang="en-US" sz="1400" b="0" i="1">
                                  <a:solidFill>
                                    <a:srgbClr val="2E2910"/>
                                  </a:solidFill>
                                  <a:latin typeface="Cambria Math" panose="02040503050406030204" pitchFamily="18" charset="0"/>
                                </a:rPr>
                                <m:t>𝑇</m:t>
                              </m:r>
                            </m:e>
                            <m:sub>
                              <m:r>
                                <a:rPr lang="en-US" sz="1400" b="0" i="1">
                                  <a:solidFill>
                                    <a:srgbClr val="2E2910"/>
                                  </a:solidFill>
                                  <a:latin typeface="Cambria Math" panose="02040503050406030204" pitchFamily="18" charset="0"/>
                                </a:rPr>
                                <m:t>𝑠</m:t>
                              </m:r>
                            </m:sub>
                          </m:sSub>
                        </m:num>
                        <m:den>
                          <m:sSub>
                            <m:sSubPr>
                              <m:ctrlPr>
                                <a:rPr lang="en-US" sz="1400" b="0" i="1">
                                  <a:solidFill>
                                    <a:srgbClr val="2E2910"/>
                                  </a:solidFill>
                                  <a:latin typeface="Cambria Math" panose="02040503050406030204" pitchFamily="18" charset="0"/>
                                </a:rPr>
                              </m:ctrlPr>
                            </m:sSubPr>
                            <m:e>
                              <m:r>
                                <a:rPr lang="en-US" sz="1400" b="0" i="1">
                                  <a:solidFill>
                                    <a:srgbClr val="2E2910"/>
                                  </a:solidFill>
                                  <a:latin typeface="Cambria Math" panose="02040503050406030204" pitchFamily="18" charset="0"/>
                                </a:rPr>
                                <m:t>𝑇</m:t>
                              </m:r>
                            </m:e>
                            <m:sub>
                              <m:r>
                                <a:rPr lang="en-US" sz="1400" b="0" i="1">
                                  <a:solidFill>
                                    <a:srgbClr val="2E2910"/>
                                  </a:solidFill>
                                  <a:latin typeface="Cambria Math" panose="02040503050406030204" pitchFamily="18" charset="0"/>
                                </a:rPr>
                                <m:t>𝑝</m:t>
                              </m:r>
                            </m:sub>
                          </m:sSub>
                        </m:den>
                      </m:f>
                      <m:r>
                        <a:rPr lang="en-US" sz="1400" b="0" i="0">
                          <a:solidFill>
                            <a:srgbClr val="2E2910"/>
                          </a:solidFill>
                          <a:latin typeface="Cambria Math" panose="02040503050406030204" pitchFamily="18" charset="0"/>
                        </a:rPr>
                        <m:t>=</m:t>
                      </m:r>
                      <m:f>
                        <m:fPr>
                          <m:ctrlPr>
                            <a:rPr lang="en-US" sz="1400" b="0" i="0">
                              <a:solidFill>
                                <a:srgbClr val="2E2910"/>
                              </a:solidFill>
                              <a:latin typeface="Cambria Math" panose="02040503050406030204" pitchFamily="18" charset="0"/>
                            </a:rPr>
                          </m:ctrlPr>
                        </m:fPr>
                        <m:num>
                          <m:r>
                            <a:rPr lang="en-US" sz="1400" b="0" i="0">
                              <a:solidFill>
                                <a:srgbClr val="2E2910"/>
                              </a:solidFill>
                              <a:latin typeface="Cambria Math" panose="02040503050406030204" pitchFamily="18" charset="0"/>
                            </a:rPr>
                            <m:t>6.001502699917182</m:t>
                          </m:r>
                        </m:num>
                        <m:den>
                          <m:r>
                            <a:rPr lang="en-US" sz="1400" b="0" i="0">
                              <a:solidFill>
                                <a:srgbClr val="2E2910"/>
                              </a:solidFill>
                              <a:latin typeface="Cambria Math" panose="02040503050406030204" pitchFamily="18" charset="0"/>
                            </a:rPr>
                            <m:t>1.001906399964355</m:t>
                          </m:r>
                        </m:den>
                      </m:f>
                      <m:r>
                        <a:rPr lang="en-US" sz="1400" b="0" i="0">
                          <a:solidFill>
                            <a:srgbClr val="2E2910"/>
                          </a:solidFill>
                          <a:latin typeface="Cambria Math" panose="02040503050406030204" pitchFamily="18" charset="0"/>
                        </a:rPr>
                        <m:t>≈</m:t>
                      </m:r>
                      <m:r>
                        <a:rPr lang="en-US" sz="1400" b="1" i="0">
                          <a:solidFill>
                            <a:srgbClr val="2E2910"/>
                          </a:solidFill>
                          <a:latin typeface="Cambria Math" panose="02040503050406030204" pitchFamily="18" charset="0"/>
                        </a:rPr>
                        <m:t>𝟓</m:t>
                      </m:r>
                      <m:r>
                        <a:rPr lang="en-US" sz="1400" b="0" i="0">
                          <a:solidFill>
                            <a:srgbClr val="2E2910"/>
                          </a:solidFill>
                          <a:latin typeface="Cambria Math" panose="02040503050406030204" pitchFamily="18" charset="0"/>
                        </a:rPr>
                        <m:t>.</m:t>
                      </m:r>
                      <m:r>
                        <a:rPr lang="en-US" sz="1400" b="1" i="0">
                          <a:solidFill>
                            <a:srgbClr val="2E2910"/>
                          </a:solidFill>
                          <a:latin typeface="Cambria Math" panose="02040503050406030204" pitchFamily="18" charset="0"/>
                        </a:rPr>
                        <m:t>𝟗𝟗𝟎𝟎𝟖𝟑</m:t>
                      </m:r>
                    </m:oMath>
                  </m:oMathPara>
                </a14:m>
                <a:endParaRPr lang="en-US" sz="1400">
                  <a:solidFill>
                    <a:srgbClr val="2E2910"/>
                  </a:solidFill>
                </a:endParaRPr>
              </a:p>
            </p:txBody>
          </p:sp>
        </mc:Choice>
        <mc:Fallback>
          <p:sp>
            <p:nvSpPr>
              <p:cNvPr id="10" name="TextBox 9">
                <a:extLst>
                  <a:ext uri="{FF2B5EF4-FFF2-40B4-BE49-F238E27FC236}">
                    <a16:creationId xmlns:a16="http://schemas.microsoft.com/office/drawing/2014/main" id="{6DD0A54B-9F67-267C-F7BF-9829D108EE24}"/>
                  </a:ext>
                </a:extLst>
              </p:cNvPr>
              <p:cNvSpPr txBox="1">
                <a:spLocks noRot="1" noChangeAspect="1" noMove="1" noResize="1" noEditPoints="1" noAdjustHandles="1" noChangeArrowheads="1" noChangeShapeType="1" noTextEdit="1"/>
              </p:cNvSpPr>
              <p:nvPr/>
            </p:nvSpPr>
            <p:spPr>
              <a:xfrm>
                <a:off x="-231608" y="3012846"/>
                <a:ext cx="6093994" cy="561436"/>
              </a:xfrm>
              <a:prstGeom prst="rect">
                <a:avLst/>
              </a:prstGeom>
              <a:blipFill>
                <a:blip r:embed="rId4"/>
                <a:stretch>
                  <a:fillRect/>
                </a:stretch>
              </a:blipFill>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93842697-BA0D-2275-4B41-6061B8E42800}"/>
              </a:ext>
            </a:extLst>
          </p:cNvPr>
          <p:cNvGraphicFramePr>
            <a:graphicFrameLocks noGrp="1"/>
          </p:cNvGraphicFramePr>
          <p:nvPr>
            <p:extLst>
              <p:ext uri="{D42A27DB-BD31-4B8C-83A1-F6EECF244321}">
                <p14:modId xmlns:p14="http://schemas.microsoft.com/office/powerpoint/2010/main" val="3000849254"/>
              </p:ext>
            </p:extLst>
          </p:nvPr>
        </p:nvGraphicFramePr>
        <p:xfrm>
          <a:off x="227764" y="5381661"/>
          <a:ext cx="7147593" cy="886792"/>
        </p:xfrm>
        <a:graphic>
          <a:graphicData uri="http://schemas.openxmlformats.org/drawingml/2006/table">
            <a:tbl>
              <a:tblPr firstRow="1" firstCol="1" bandRow="1">
                <a:effectLst>
                  <a:outerShdw blurRad="50800" dist="38100" dir="5400000" algn="t" rotWithShape="0">
                    <a:prstClr val="black">
                      <a:alpha val="40000"/>
                    </a:prstClr>
                  </a:outerShdw>
                </a:effectLst>
                <a:tableStyleId>{9DCAF9ED-07DC-4A11-8D7F-57B35C25682E}</a:tableStyleId>
              </a:tblPr>
              <a:tblGrid>
                <a:gridCol w="1338549">
                  <a:extLst>
                    <a:ext uri="{9D8B030D-6E8A-4147-A177-3AD203B41FA5}">
                      <a16:colId xmlns:a16="http://schemas.microsoft.com/office/drawing/2014/main" val="1003586753"/>
                    </a:ext>
                  </a:extLst>
                </a:gridCol>
                <a:gridCol w="1895832">
                  <a:extLst>
                    <a:ext uri="{9D8B030D-6E8A-4147-A177-3AD203B41FA5}">
                      <a16:colId xmlns:a16="http://schemas.microsoft.com/office/drawing/2014/main" val="3349678484"/>
                    </a:ext>
                  </a:extLst>
                </a:gridCol>
                <a:gridCol w="1204771">
                  <a:extLst>
                    <a:ext uri="{9D8B030D-6E8A-4147-A177-3AD203B41FA5}">
                      <a16:colId xmlns:a16="http://schemas.microsoft.com/office/drawing/2014/main" val="2864099031"/>
                    </a:ext>
                  </a:extLst>
                </a:gridCol>
                <a:gridCol w="1355367">
                  <a:extLst>
                    <a:ext uri="{9D8B030D-6E8A-4147-A177-3AD203B41FA5}">
                      <a16:colId xmlns:a16="http://schemas.microsoft.com/office/drawing/2014/main" val="2629134639"/>
                    </a:ext>
                  </a:extLst>
                </a:gridCol>
                <a:gridCol w="1353074">
                  <a:extLst>
                    <a:ext uri="{9D8B030D-6E8A-4147-A177-3AD203B41FA5}">
                      <a16:colId xmlns:a16="http://schemas.microsoft.com/office/drawing/2014/main" val="4235171897"/>
                    </a:ext>
                  </a:extLst>
                </a:gridCol>
              </a:tblGrid>
              <a:tr h="591195">
                <a:tc>
                  <a:txBody>
                    <a:bodyPr/>
                    <a:lstStyle/>
                    <a:p>
                      <a:pPr marL="0" marR="0" algn="just">
                        <a:buNone/>
                      </a:pPr>
                      <a:r>
                        <a:rPr lang="hr-HR" sz="1200">
                          <a:effectLst/>
                        </a:rPr>
                        <a:t>Broj senzora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Trajanje pojedinačnog očitanja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Sekvencijalno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Paralelno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Ubrzanje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49171153"/>
                  </a:ext>
                </a:extLst>
              </a:tr>
              <a:tr h="295597">
                <a:tc>
                  <a:txBody>
                    <a:bodyPr/>
                    <a:lstStyle/>
                    <a:p>
                      <a:pPr marL="0" marR="0" algn="just">
                        <a:buNone/>
                      </a:pPr>
                      <a:r>
                        <a:rPr lang="hr-HR" sz="1200">
                          <a:effectLst/>
                        </a:rPr>
                        <a:t>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1.0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6.0015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1.0019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5.990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69109634"/>
                  </a:ext>
                </a:extLst>
              </a:tr>
            </a:tbl>
          </a:graphicData>
        </a:graphic>
      </p:graphicFrame>
    </p:spTree>
    <p:extLst>
      <p:ext uri="{BB962C8B-B14F-4D97-AF65-F5344CB8AC3E}">
        <p14:creationId xmlns:p14="http://schemas.microsoft.com/office/powerpoint/2010/main" val="1352372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A43ED-F37F-5CC8-1201-45538EAB1C5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02C0BEB-E380-9562-3166-6AF8AE079643}"/>
              </a:ext>
            </a:extLst>
          </p:cNvPr>
          <p:cNvSpPr/>
          <p:nvPr/>
        </p:nvSpPr>
        <p:spPr>
          <a:xfrm>
            <a:off x="0" y="0"/>
            <a:ext cx="12192000" cy="6858000"/>
          </a:xfrm>
          <a:prstGeom prst="rect">
            <a:avLst/>
          </a:prstGeom>
          <a:solidFill>
            <a:srgbClr val="EB7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F1EEF96-453B-4FE8-FFDC-803F5A8CBB99}"/>
              </a:ext>
            </a:extLst>
          </p:cNvPr>
          <p:cNvSpPr txBox="1"/>
          <p:nvPr/>
        </p:nvSpPr>
        <p:spPr>
          <a:xfrm>
            <a:off x="60156" y="96253"/>
            <a:ext cx="9131968" cy="400110"/>
          </a:xfrm>
          <a:prstGeom prst="rect">
            <a:avLst/>
          </a:prstGeom>
          <a:noFill/>
        </p:spPr>
        <p:txBody>
          <a:bodyPr wrap="square" rtlCol="0">
            <a:spAutoFit/>
          </a:bodyPr>
          <a:lstStyle/>
          <a:p>
            <a:r>
              <a:rPr lang="en-US" sz="2000" b="1">
                <a:solidFill>
                  <a:srgbClr val="EBE3A7"/>
                </a:solidFill>
                <a:latin typeface="Inter" panose="02000503000000020004" pitchFamily="2" charset="0"/>
                <a:ea typeface="Inter" panose="02000503000000020004" pitchFamily="2" charset="0"/>
              </a:rPr>
              <a:t>RA</a:t>
            </a:r>
            <a:r>
              <a:rPr lang="sr-Latn-BA" sz="2000" b="1">
                <a:solidFill>
                  <a:srgbClr val="EBE3A7"/>
                </a:solidFill>
                <a:latin typeface="Inter" panose="02000503000000020004" pitchFamily="2" charset="0"/>
                <a:ea typeface="Inter" panose="02000503000000020004" pitchFamily="2" charset="0"/>
              </a:rPr>
              <a:t>ČUNANJE PROSTIH BROJEVA</a:t>
            </a:r>
            <a:endParaRPr lang="en-US" sz="2000" b="1">
              <a:solidFill>
                <a:srgbClr val="EBE3A7"/>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14AD67CE-A9FA-83FD-EF81-150CC446113E}"/>
              </a:ext>
            </a:extLst>
          </p:cNvPr>
          <p:cNvSpPr txBox="1"/>
          <p:nvPr/>
        </p:nvSpPr>
        <p:spPr>
          <a:xfrm>
            <a:off x="60157" y="496363"/>
            <a:ext cx="4446336" cy="2677656"/>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Potrebno je odrediti koliko brojeva u opsegu od 200.000 do 230.000, odnosno ukupno 30.000 elemenata, ima osobinu prostog broja. Za svaki broj provjerava se djeljivost sa svim brojevima do njegovog kvadratnog korijena, pri čemu se koristi funkcija math.sqrt(n). Sekvencijalna verzija prolazi kroz cijeli raspon brojeva redom, unutar jedne niti glavnog procesa. Paralelna verzija prosljeđuje brojeve radnim procesima pojedinačno pomoću ProcessPoolExecutor().map(is_prime, numbers), bez prethodnog grupisanja brojeva u podnizove (chunking).</a:t>
            </a:r>
            <a:endParaRPr lang="en-US" sz="1400">
              <a:solidFill>
                <a:srgbClr val="2E2910"/>
              </a:solidFill>
              <a:latin typeface="Inter" panose="02000503000000020004" pitchFamily="2" charset="0"/>
              <a:ea typeface="Inter" panose="02000503000000020004" pitchFamily="2" charset="0"/>
            </a:endParaRPr>
          </a:p>
        </p:txBody>
      </p:sp>
      <p:sp>
        <p:nvSpPr>
          <p:cNvPr id="16" name="TextBox 15">
            <a:extLst>
              <a:ext uri="{FF2B5EF4-FFF2-40B4-BE49-F238E27FC236}">
                <a16:creationId xmlns:a16="http://schemas.microsoft.com/office/drawing/2014/main" id="{91143E46-617A-4499-0C85-912DED86E09B}"/>
              </a:ext>
            </a:extLst>
          </p:cNvPr>
          <p:cNvSpPr txBox="1"/>
          <p:nvPr/>
        </p:nvSpPr>
        <p:spPr>
          <a:xfrm>
            <a:off x="60156" y="4561005"/>
            <a:ext cx="4271210" cy="2031325"/>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Na testiranom opsegu od 30.000 elemenata, sekvencijalna verzija ostvarila je značajno bolje vrijeme izvršavanja u odnosu na paralelnu verziju. Sekvencijalna provjera trajala je svega 0,072 sekunde, dok je paralelnoj verziji bilo potrebno čak 8,000 sekundi. Na osnovu ovih rezultata, ostvareno ubrzanje iznosi 0,009, što znači da je paralelna verzija bila više od 110 puta sporija.</a:t>
            </a:r>
            <a:endParaRPr lang="en-US" sz="1400">
              <a:solidFill>
                <a:srgbClr val="2E2910"/>
              </a:solidFill>
              <a:latin typeface="Inter" panose="02000503000000020004" pitchFamily="2" charset="0"/>
              <a:ea typeface="Inter" panose="02000503000000020004" pitchFamily="2" charset="0"/>
            </a:endParaRPr>
          </a:p>
        </p:txBody>
      </p:sp>
      <p:pic>
        <p:nvPicPr>
          <p:cNvPr id="6" name="Picture 5">
            <a:extLst>
              <a:ext uri="{FF2B5EF4-FFF2-40B4-BE49-F238E27FC236}">
                <a16:creationId xmlns:a16="http://schemas.microsoft.com/office/drawing/2014/main" id="{00001574-A35D-96D8-4F78-7E38A88D8F6B}"/>
              </a:ext>
            </a:extLst>
          </p:cNvPr>
          <p:cNvPicPr>
            <a:picLocks noChangeAspect="1"/>
          </p:cNvPicPr>
          <p:nvPr/>
        </p:nvPicPr>
        <p:blipFill>
          <a:blip r:embed="rId2"/>
          <a:srcRect l="7751" r="8061"/>
          <a:stretch>
            <a:fillRect/>
          </a:stretch>
        </p:blipFill>
        <p:spPr>
          <a:xfrm>
            <a:off x="8534400" y="154451"/>
            <a:ext cx="3597442" cy="5719104"/>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24D4E151-AF88-200C-3FBC-19EF3957AF5E}"/>
              </a:ext>
            </a:extLst>
          </p:cNvPr>
          <p:cNvPicPr>
            <a:picLocks noChangeAspect="1"/>
          </p:cNvPicPr>
          <p:nvPr/>
        </p:nvPicPr>
        <p:blipFill>
          <a:blip r:embed="rId3"/>
          <a:srcRect l="6194"/>
          <a:stretch>
            <a:fillRect/>
          </a:stretch>
        </p:blipFill>
        <p:spPr>
          <a:xfrm>
            <a:off x="4566653" y="154451"/>
            <a:ext cx="3907589" cy="4567555"/>
          </a:xfrm>
          <a:prstGeom prst="rect">
            <a:avLst/>
          </a:prstGeom>
          <a:effectLst>
            <a:outerShdw blurRad="63500" sx="102000" sy="102000" algn="ctr"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3038CD4-C4C3-42A1-BFAD-9B35837D5AC5}"/>
                  </a:ext>
                </a:extLst>
              </p:cNvPr>
              <p:cNvSpPr txBox="1"/>
              <p:nvPr/>
            </p:nvSpPr>
            <p:spPr>
              <a:xfrm>
                <a:off x="-863268" y="3574129"/>
                <a:ext cx="6118058" cy="557076"/>
              </a:xfrm>
              <a:prstGeom prst="rect">
                <a:avLst/>
              </a:prstGeom>
              <a:noFill/>
            </p:spPr>
            <p:txBody>
              <a:bodyPr wrap="square">
                <a:spAutoFit/>
              </a:bodyPr>
              <a:lstStyle/>
              <a:p>
                <a:pPr/>
                <a14:m>
                  <m:oMathPara xmlns:m="http://schemas.openxmlformats.org/officeDocument/2006/math">
                    <m:oMath>
                      <m:r>
                        <m:rPr>
                          <m:nor/>
                        </m:rPr>
                        <a:rPr lang="en-US" sz="1400" b="0" i="0" smtClean="0">
                          <a:solidFill>
                            <a:srgbClr val="2E2910"/>
                          </a:solidFill>
                        </a:rPr>
                        <m:t>Ubrzanje</m:t>
                      </m:r>
                      <m:r>
                        <a:rPr lang="en-US" sz="1400" b="0" i="0">
                          <a:solidFill>
                            <a:srgbClr val="2E2910"/>
                          </a:solidFill>
                          <a:latin typeface="Cambria Math" panose="02040503050406030204" pitchFamily="18" charset="0"/>
                        </a:rPr>
                        <m:t>=</m:t>
                      </m:r>
                      <m:f>
                        <m:fPr>
                          <m:ctrlPr>
                            <a:rPr lang="en-US" sz="1400" b="0" i="1">
                              <a:solidFill>
                                <a:srgbClr val="2E2910"/>
                              </a:solidFill>
                              <a:latin typeface="Cambria Math" panose="02040503050406030204" pitchFamily="18" charset="0"/>
                            </a:rPr>
                          </m:ctrlPr>
                        </m:fPr>
                        <m:num>
                          <m:sSub>
                            <m:sSubPr>
                              <m:ctrlPr>
                                <a:rPr lang="en-US" sz="1400" b="0" i="1">
                                  <a:solidFill>
                                    <a:srgbClr val="2E2910"/>
                                  </a:solidFill>
                                  <a:latin typeface="Cambria Math" panose="02040503050406030204" pitchFamily="18" charset="0"/>
                                </a:rPr>
                              </m:ctrlPr>
                            </m:sSubPr>
                            <m:e>
                              <m:r>
                                <a:rPr lang="en-US" sz="1400" b="0" i="1">
                                  <a:solidFill>
                                    <a:srgbClr val="2E2910"/>
                                  </a:solidFill>
                                  <a:latin typeface="Cambria Math" panose="02040503050406030204" pitchFamily="18" charset="0"/>
                                </a:rPr>
                                <m:t>𝑇</m:t>
                              </m:r>
                            </m:e>
                            <m:sub>
                              <m:r>
                                <a:rPr lang="en-US" sz="1400" b="0" i="1">
                                  <a:solidFill>
                                    <a:srgbClr val="2E2910"/>
                                  </a:solidFill>
                                  <a:latin typeface="Cambria Math" panose="02040503050406030204" pitchFamily="18" charset="0"/>
                                </a:rPr>
                                <m:t>𝑠</m:t>
                              </m:r>
                            </m:sub>
                          </m:sSub>
                        </m:num>
                        <m:den>
                          <m:sSub>
                            <m:sSubPr>
                              <m:ctrlPr>
                                <a:rPr lang="en-US" sz="1400" b="0" i="1">
                                  <a:solidFill>
                                    <a:srgbClr val="2E2910"/>
                                  </a:solidFill>
                                  <a:latin typeface="Cambria Math" panose="02040503050406030204" pitchFamily="18" charset="0"/>
                                </a:rPr>
                              </m:ctrlPr>
                            </m:sSubPr>
                            <m:e>
                              <m:r>
                                <a:rPr lang="en-US" sz="1400" b="0" i="1">
                                  <a:solidFill>
                                    <a:srgbClr val="2E2910"/>
                                  </a:solidFill>
                                  <a:latin typeface="Cambria Math" panose="02040503050406030204" pitchFamily="18" charset="0"/>
                                </a:rPr>
                                <m:t>𝑇</m:t>
                              </m:r>
                            </m:e>
                            <m:sub>
                              <m:r>
                                <a:rPr lang="en-US" sz="1400" b="0" i="1">
                                  <a:solidFill>
                                    <a:srgbClr val="2E2910"/>
                                  </a:solidFill>
                                  <a:latin typeface="Cambria Math" panose="02040503050406030204" pitchFamily="18" charset="0"/>
                                </a:rPr>
                                <m:t>𝑝</m:t>
                              </m:r>
                            </m:sub>
                          </m:sSub>
                        </m:den>
                      </m:f>
                      <m:r>
                        <a:rPr lang="en-US" sz="1400" b="0" i="0">
                          <a:solidFill>
                            <a:srgbClr val="2E2910"/>
                          </a:solidFill>
                          <a:latin typeface="Cambria Math" panose="02040503050406030204" pitchFamily="18" charset="0"/>
                        </a:rPr>
                        <m:t>=</m:t>
                      </m:r>
                      <m:f>
                        <m:fPr>
                          <m:ctrlPr>
                            <a:rPr lang="en-US" sz="1400" b="0" i="0">
                              <a:solidFill>
                                <a:srgbClr val="2E2910"/>
                              </a:solidFill>
                              <a:latin typeface="Cambria Math" panose="02040503050406030204" pitchFamily="18" charset="0"/>
                            </a:rPr>
                          </m:ctrlPr>
                        </m:fPr>
                        <m:num>
                          <m:r>
                            <a:rPr lang="en-US" sz="1400" b="0" i="0">
                              <a:solidFill>
                                <a:srgbClr val="2E2910"/>
                              </a:solidFill>
                              <a:latin typeface="Cambria Math" panose="02040503050406030204" pitchFamily="18" charset="0"/>
                            </a:rPr>
                            <m:t>0.07193869992624968</m:t>
                          </m:r>
                        </m:num>
                        <m:den>
                          <m:r>
                            <a:rPr lang="en-US" sz="1400" b="0" i="0">
                              <a:solidFill>
                                <a:srgbClr val="2E2910"/>
                              </a:solidFill>
                              <a:latin typeface="Cambria Math" panose="02040503050406030204" pitchFamily="18" charset="0"/>
                            </a:rPr>
                            <m:t>7.999890799983405</m:t>
                          </m:r>
                        </m:den>
                      </m:f>
                      <m:r>
                        <a:rPr lang="en-US" sz="1400" b="0" i="0">
                          <a:solidFill>
                            <a:srgbClr val="2E2910"/>
                          </a:solidFill>
                          <a:latin typeface="Cambria Math" panose="02040503050406030204" pitchFamily="18" charset="0"/>
                        </a:rPr>
                        <m:t>≈</m:t>
                      </m:r>
                      <m:r>
                        <a:rPr lang="en-US" sz="1400" b="1" i="0">
                          <a:solidFill>
                            <a:srgbClr val="2E2910"/>
                          </a:solidFill>
                          <a:latin typeface="Cambria Math" panose="02040503050406030204" pitchFamily="18" charset="0"/>
                        </a:rPr>
                        <m:t>𝟎</m:t>
                      </m:r>
                      <m:r>
                        <a:rPr lang="en-US" sz="1400" b="0" i="0">
                          <a:solidFill>
                            <a:srgbClr val="2E2910"/>
                          </a:solidFill>
                          <a:latin typeface="Cambria Math" panose="02040503050406030204" pitchFamily="18" charset="0"/>
                        </a:rPr>
                        <m:t>.</m:t>
                      </m:r>
                      <m:r>
                        <a:rPr lang="en-US" sz="1400" b="1" i="0">
                          <a:solidFill>
                            <a:srgbClr val="2E2910"/>
                          </a:solidFill>
                          <a:latin typeface="Cambria Math" panose="02040503050406030204" pitchFamily="18" charset="0"/>
                        </a:rPr>
                        <m:t>𝟎𝟎𝟖𝟗𝟗𝟐</m:t>
                      </m:r>
                    </m:oMath>
                  </m:oMathPara>
                </a14:m>
                <a:endParaRPr lang="en-US" sz="1400">
                  <a:solidFill>
                    <a:srgbClr val="2E2910"/>
                  </a:solidFill>
                </a:endParaRPr>
              </a:p>
            </p:txBody>
          </p:sp>
        </mc:Choice>
        <mc:Fallback>
          <p:sp>
            <p:nvSpPr>
              <p:cNvPr id="12" name="TextBox 11">
                <a:extLst>
                  <a:ext uri="{FF2B5EF4-FFF2-40B4-BE49-F238E27FC236}">
                    <a16:creationId xmlns:a16="http://schemas.microsoft.com/office/drawing/2014/main" id="{33038CD4-C4C3-42A1-BFAD-9B35837D5AC5}"/>
                  </a:ext>
                </a:extLst>
              </p:cNvPr>
              <p:cNvSpPr txBox="1">
                <a:spLocks noRot="1" noChangeAspect="1" noMove="1" noResize="1" noEditPoints="1" noAdjustHandles="1" noChangeArrowheads="1" noChangeShapeType="1" noTextEdit="1"/>
              </p:cNvSpPr>
              <p:nvPr/>
            </p:nvSpPr>
            <p:spPr>
              <a:xfrm>
                <a:off x="-863268" y="3574129"/>
                <a:ext cx="6118058" cy="557076"/>
              </a:xfrm>
              <a:prstGeom prst="rect">
                <a:avLst/>
              </a:prstGeom>
              <a:blipFill>
                <a:blip r:embed="rId4"/>
                <a:stretch>
                  <a:fillRect/>
                </a:stretch>
              </a:blipFill>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40B51D97-7EF0-7C1B-1A1B-DDD00F2E5139}"/>
              </a:ext>
            </a:extLst>
          </p:cNvPr>
          <p:cNvGraphicFramePr>
            <a:graphicFrameLocks noGrp="1"/>
          </p:cNvGraphicFramePr>
          <p:nvPr>
            <p:extLst>
              <p:ext uri="{D42A27DB-BD31-4B8C-83A1-F6EECF244321}">
                <p14:modId xmlns:p14="http://schemas.microsoft.com/office/powerpoint/2010/main" val="1527356925"/>
              </p:ext>
            </p:extLst>
          </p:nvPr>
        </p:nvGraphicFramePr>
        <p:xfrm>
          <a:off x="4763829" y="6043690"/>
          <a:ext cx="5912868" cy="548640"/>
        </p:xfrm>
        <a:graphic>
          <a:graphicData uri="http://schemas.openxmlformats.org/drawingml/2006/table">
            <a:tbl>
              <a:tblPr firstRow="1" firstCol="1" bandRow="1">
                <a:effectLst>
                  <a:outerShdw blurRad="50800" dist="38100" dir="5400000" algn="t" rotWithShape="0">
                    <a:prstClr val="black">
                      <a:alpha val="40000"/>
                    </a:prstClr>
                  </a:outerShdw>
                </a:effectLst>
                <a:tableStyleId>{18603FDC-E32A-4AB5-989C-0864C3EAD2B8}</a:tableStyleId>
              </a:tblPr>
              <a:tblGrid>
                <a:gridCol w="1368425">
                  <a:extLst>
                    <a:ext uri="{9D8B030D-6E8A-4147-A177-3AD203B41FA5}">
                      <a16:colId xmlns:a16="http://schemas.microsoft.com/office/drawing/2014/main" val="2582412204"/>
                    </a:ext>
                  </a:extLst>
                </a:gridCol>
                <a:gridCol w="1006475">
                  <a:extLst>
                    <a:ext uri="{9D8B030D-6E8A-4147-A177-3AD203B41FA5}">
                      <a16:colId xmlns:a16="http://schemas.microsoft.com/office/drawing/2014/main" val="1624523092"/>
                    </a:ext>
                  </a:extLst>
                </a:gridCol>
                <a:gridCol w="169293">
                  <a:extLst>
                    <a:ext uri="{9D8B030D-6E8A-4147-A177-3AD203B41FA5}">
                      <a16:colId xmlns:a16="http://schemas.microsoft.com/office/drawing/2014/main" val="1524464820"/>
                    </a:ext>
                  </a:extLst>
                </a:gridCol>
                <a:gridCol w="993775">
                  <a:extLst>
                    <a:ext uri="{9D8B030D-6E8A-4147-A177-3AD203B41FA5}">
                      <a16:colId xmlns:a16="http://schemas.microsoft.com/office/drawing/2014/main" val="2907914453"/>
                    </a:ext>
                  </a:extLst>
                </a:gridCol>
                <a:gridCol w="1187450">
                  <a:extLst>
                    <a:ext uri="{9D8B030D-6E8A-4147-A177-3AD203B41FA5}">
                      <a16:colId xmlns:a16="http://schemas.microsoft.com/office/drawing/2014/main" val="2439585479"/>
                    </a:ext>
                  </a:extLst>
                </a:gridCol>
                <a:gridCol w="1187450">
                  <a:extLst>
                    <a:ext uri="{9D8B030D-6E8A-4147-A177-3AD203B41FA5}">
                      <a16:colId xmlns:a16="http://schemas.microsoft.com/office/drawing/2014/main" val="761303149"/>
                    </a:ext>
                  </a:extLst>
                </a:gridCol>
              </a:tblGrid>
              <a:tr h="0">
                <a:tc>
                  <a:txBody>
                    <a:bodyPr/>
                    <a:lstStyle/>
                    <a:p>
                      <a:pPr marL="0" marR="0" algn="just">
                        <a:buNone/>
                      </a:pPr>
                      <a:r>
                        <a:rPr lang="hr-HR" sz="1200">
                          <a:effectLst/>
                        </a:rPr>
                        <a:t>Interval brojeva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just">
                        <a:buNone/>
                      </a:pPr>
                      <a:r>
                        <a:rPr lang="hr-HR" sz="1200">
                          <a:effectLst/>
                        </a:rPr>
                        <a:t>Ukupno prostih brojeva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just">
                        <a:buNone/>
                      </a:pPr>
                      <a:r>
                        <a:rPr lang="hr-HR" sz="1200">
                          <a:effectLst/>
                        </a:rPr>
                        <a:t>Sekvencijalno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Paralelno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Ubrzanje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42300110"/>
                  </a:ext>
                </a:extLst>
              </a:tr>
              <a:tr h="0">
                <a:tc>
                  <a:txBody>
                    <a:bodyPr/>
                    <a:lstStyle/>
                    <a:p>
                      <a:pPr marL="0" marR="0" algn="l">
                        <a:buNone/>
                      </a:pPr>
                      <a:r>
                        <a:rPr lang="hr-HR" sz="1200">
                          <a:effectLst/>
                        </a:rPr>
                        <a:t>200.000 – 230.000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2.453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just">
                        <a:buNone/>
                      </a:pPr>
                      <a:r>
                        <a:rPr lang="hr-HR" sz="1200">
                          <a:effectLst/>
                        </a:rPr>
                        <a:t>0.072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just">
                        <a:buNone/>
                      </a:pPr>
                      <a:r>
                        <a:rPr lang="hr-HR" sz="1200">
                          <a:effectLst/>
                        </a:rPr>
                        <a:t>8.000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0.009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67855499"/>
                  </a:ext>
                </a:extLst>
              </a:tr>
            </a:tbl>
          </a:graphicData>
        </a:graphic>
      </p:graphicFrame>
    </p:spTree>
    <p:extLst>
      <p:ext uri="{BB962C8B-B14F-4D97-AF65-F5344CB8AC3E}">
        <p14:creationId xmlns:p14="http://schemas.microsoft.com/office/powerpoint/2010/main" val="1453447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2857-D252-D1C5-DD87-97B007AB5E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4AF2561-3CFB-6B84-5393-245B0BEA864C}"/>
              </a:ext>
            </a:extLst>
          </p:cNvPr>
          <p:cNvSpPr/>
          <p:nvPr/>
        </p:nvSpPr>
        <p:spPr>
          <a:xfrm>
            <a:off x="0" y="0"/>
            <a:ext cx="12192000" cy="6858000"/>
          </a:xfrm>
          <a:prstGeom prst="rect">
            <a:avLst/>
          </a:prstGeom>
          <a:solidFill>
            <a:srgbClr val="EB7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B64B27F-03F8-D097-8908-393CB900CD97}"/>
              </a:ext>
            </a:extLst>
          </p:cNvPr>
          <p:cNvSpPr txBox="1"/>
          <p:nvPr/>
        </p:nvSpPr>
        <p:spPr>
          <a:xfrm>
            <a:off x="60156" y="96253"/>
            <a:ext cx="9131968" cy="400110"/>
          </a:xfrm>
          <a:prstGeom prst="rect">
            <a:avLst/>
          </a:prstGeom>
          <a:noFill/>
        </p:spPr>
        <p:txBody>
          <a:bodyPr wrap="square" rtlCol="0">
            <a:spAutoFit/>
          </a:bodyPr>
          <a:lstStyle/>
          <a:p>
            <a:r>
              <a:rPr lang="en-US" sz="2000" b="1">
                <a:solidFill>
                  <a:srgbClr val="EBE3A7"/>
                </a:solidFill>
                <a:latin typeface="Inter" panose="02000503000000020004" pitchFamily="2" charset="0"/>
                <a:ea typeface="Inter" panose="02000503000000020004" pitchFamily="2" charset="0"/>
              </a:rPr>
              <a:t>RA</a:t>
            </a:r>
            <a:r>
              <a:rPr lang="sr-Latn-BA" sz="2000" b="1">
                <a:solidFill>
                  <a:srgbClr val="EBE3A7"/>
                </a:solidFill>
                <a:latin typeface="Inter" panose="02000503000000020004" pitchFamily="2" charset="0"/>
                <a:ea typeface="Inter" panose="02000503000000020004" pitchFamily="2" charset="0"/>
              </a:rPr>
              <a:t>ČUNANJE PROSTIH BROJEVA</a:t>
            </a:r>
            <a:endParaRPr lang="en-US" sz="2000" b="1">
              <a:solidFill>
                <a:srgbClr val="EBE3A7"/>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6E976D7E-D6CA-E19B-6F8C-FFE397F8A6C9}"/>
              </a:ext>
            </a:extLst>
          </p:cNvPr>
          <p:cNvSpPr txBox="1"/>
          <p:nvPr/>
        </p:nvSpPr>
        <p:spPr>
          <a:xfrm>
            <a:off x="60156" y="496363"/>
            <a:ext cx="4535907" cy="1815882"/>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Potrebno je konvertovati 1.000.000 tekstualnih elemenata, odnosno stringova u formatu tekstualni podatak broj i, u velika slova. Sekvencijalna verzija koristi standardno razumijevanje listi (list comprehension) i ugrađenu metodu text.upper(). Paralelna verzija dijeli podatke na blokove od po 1.000 elemenata (chunksize=1000) i distribuira ih radnim procesima pomoću ProcessPoolExecutor().</a:t>
            </a:r>
            <a:endParaRPr lang="en-US" sz="1400">
              <a:solidFill>
                <a:srgbClr val="2E2910"/>
              </a:solidFill>
              <a:latin typeface="Inter" panose="02000503000000020004" pitchFamily="2" charset="0"/>
              <a:ea typeface="Inter" panose="02000503000000020004" pitchFamily="2" charset="0"/>
            </a:endParaRPr>
          </a:p>
        </p:txBody>
      </p:sp>
      <p:sp>
        <p:nvSpPr>
          <p:cNvPr id="16" name="TextBox 15">
            <a:extLst>
              <a:ext uri="{FF2B5EF4-FFF2-40B4-BE49-F238E27FC236}">
                <a16:creationId xmlns:a16="http://schemas.microsoft.com/office/drawing/2014/main" id="{11B6D945-23FD-BC2E-47A7-DC52792743B6}"/>
              </a:ext>
            </a:extLst>
          </p:cNvPr>
          <p:cNvSpPr txBox="1"/>
          <p:nvPr/>
        </p:nvSpPr>
        <p:spPr>
          <a:xfrm>
            <a:off x="60156" y="3248753"/>
            <a:ext cx="4716381" cy="1384995"/>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Na skupu od 1.000.000 stringova, sekvencijalna verzija ostvarila je drastično bolje vrijeme izvršavanja. Sekvencijalna konverzija trajala je svega 0,082 sekunde, dok je paralelnoj verziji bilo potrebno 0,873 sekunde, što daje ubrzanje od 0,094, odnosno usporavanje veće od 10 puta.</a:t>
            </a:r>
            <a:endParaRPr lang="en-US" sz="1400">
              <a:solidFill>
                <a:srgbClr val="2E2910"/>
              </a:solidFill>
              <a:latin typeface="Inter" panose="02000503000000020004" pitchFamily="2" charset="0"/>
              <a:ea typeface="Inter" panose="02000503000000020004" pitchFamily="2" charset="0"/>
            </a:endParaRPr>
          </a:p>
        </p:txBody>
      </p:sp>
      <p:grpSp>
        <p:nvGrpSpPr>
          <p:cNvPr id="8" name="Group 7">
            <a:extLst>
              <a:ext uri="{FF2B5EF4-FFF2-40B4-BE49-F238E27FC236}">
                <a16:creationId xmlns:a16="http://schemas.microsoft.com/office/drawing/2014/main" id="{E4EE4211-7976-4288-AF1B-7D5400779910}"/>
              </a:ext>
            </a:extLst>
          </p:cNvPr>
          <p:cNvGrpSpPr/>
          <p:nvPr/>
        </p:nvGrpSpPr>
        <p:grpSpPr>
          <a:xfrm>
            <a:off x="5057274" y="96253"/>
            <a:ext cx="7074569" cy="6617498"/>
            <a:chOff x="4716378" y="96253"/>
            <a:chExt cx="7074569" cy="6617498"/>
          </a:xfrm>
          <a:effectLst>
            <a:outerShdw blurRad="50800" dist="38100" dir="5400000" algn="t" rotWithShape="0">
              <a:prstClr val="black">
                <a:alpha val="40000"/>
              </a:prstClr>
            </a:outerShdw>
          </a:effectLst>
        </p:grpSpPr>
        <p:pic>
          <p:nvPicPr>
            <p:cNvPr id="3" name="Picture 2">
              <a:extLst>
                <a:ext uri="{FF2B5EF4-FFF2-40B4-BE49-F238E27FC236}">
                  <a16:creationId xmlns:a16="http://schemas.microsoft.com/office/drawing/2014/main" id="{81C67F3A-6AFE-B80C-5C70-F5FE3F347B61}"/>
                </a:ext>
              </a:extLst>
            </p:cNvPr>
            <p:cNvPicPr>
              <a:picLocks noChangeAspect="1"/>
            </p:cNvPicPr>
            <p:nvPr/>
          </p:nvPicPr>
          <p:blipFill>
            <a:blip r:embed="rId2"/>
            <a:srcRect l="6748"/>
            <a:stretch>
              <a:fillRect/>
            </a:stretch>
          </p:blipFill>
          <p:spPr>
            <a:xfrm>
              <a:off x="4716378" y="96253"/>
              <a:ext cx="5109625" cy="3765884"/>
            </a:xfrm>
            <a:prstGeom prst="rect">
              <a:avLst/>
            </a:prstGeom>
          </p:spPr>
        </p:pic>
        <p:pic>
          <p:nvPicPr>
            <p:cNvPr id="5" name="Picture 4">
              <a:extLst>
                <a:ext uri="{FF2B5EF4-FFF2-40B4-BE49-F238E27FC236}">
                  <a16:creationId xmlns:a16="http://schemas.microsoft.com/office/drawing/2014/main" id="{8D706E73-EA6E-1564-507E-5A3D568185C4}"/>
                </a:ext>
              </a:extLst>
            </p:cNvPr>
            <p:cNvPicPr>
              <a:picLocks noChangeAspect="1"/>
            </p:cNvPicPr>
            <p:nvPr/>
          </p:nvPicPr>
          <p:blipFill>
            <a:blip r:embed="rId3"/>
            <a:srcRect l="5735" r="8435"/>
            <a:stretch>
              <a:fillRect/>
            </a:stretch>
          </p:blipFill>
          <p:spPr>
            <a:xfrm>
              <a:off x="6966285" y="2520682"/>
              <a:ext cx="4824662" cy="4193069"/>
            </a:xfrm>
            <a:prstGeom prst="rect">
              <a:avLst/>
            </a:prstGeom>
          </p:spPr>
        </p:pic>
      </p:gr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E1A7B73-6ABF-231C-0016-95E80E67F1AF}"/>
                  </a:ext>
                </a:extLst>
              </p:cNvPr>
              <p:cNvSpPr txBox="1"/>
              <p:nvPr/>
            </p:nvSpPr>
            <p:spPr>
              <a:xfrm>
                <a:off x="-811914" y="2526174"/>
                <a:ext cx="6093994" cy="561436"/>
              </a:xfrm>
              <a:prstGeom prst="rect">
                <a:avLst/>
              </a:prstGeom>
              <a:noFill/>
            </p:spPr>
            <p:txBody>
              <a:bodyPr wrap="square">
                <a:spAutoFit/>
              </a:bodyPr>
              <a:lstStyle/>
              <a:p>
                <a:pPr/>
                <a14:m>
                  <m:oMathPara xmlns:m="http://schemas.openxmlformats.org/officeDocument/2006/math">
                    <m:oMath>
                      <m:r>
                        <m:rPr>
                          <m:nor/>
                        </m:rPr>
                        <a:rPr lang="en-US" sz="1400" b="0" i="0" smtClean="0">
                          <a:solidFill>
                            <a:srgbClr val="2E2910"/>
                          </a:solidFill>
                        </a:rPr>
                        <m:t>Ubrzanje</m:t>
                      </m:r>
                      <m:r>
                        <a:rPr lang="en-US" sz="1400" b="0" i="0">
                          <a:solidFill>
                            <a:srgbClr val="2E2910"/>
                          </a:solidFill>
                          <a:latin typeface="Cambria Math" panose="02040503050406030204" pitchFamily="18" charset="0"/>
                        </a:rPr>
                        <m:t>=</m:t>
                      </m:r>
                      <m:f>
                        <m:fPr>
                          <m:ctrlPr>
                            <a:rPr lang="en-US" sz="1400" b="0" i="1">
                              <a:solidFill>
                                <a:srgbClr val="2E2910"/>
                              </a:solidFill>
                              <a:latin typeface="Cambria Math" panose="02040503050406030204" pitchFamily="18" charset="0"/>
                            </a:rPr>
                          </m:ctrlPr>
                        </m:fPr>
                        <m:num>
                          <m:sSub>
                            <m:sSubPr>
                              <m:ctrlPr>
                                <a:rPr lang="en-US" sz="1400" b="0" i="1">
                                  <a:solidFill>
                                    <a:srgbClr val="2E2910"/>
                                  </a:solidFill>
                                  <a:latin typeface="Cambria Math" panose="02040503050406030204" pitchFamily="18" charset="0"/>
                                </a:rPr>
                              </m:ctrlPr>
                            </m:sSubPr>
                            <m:e>
                              <m:r>
                                <a:rPr lang="en-US" sz="1400" b="0" i="1">
                                  <a:solidFill>
                                    <a:srgbClr val="2E2910"/>
                                  </a:solidFill>
                                  <a:latin typeface="Cambria Math" panose="02040503050406030204" pitchFamily="18" charset="0"/>
                                </a:rPr>
                                <m:t>𝑇</m:t>
                              </m:r>
                            </m:e>
                            <m:sub>
                              <m:r>
                                <a:rPr lang="en-US" sz="1400" b="0" i="1">
                                  <a:solidFill>
                                    <a:srgbClr val="2E2910"/>
                                  </a:solidFill>
                                  <a:latin typeface="Cambria Math" panose="02040503050406030204" pitchFamily="18" charset="0"/>
                                </a:rPr>
                                <m:t>𝑠</m:t>
                              </m:r>
                            </m:sub>
                          </m:sSub>
                        </m:num>
                        <m:den>
                          <m:sSub>
                            <m:sSubPr>
                              <m:ctrlPr>
                                <a:rPr lang="en-US" sz="1400" b="0" i="1">
                                  <a:solidFill>
                                    <a:srgbClr val="2E2910"/>
                                  </a:solidFill>
                                  <a:latin typeface="Cambria Math" panose="02040503050406030204" pitchFamily="18" charset="0"/>
                                </a:rPr>
                              </m:ctrlPr>
                            </m:sSubPr>
                            <m:e>
                              <m:r>
                                <a:rPr lang="en-US" sz="1400" b="0" i="1">
                                  <a:solidFill>
                                    <a:srgbClr val="2E2910"/>
                                  </a:solidFill>
                                  <a:latin typeface="Cambria Math" panose="02040503050406030204" pitchFamily="18" charset="0"/>
                                </a:rPr>
                                <m:t>𝑇</m:t>
                              </m:r>
                            </m:e>
                            <m:sub>
                              <m:r>
                                <a:rPr lang="en-US" sz="1400" b="0" i="1">
                                  <a:solidFill>
                                    <a:srgbClr val="2E2910"/>
                                  </a:solidFill>
                                  <a:latin typeface="Cambria Math" panose="02040503050406030204" pitchFamily="18" charset="0"/>
                                </a:rPr>
                                <m:t>𝑝</m:t>
                              </m:r>
                            </m:sub>
                          </m:sSub>
                        </m:den>
                      </m:f>
                      <m:r>
                        <a:rPr lang="en-US" sz="1400" b="0" i="0">
                          <a:solidFill>
                            <a:srgbClr val="2E2910"/>
                          </a:solidFill>
                          <a:latin typeface="Cambria Math" panose="02040503050406030204" pitchFamily="18" charset="0"/>
                        </a:rPr>
                        <m:t>=</m:t>
                      </m:r>
                      <m:f>
                        <m:fPr>
                          <m:ctrlPr>
                            <a:rPr lang="en-US" sz="1400" b="0" i="0">
                              <a:solidFill>
                                <a:srgbClr val="2E2910"/>
                              </a:solidFill>
                              <a:latin typeface="Cambria Math" panose="02040503050406030204" pitchFamily="18" charset="0"/>
                            </a:rPr>
                          </m:ctrlPr>
                        </m:fPr>
                        <m:num>
                          <m:r>
                            <a:rPr lang="en-US" sz="1400" b="0" i="0">
                              <a:solidFill>
                                <a:srgbClr val="2E2910"/>
                              </a:solidFill>
                              <a:latin typeface="Cambria Math" panose="02040503050406030204" pitchFamily="18" charset="0"/>
                            </a:rPr>
                            <m:t>0.08230060001369566</m:t>
                          </m:r>
                        </m:num>
                        <m:den>
                          <m:r>
                            <a:rPr lang="en-US" sz="1400" b="0" i="0">
                              <a:solidFill>
                                <a:srgbClr val="2E2910"/>
                              </a:solidFill>
                              <a:latin typeface="Cambria Math" panose="02040503050406030204" pitchFamily="18" charset="0"/>
                            </a:rPr>
                            <m:t>0.8727903999388218</m:t>
                          </m:r>
                        </m:den>
                      </m:f>
                      <m:r>
                        <a:rPr lang="en-US" sz="1400" b="0" i="0">
                          <a:solidFill>
                            <a:srgbClr val="2E2910"/>
                          </a:solidFill>
                          <a:latin typeface="Cambria Math" panose="02040503050406030204" pitchFamily="18" charset="0"/>
                        </a:rPr>
                        <m:t>≈</m:t>
                      </m:r>
                      <m:r>
                        <a:rPr lang="en-US" sz="1400" b="1" i="0">
                          <a:solidFill>
                            <a:srgbClr val="2E2910"/>
                          </a:solidFill>
                          <a:latin typeface="Cambria Math" panose="02040503050406030204" pitchFamily="18" charset="0"/>
                        </a:rPr>
                        <m:t>𝟎</m:t>
                      </m:r>
                      <m:r>
                        <a:rPr lang="en-US" sz="1400" b="0" i="0">
                          <a:solidFill>
                            <a:srgbClr val="2E2910"/>
                          </a:solidFill>
                          <a:latin typeface="Cambria Math" panose="02040503050406030204" pitchFamily="18" charset="0"/>
                        </a:rPr>
                        <m:t>.</m:t>
                      </m:r>
                      <m:r>
                        <a:rPr lang="en-US" sz="1400" b="1" i="0">
                          <a:solidFill>
                            <a:srgbClr val="2E2910"/>
                          </a:solidFill>
                          <a:latin typeface="Cambria Math" panose="02040503050406030204" pitchFamily="18" charset="0"/>
                        </a:rPr>
                        <m:t>𝟎𝟗𝟒𝟐𝟗𝟔</m:t>
                      </m:r>
                    </m:oMath>
                  </m:oMathPara>
                </a14:m>
                <a:endParaRPr lang="en-US" sz="1400">
                  <a:solidFill>
                    <a:srgbClr val="2E2910"/>
                  </a:solidFill>
                </a:endParaRPr>
              </a:p>
            </p:txBody>
          </p:sp>
        </mc:Choice>
        <mc:Fallback>
          <p:sp>
            <p:nvSpPr>
              <p:cNvPr id="11" name="TextBox 10">
                <a:extLst>
                  <a:ext uri="{FF2B5EF4-FFF2-40B4-BE49-F238E27FC236}">
                    <a16:creationId xmlns:a16="http://schemas.microsoft.com/office/drawing/2014/main" id="{CE1A7B73-6ABF-231C-0016-95E80E67F1AF}"/>
                  </a:ext>
                </a:extLst>
              </p:cNvPr>
              <p:cNvSpPr txBox="1">
                <a:spLocks noRot="1" noChangeAspect="1" noMove="1" noResize="1" noEditPoints="1" noAdjustHandles="1" noChangeArrowheads="1" noChangeShapeType="1" noTextEdit="1"/>
              </p:cNvSpPr>
              <p:nvPr/>
            </p:nvSpPr>
            <p:spPr>
              <a:xfrm>
                <a:off x="-811914" y="2526174"/>
                <a:ext cx="6093994" cy="561436"/>
              </a:xfrm>
              <a:prstGeom prst="rect">
                <a:avLst/>
              </a:prstGeom>
              <a:blipFill>
                <a:blip r:embed="rId4"/>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C1633DBB-6D0D-F066-740C-62E5082AD7B8}"/>
              </a:ext>
            </a:extLst>
          </p:cNvPr>
          <p:cNvGraphicFramePr>
            <a:graphicFrameLocks noGrp="1"/>
          </p:cNvGraphicFramePr>
          <p:nvPr>
            <p:extLst>
              <p:ext uri="{D42A27DB-BD31-4B8C-83A1-F6EECF244321}">
                <p14:modId xmlns:p14="http://schemas.microsoft.com/office/powerpoint/2010/main" val="2778893632"/>
              </p:ext>
            </p:extLst>
          </p:nvPr>
        </p:nvGraphicFramePr>
        <p:xfrm>
          <a:off x="403058" y="4902401"/>
          <a:ext cx="6252075" cy="1200353"/>
        </p:xfrm>
        <a:graphic>
          <a:graphicData uri="http://schemas.openxmlformats.org/drawingml/2006/table">
            <a:tbl>
              <a:tblPr firstRow="1" firstCol="1" bandRow="1">
                <a:effectLst>
                  <a:outerShdw blurRad="50800" dist="38100" dir="5400000" algn="t" rotWithShape="0">
                    <a:prstClr val="black">
                      <a:alpha val="40000"/>
                    </a:prstClr>
                  </a:outerShdw>
                </a:effectLst>
                <a:tableStyleId>{7E9639D4-E3E2-4D34-9284-5A2195B3D0D7}</a:tableStyleId>
              </a:tblPr>
              <a:tblGrid>
                <a:gridCol w="1250415">
                  <a:extLst>
                    <a:ext uri="{9D8B030D-6E8A-4147-A177-3AD203B41FA5}">
                      <a16:colId xmlns:a16="http://schemas.microsoft.com/office/drawing/2014/main" val="1716103497"/>
                    </a:ext>
                  </a:extLst>
                </a:gridCol>
                <a:gridCol w="1250415">
                  <a:extLst>
                    <a:ext uri="{9D8B030D-6E8A-4147-A177-3AD203B41FA5}">
                      <a16:colId xmlns:a16="http://schemas.microsoft.com/office/drawing/2014/main" val="3024063452"/>
                    </a:ext>
                  </a:extLst>
                </a:gridCol>
                <a:gridCol w="1467733">
                  <a:extLst>
                    <a:ext uri="{9D8B030D-6E8A-4147-A177-3AD203B41FA5}">
                      <a16:colId xmlns:a16="http://schemas.microsoft.com/office/drawing/2014/main" val="2351711271"/>
                    </a:ext>
                  </a:extLst>
                </a:gridCol>
                <a:gridCol w="1033097">
                  <a:extLst>
                    <a:ext uri="{9D8B030D-6E8A-4147-A177-3AD203B41FA5}">
                      <a16:colId xmlns:a16="http://schemas.microsoft.com/office/drawing/2014/main" val="3206702654"/>
                    </a:ext>
                  </a:extLst>
                </a:gridCol>
                <a:gridCol w="1250415">
                  <a:extLst>
                    <a:ext uri="{9D8B030D-6E8A-4147-A177-3AD203B41FA5}">
                      <a16:colId xmlns:a16="http://schemas.microsoft.com/office/drawing/2014/main" val="3090853434"/>
                    </a:ext>
                  </a:extLst>
                </a:gridCol>
              </a:tblGrid>
              <a:tr h="800236">
                <a:tc>
                  <a:txBody>
                    <a:bodyPr/>
                    <a:lstStyle/>
                    <a:p>
                      <a:pPr marL="0" marR="0" algn="just">
                        <a:buNone/>
                      </a:pPr>
                      <a:r>
                        <a:rPr lang="hr-HR" sz="1200">
                          <a:effectLst/>
                        </a:rPr>
                        <a:t>Ukupan broj elemenata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Dužina ulaznog bloka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Sekvencijalno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Paralelno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Ubrzanje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3033876"/>
                  </a:ext>
                </a:extLst>
              </a:tr>
              <a:tr h="400117">
                <a:tc>
                  <a:txBody>
                    <a:bodyPr/>
                    <a:lstStyle/>
                    <a:p>
                      <a:pPr marL="0" marR="0" algn="just">
                        <a:buNone/>
                      </a:pPr>
                      <a:r>
                        <a:rPr lang="hr-HR" sz="1200">
                          <a:effectLst/>
                        </a:rPr>
                        <a:t>1.000.000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0.082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0.873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0.094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32895108"/>
                  </a:ext>
                </a:extLst>
              </a:tr>
            </a:tbl>
          </a:graphicData>
        </a:graphic>
      </p:graphicFrame>
    </p:spTree>
    <p:extLst>
      <p:ext uri="{BB962C8B-B14F-4D97-AF65-F5344CB8AC3E}">
        <p14:creationId xmlns:p14="http://schemas.microsoft.com/office/powerpoint/2010/main" val="1174604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3A5C4-7065-AAAA-35E9-A2F6AFDCC4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CC7801-ED39-4D3F-17C6-7FA45458432A}"/>
              </a:ext>
            </a:extLst>
          </p:cNvPr>
          <p:cNvSpPr/>
          <p:nvPr/>
        </p:nvSpPr>
        <p:spPr>
          <a:xfrm>
            <a:off x="0" y="0"/>
            <a:ext cx="12192000" cy="6858000"/>
          </a:xfrm>
          <a:prstGeom prst="rect">
            <a:avLst/>
          </a:prstGeom>
          <a:solidFill>
            <a:srgbClr val="EB7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582A3AB-FE0A-C721-9944-8B6F7571440D}"/>
              </a:ext>
            </a:extLst>
          </p:cNvPr>
          <p:cNvSpPr txBox="1"/>
          <p:nvPr/>
        </p:nvSpPr>
        <p:spPr>
          <a:xfrm>
            <a:off x="6489032" y="47360"/>
            <a:ext cx="5642812" cy="707886"/>
          </a:xfrm>
          <a:prstGeom prst="rect">
            <a:avLst/>
          </a:prstGeom>
          <a:noFill/>
        </p:spPr>
        <p:txBody>
          <a:bodyPr wrap="square" rtlCol="0">
            <a:spAutoFit/>
          </a:bodyPr>
          <a:lstStyle/>
          <a:p>
            <a:pPr algn="r"/>
            <a:r>
              <a:rPr lang="en-US" sz="2000" b="1">
                <a:solidFill>
                  <a:srgbClr val="EBE3A7"/>
                </a:solidFill>
                <a:latin typeface="Inter" panose="02000503000000020004" pitchFamily="2" charset="0"/>
                <a:ea typeface="Inter" panose="02000503000000020004" pitchFamily="2" charset="0"/>
              </a:rPr>
              <a:t>TRA</a:t>
            </a:r>
            <a:r>
              <a:rPr lang="sr-Latn-BA" sz="2000" b="1">
                <a:solidFill>
                  <a:srgbClr val="EBE3A7"/>
                </a:solidFill>
                <a:latin typeface="Inter" panose="02000503000000020004" pitchFamily="2" charset="0"/>
                <a:ea typeface="Inter" panose="02000503000000020004" pitchFamily="2" charset="0"/>
              </a:rPr>
              <a:t>ŽENJE MAKSIMALNE</a:t>
            </a:r>
          </a:p>
          <a:p>
            <a:pPr algn="r"/>
            <a:r>
              <a:rPr lang="sr-Latn-BA" sz="2000" b="1">
                <a:solidFill>
                  <a:srgbClr val="EBE3A7"/>
                </a:solidFill>
                <a:latin typeface="Inter" panose="02000503000000020004" pitchFamily="2" charset="0"/>
                <a:ea typeface="Inter" panose="02000503000000020004" pitchFamily="2" charset="0"/>
              </a:rPr>
              <a:t>VRIJEDNOSTI U DIJELOVIMA LISTE</a:t>
            </a:r>
            <a:endParaRPr lang="en-US" sz="2000" b="1">
              <a:solidFill>
                <a:srgbClr val="EBE3A7"/>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A8ECCF37-4055-33AB-0F88-3E4B4F350E9B}"/>
              </a:ext>
            </a:extLst>
          </p:cNvPr>
          <p:cNvSpPr txBox="1"/>
          <p:nvPr/>
        </p:nvSpPr>
        <p:spPr>
          <a:xfrm>
            <a:off x="7595937" y="755246"/>
            <a:ext cx="4535907" cy="2893100"/>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Potrebno je pronaći maksimalnu vrijednost u listi od 5.000.000 nasumično generisanih cijelih brojeva, pri čemu se vrijednosti nalaze u opsegu od 1 do 100.000.000. Sekvencijalna verzija koristi ugrađenu funkciju max(numbers) nad čitavom listom unutar glavnog procesa. Paralelna verzija dijeli listu na blokove (chunks) u skladu sa brojem raspoloživih CPU jezgara, koji se određuje pomoću cpu_count(). Za svaki blok se pomoću ProcessPoolExecutor() izračunava parcijalni maksimum, nakon čega se konačni maksimum pronalazi primjenom funkcije max(partial_maximums) nad dobijenim parcijalnim rezultatima.</a:t>
            </a:r>
            <a:endParaRPr lang="en-US" sz="1400">
              <a:solidFill>
                <a:srgbClr val="2E2910"/>
              </a:solidFill>
              <a:latin typeface="Inter" panose="02000503000000020004" pitchFamily="2" charset="0"/>
              <a:ea typeface="Inter" panose="02000503000000020004" pitchFamily="2" charset="0"/>
            </a:endParaRPr>
          </a:p>
        </p:txBody>
      </p:sp>
      <p:sp>
        <p:nvSpPr>
          <p:cNvPr id="16" name="TextBox 15">
            <a:extLst>
              <a:ext uri="{FF2B5EF4-FFF2-40B4-BE49-F238E27FC236}">
                <a16:creationId xmlns:a16="http://schemas.microsoft.com/office/drawing/2014/main" id="{12B8B60E-2D84-E46F-7F7F-8AFF6DD7261F}"/>
              </a:ext>
            </a:extLst>
          </p:cNvPr>
          <p:cNvSpPr txBox="1"/>
          <p:nvPr/>
        </p:nvSpPr>
        <p:spPr>
          <a:xfrm>
            <a:off x="7595937" y="5306726"/>
            <a:ext cx="4535907" cy="1384995"/>
          </a:xfrm>
          <a:prstGeom prst="rect">
            <a:avLst/>
          </a:prstGeom>
          <a:noFill/>
        </p:spPr>
        <p:txBody>
          <a:bodyPr wrap="square" rtlCol="0">
            <a:spAutoFit/>
          </a:bodyPr>
          <a:lstStyle/>
          <a:p>
            <a:pPr algn="just"/>
            <a:r>
              <a:rPr lang="hr-HR" sz="1400">
                <a:solidFill>
                  <a:srgbClr val="2E2910"/>
                </a:solidFill>
                <a:latin typeface="Inter" panose="02000503000000020004" pitchFamily="2" charset="0"/>
                <a:ea typeface="Inter" panose="02000503000000020004" pitchFamily="2" charset="0"/>
              </a:rPr>
              <a:t>Na skupu od 5.000.000 elemenata, sekvencijalna verzija ostvarila je znatno bolje vrijeme izvršavanja. Sekvencijalna pretraga trajala je svega 0,058 sekundi, dok je paralelnoj verziji bilo potrebno 0,590 sekundi, što daje ubrzanje od 0,098, odnosno usporavanje veće od 10 puta.</a:t>
            </a:r>
            <a:endParaRPr lang="en-US" sz="1400">
              <a:solidFill>
                <a:srgbClr val="2E2910"/>
              </a:solidFill>
              <a:latin typeface="Inter" panose="02000503000000020004" pitchFamily="2" charset="0"/>
              <a:ea typeface="Inter" panose="02000503000000020004" pitchFamily="2" charset="0"/>
            </a:endParaRPr>
          </a:p>
        </p:txBody>
      </p:sp>
      <p:grpSp>
        <p:nvGrpSpPr>
          <p:cNvPr id="13" name="Group 12">
            <a:extLst>
              <a:ext uri="{FF2B5EF4-FFF2-40B4-BE49-F238E27FC236}">
                <a16:creationId xmlns:a16="http://schemas.microsoft.com/office/drawing/2014/main" id="{0653AC78-958C-DB86-19A0-9FD77683A22F}"/>
              </a:ext>
            </a:extLst>
          </p:cNvPr>
          <p:cNvGrpSpPr/>
          <p:nvPr/>
        </p:nvGrpSpPr>
        <p:grpSpPr>
          <a:xfrm>
            <a:off x="60156" y="47360"/>
            <a:ext cx="6428876" cy="6701584"/>
            <a:chOff x="60156" y="47360"/>
            <a:chExt cx="6428876" cy="6701584"/>
          </a:xfrm>
          <a:effectLst>
            <a:outerShdw blurRad="50800" dist="38100" dir="5400000" algn="t" rotWithShape="0">
              <a:prstClr val="black">
                <a:alpha val="40000"/>
              </a:prstClr>
            </a:outerShdw>
          </a:effectLst>
        </p:grpSpPr>
        <p:pic>
          <p:nvPicPr>
            <p:cNvPr id="7" name="Picture 6">
              <a:extLst>
                <a:ext uri="{FF2B5EF4-FFF2-40B4-BE49-F238E27FC236}">
                  <a16:creationId xmlns:a16="http://schemas.microsoft.com/office/drawing/2014/main" id="{5C46E968-261F-7D62-A2BE-A1C8BEC68BBF}"/>
                </a:ext>
              </a:extLst>
            </p:cNvPr>
            <p:cNvPicPr>
              <a:picLocks noChangeAspect="1"/>
            </p:cNvPicPr>
            <p:nvPr/>
          </p:nvPicPr>
          <p:blipFill>
            <a:blip r:embed="rId2"/>
            <a:srcRect l="5303"/>
            <a:stretch>
              <a:fillRect/>
            </a:stretch>
          </p:blipFill>
          <p:spPr>
            <a:xfrm>
              <a:off x="60156" y="47360"/>
              <a:ext cx="4403524" cy="4311736"/>
            </a:xfrm>
            <a:prstGeom prst="rect">
              <a:avLst/>
            </a:prstGeom>
          </p:spPr>
        </p:pic>
        <p:pic>
          <p:nvPicPr>
            <p:cNvPr id="6" name="Picture 5">
              <a:extLst>
                <a:ext uri="{FF2B5EF4-FFF2-40B4-BE49-F238E27FC236}">
                  <a16:creationId xmlns:a16="http://schemas.microsoft.com/office/drawing/2014/main" id="{F1FBD4DA-3F13-85C4-4760-97E5DD90F5EF}"/>
                </a:ext>
              </a:extLst>
            </p:cNvPr>
            <p:cNvPicPr>
              <a:picLocks noChangeAspect="1"/>
            </p:cNvPicPr>
            <p:nvPr/>
          </p:nvPicPr>
          <p:blipFill>
            <a:blip r:embed="rId3"/>
            <a:srcRect l="3414" r="44752"/>
            <a:stretch>
              <a:fillRect/>
            </a:stretch>
          </p:blipFill>
          <p:spPr>
            <a:xfrm>
              <a:off x="1848482" y="3429000"/>
              <a:ext cx="4640550" cy="3319944"/>
            </a:xfrm>
            <a:prstGeom prst="rect">
              <a:avLst/>
            </a:prstGeom>
          </p:spPr>
        </p:pic>
      </p:gr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7825D09-3E22-61E2-F235-9797D3C43A5F}"/>
                  </a:ext>
                </a:extLst>
              </p:cNvPr>
              <p:cNvSpPr txBox="1"/>
              <p:nvPr/>
            </p:nvSpPr>
            <p:spPr>
              <a:xfrm>
                <a:off x="6795838" y="3648346"/>
                <a:ext cx="6130088" cy="561436"/>
              </a:xfrm>
              <a:prstGeom prst="rect">
                <a:avLst/>
              </a:prstGeom>
              <a:noFill/>
            </p:spPr>
            <p:txBody>
              <a:bodyPr wrap="square">
                <a:spAutoFit/>
              </a:bodyPr>
              <a:lstStyle/>
              <a:p>
                <a:pPr/>
                <a14:m>
                  <m:oMathPara xmlns:m="http://schemas.openxmlformats.org/officeDocument/2006/math">
                    <m:oMath>
                      <m:r>
                        <m:rPr>
                          <m:nor/>
                        </m:rPr>
                        <a:rPr lang="en-US" sz="1400" b="0" i="0" smtClean="0"/>
                        <m:t>Ubrzanje</m:t>
                      </m:r>
                      <m:r>
                        <a:rPr lang="en-US" sz="1400" b="0" i="0">
                          <a:latin typeface="Cambria Math" panose="02040503050406030204" pitchFamily="18" charset="0"/>
                        </a:rPr>
                        <m:t>=</m:t>
                      </m:r>
                      <m:f>
                        <m:fPr>
                          <m:ctrlPr>
                            <a:rPr lang="en-US" sz="1400" b="0" i="1">
                              <a:latin typeface="Cambria Math" panose="02040503050406030204" pitchFamily="18" charset="0"/>
                            </a:rPr>
                          </m:ctrlPr>
                        </m:fPr>
                        <m:num>
                          <m:sSub>
                            <m:sSubPr>
                              <m:ctrlPr>
                                <a:rPr lang="en-US" sz="1400" b="0" i="1">
                                  <a:latin typeface="Cambria Math" panose="02040503050406030204" pitchFamily="18" charset="0"/>
                                </a:rPr>
                              </m:ctrlPr>
                            </m:sSubPr>
                            <m:e>
                              <m:r>
                                <a:rPr lang="en-US" sz="1400" b="0" i="1">
                                  <a:latin typeface="Cambria Math" panose="02040503050406030204" pitchFamily="18" charset="0"/>
                                </a:rPr>
                                <m:t>𝑇</m:t>
                              </m:r>
                            </m:e>
                            <m:sub>
                              <m:r>
                                <a:rPr lang="en-US" sz="1400" b="0" i="1">
                                  <a:latin typeface="Cambria Math" panose="02040503050406030204" pitchFamily="18" charset="0"/>
                                </a:rPr>
                                <m:t>𝑠</m:t>
                              </m:r>
                            </m:sub>
                          </m:sSub>
                        </m:num>
                        <m:den>
                          <m:sSub>
                            <m:sSubPr>
                              <m:ctrlPr>
                                <a:rPr lang="en-US" sz="1400" b="0" i="1">
                                  <a:latin typeface="Cambria Math" panose="02040503050406030204" pitchFamily="18" charset="0"/>
                                </a:rPr>
                              </m:ctrlPr>
                            </m:sSubPr>
                            <m:e>
                              <m:r>
                                <a:rPr lang="en-US" sz="1400" b="0" i="1">
                                  <a:latin typeface="Cambria Math" panose="02040503050406030204" pitchFamily="18" charset="0"/>
                                </a:rPr>
                                <m:t>𝑇</m:t>
                              </m:r>
                            </m:e>
                            <m:sub>
                              <m:r>
                                <a:rPr lang="en-US" sz="1400" b="0" i="1">
                                  <a:latin typeface="Cambria Math" panose="02040503050406030204" pitchFamily="18" charset="0"/>
                                </a:rPr>
                                <m:t>𝑝</m:t>
                              </m:r>
                            </m:sub>
                          </m:sSub>
                        </m:den>
                      </m:f>
                      <m:r>
                        <a:rPr lang="en-US" sz="1400" b="0" i="0">
                          <a:latin typeface="Cambria Math" panose="02040503050406030204" pitchFamily="18" charset="0"/>
                        </a:rPr>
                        <m:t>=</m:t>
                      </m:r>
                      <m:f>
                        <m:fPr>
                          <m:ctrlPr>
                            <a:rPr lang="en-US" sz="1400" b="0" i="0">
                              <a:latin typeface="Cambria Math" panose="02040503050406030204" pitchFamily="18" charset="0"/>
                            </a:rPr>
                          </m:ctrlPr>
                        </m:fPr>
                        <m:num>
                          <m:r>
                            <a:rPr lang="en-US" sz="1400" b="0" i="0">
                              <a:latin typeface="Cambria Math" panose="02040503050406030204" pitchFamily="18" charset="0"/>
                            </a:rPr>
                            <m:t>0.0578094000229612</m:t>
                          </m:r>
                        </m:num>
                        <m:den>
                          <m:r>
                            <a:rPr lang="en-US" sz="1400" b="0" i="0">
                              <a:latin typeface="Cambria Math" panose="02040503050406030204" pitchFamily="18" charset="0"/>
                            </a:rPr>
                            <m:t>0.5904614999890327</m:t>
                          </m:r>
                        </m:den>
                      </m:f>
                      <m:r>
                        <a:rPr lang="en-US" sz="1400" b="0" i="0">
                          <a:latin typeface="Cambria Math" panose="02040503050406030204" pitchFamily="18" charset="0"/>
                        </a:rPr>
                        <m:t>≈</m:t>
                      </m:r>
                      <m:r>
                        <a:rPr lang="en-US" sz="1400" b="1" i="0">
                          <a:latin typeface="Cambria Math" panose="02040503050406030204" pitchFamily="18" charset="0"/>
                        </a:rPr>
                        <m:t>𝟎</m:t>
                      </m:r>
                      <m:r>
                        <a:rPr lang="en-US" sz="1400" b="0" i="0">
                          <a:latin typeface="Cambria Math" panose="02040503050406030204" pitchFamily="18" charset="0"/>
                        </a:rPr>
                        <m:t>.</m:t>
                      </m:r>
                      <m:r>
                        <a:rPr lang="en-US" sz="1400" b="1" i="0">
                          <a:latin typeface="Cambria Math" panose="02040503050406030204" pitchFamily="18" charset="0"/>
                        </a:rPr>
                        <m:t>𝟎𝟗𝟕𝟗𝟎𝟓</m:t>
                      </m:r>
                    </m:oMath>
                  </m:oMathPara>
                </a14:m>
                <a:endParaRPr lang="en-US" sz="1400"/>
              </a:p>
            </p:txBody>
          </p:sp>
        </mc:Choice>
        <mc:Fallback>
          <p:sp>
            <p:nvSpPr>
              <p:cNvPr id="12" name="TextBox 11">
                <a:extLst>
                  <a:ext uri="{FF2B5EF4-FFF2-40B4-BE49-F238E27FC236}">
                    <a16:creationId xmlns:a16="http://schemas.microsoft.com/office/drawing/2014/main" id="{27825D09-3E22-61E2-F235-9797D3C43A5F}"/>
                  </a:ext>
                </a:extLst>
              </p:cNvPr>
              <p:cNvSpPr txBox="1">
                <a:spLocks noRot="1" noChangeAspect="1" noMove="1" noResize="1" noEditPoints="1" noAdjustHandles="1" noChangeArrowheads="1" noChangeShapeType="1" noTextEdit="1"/>
              </p:cNvSpPr>
              <p:nvPr/>
            </p:nvSpPr>
            <p:spPr>
              <a:xfrm>
                <a:off x="6795838" y="3648346"/>
                <a:ext cx="6130088" cy="561436"/>
              </a:xfrm>
              <a:prstGeom prst="rect">
                <a:avLst/>
              </a:prstGeom>
              <a:blipFill>
                <a:blip r:embed="rId4"/>
                <a:stretch>
                  <a:fillRect/>
                </a:stretch>
              </a:blipFill>
            </p:spPr>
            <p:txBody>
              <a:bodyPr/>
              <a:lstStyle/>
              <a:p>
                <a:r>
                  <a:rPr lang="en-US">
                    <a:noFill/>
                  </a:rPr>
                  <a:t> </a:t>
                </a:r>
              </a:p>
            </p:txBody>
          </p:sp>
        </mc:Fallback>
      </mc:AlternateContent>
      <p:graphicFrame>
        <p:nvGraphicFramePr>
          <p:cNvPr id="15" name="Table 14">
            <a:extLst>
              <a:ext uri="{FF2B5EF4-FFF2-40B4-BE49-F238E27FC236}">
                <a16:creationId xmlns:a16="http://schemas.microsoft.com/office/drawing/2014/main" id="{AD5C0859-F69E-F520-AA00-983A75E31616}"/>
              </a:ext>
            </a:extLst>
          </p:cNvPr>
          <p:cNvGraphicFramePr>
            <a:graphicFrameLocks noGrp="1"/>
          </p:cNvGraphicFramePr>
          <p:nvPr>
            <p:extLst>
              <p:ext uri="{D42A27DB-BD31-4B8C-83A1-F6EECF244321}">
                <p14:modId xmlns:p14="http://schemas.microsoft.com/office/powerpoint/2010/main" val="1159682611"/>
              </p:ext>
            </p:extLst>
          </p:nvPr>
        </p:nvGraphicFramePr>
        <p:xfrm>
          <a:off x="6795838" y="4293144"/>
          <a:ext cx="5237410" cy="795828"/>
        </p:xfrm>
        <a:graphic>
          <a:graphicData uri="http://schemas.openxmlformats.org/drawingml/2006/table">
            <a:tbl>
              <a:tblPr firstRow="1" firstCol="1" bandRow="1">
                <a:effectLst>
                  <a:outerShdw blurRad="50800" dist="38100" dir="5400000" algn="t" rotWithShape="0">
                    <a:prstClr val="black">
                      <a:alpha val="40000"/>
                    </a:prstClr>
                  </a:outerShdw>
                </a:effectLst>
                <a:tableStyleId>{37CE84F3-28C3-443E-9E96-99CF82512B78}</a:tableStyleId>
              </a:tblPr>
              <a:tblGrid>
                <a:gridCol w="1047482">
                  <a:extLst>
                    <a:ext uri="{9D8B030D-6E8A-4147-A177-3AD203B41FA5}">
                      <a16:colId xmlns:a16="http://schemas.microsoft.com/office/drawing/2014/main" val="3590588238"/>
                    </a:ext>
                  </a:extLst>
                </a:gridCol>
                <a:gridCol w="1047482">
                  <a:extLst>
                    <a:ext uri="{9D8B030D-6E8A-4147-A177-3AD203B41FA5}">
                      <a16:colId xmlns:a16="http://schemas.microsoft.com/office/drawing/2014/main" val="816435431"/>
                    </a:ext>
                  </a:extLst>
                </a:gridCol>
                <a:gridCol w="1047482">
                  <a:extLst>
                    <a:ext uri="{9D8B030D-6E8A-4147-A177-3AD203B41FA5}">
                      <a16:colId xmlns:a16="http://schemas.microsoft.com/office/drawing/2014/main" val="2788494090"/>
                    </a:ext>
                  </a:extLst>
                </a:gridCol>
                <a:gridCol w="1047482">
                  <a:extLst>
                    <a:ext uri="{9D8B030D-6E8A-4147-A177-3AD203B41FA5}">
                      <a16:colId xmlns:a16="http://schemas.microsoft.com/office/drawing/2014/main" val="2023041284"/>
                    </a:ext>
                  </a:extLst>
                </a:gridCol>
                <a:gridCol w="1047482">
                  <a:extLst>
                    <a:ext uri="{9D8B030D-6E8A-4147-A177-3AD203B41FA5}">
                      <a16:colId xmlns:a16="http://schemas.microsoft.com/office/drawing/2014/main" val="2861406676"/>
                    </a:ext>
                  </a:extLst>
                </a:gridCol>
              </a:tblGrid>
              <a:tr h="561907">
                <a:tc>
                  <a:txBody>
                    <a:bodyPr/>
                    <a:lstStyle/>
                    <a:p>
                      <a:pPr marL="0" marR="0" algn="just">
                        <a:buNone/>
                      </a:pPr>
                      <a:r>
                        <a:rPr lang="hr-HR" sz="1200">
                          <a:effectLst/>
                        </a:rPr>
                        <a:t>Ukupan broj elemenata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Pronađena maksimalna vrijednost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Sekvencijalno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Paralelno (s)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Ubrzanje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4751173"/>
                  </a:ext>
                </a:extLst>
              </a:tr>
              <a:tr h="233921">
                <a:tc>
                  <a:txBody>
                    <a:bodyPr/>
                    <a:lstStyle/>
                    <a:p>
                      <a:pPr marL="0" marR="0" algn="just">
                        <a:buNone/>
                      </a:pPr>
                      <a:r>
                        <a:rPr lang="hr-HR" sz="1200">
                          <a:effectLst/>
                        </a:rPr>
                        <a:t>5.000.000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99.999.936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0.058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0.590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hr-HR" sz="1200">
                          <a:effectLst/>
                        </a:rPr>
                        <a:t>0.098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5359753"/>
                  </a:ext>
                </a:extLst>
              </a:tr>
            </a:tbl>
          </a:graphicData>
        </a:graphic>
      </p:graphicFrame>
    </p:spTree>
    <p:extLst>
      <p:ext uri="{BB962C8B-B14F-4D97-AF65-F5344CB8AC3E}">
        <p14:creationId xmlns:p14="http://schemas.microsoft.com/office/powerpoint/2010/main" val="2124639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99416-0B37-113D-B89A-D6EB1BF30CC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DF2052F-9FE8-695E-0425-87C746929766}"/>
              </a:ext>
            </a:extLst>
          </p:cNvPr>
          <p:cNvSpPr/>
          <p:nvPr/>
        </p:nvSpPr>
        <p:spPr>
          <a:xfrm>
            <a:off x="0" y="0"/>
            <a:ext cx="12192000" cy="6858000"/>
          </a:xfrm>
          <a:prstGeom prst="rect">
            <a:avLst/>
          </a:prstGeom>
          <a:solidFill>
            <a:srgbClr val="EB7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9DFE3D6-2C04-33E9-A640-C94DC3C74186}"/>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6096000" y="0"/>
            <a:ext cx="6604585" cy="8629790"/>
          </a:xfrm>
          <a:prstGeom prst="rect">
            <a:avLst/>
          </a:prstGeom>
        </p:spPr>
      </p:pic>
      <p:sp>
        <p:nvSpPr>
          <p:cNvPr id="5" name="TextBox 4">
            <a:extLst>
              <a:ext uri="{FF2B5EF4-FFF2-40B4-BE49-F238E27FC236}">
                <a16:creationId xmlns:a16="http://schemas.microsoft.com/office/drawing/2014/main" id="{0EF9A992-987F-C51C-3B29-1F455F10FE05}"/>
              </a:ext>
            </a:extLst>
          </p:cNvPr>
          <p:cNvSpPr txBox="1"/>
          <p:nvPr/>
        </p:nvSpPr>
        <p:spPr>
          <a:xfrm>
            <a:off x="144380" y="2191237"/>
            <a:ext cx="12192000" cy="2123658"/>
          </a:xfrm>
          <a:prstGeom prst="rect">
            <a:avLst/>
          </a:prstGeom>
          <a:noFill/>
        </p:spPr>
        <p:txBody>
          <a:bodyPr wrap="square" rtlCol="0">
            <a:spAutoFit/>
          </a:bodyPr>
          <a:lstStyle/>
          <a:p>
            <a:r>
              <a:rPr lang="sr-Latn-BA" sz="6600">
                <a:solidFill>
                  <a:srgbClr val="2C5745"/>
                </a:solidFill>
                <a:latin typeface="Impact" panose="020B0806030902050204" pitchFamily="34" charset="0"/>
              </a:rPr>
              <a:t>HVALA VAM NA PAŽNJI.</a:t>
            </a:r>
          </a:p>
          <a:p>
            <a:endParaRPr lang="sr-Latn-BA" sz="6600">
              <a:solidFill>
                <a:srgbClr val="2C5745"/>
              </a:solidFill>
              <a:latin typeface="Impact" panose="020B0806030902050204" pitchFamily="34" charset="0"/>
            </a:endParaRPr>
          </a:p>
        </p:txBody>
      </p:sp>
    </p:spTree>
    <p:extLst>
      <p:ext uri="{BB962C8B-B14F-4D97-AF65-F5344CB8AC3E}">
        <p14:creationId xmlns:p14="http://schemas.microsoft.com/office/powerpoint/2010/main" val="3120072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1000</Words>
  <Application>Microsoft Office PowerPoint</Application>
  <PresentationFormat>Widescreen</PresentationFormat>
  <Paragraphs>81</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Cambria Math</vt:lpstr>
      <vt:lpstr>Calibri Light</vt:lpstr>
      <vt:lpstr>Inter</vt:lpstr>
      <vt:lpstr>Impact</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ipdeveloper2001@gmail.com</dc:creator>
  <cp:lastModifiedBy>ipdeveloper2001@gmail.com</cp:lastModifiedBy>
  <cp:revision>2</cp:revision>
  <dcterms:created xsi:type="dcterms:W3CDTF">2026-09-09T02:25:34Z</dcterms:created>
  <dcterms:modified xsi:type="dcterms:W3CDTF">2026-09-09T02:58:41Z</dcterms:modified>
</cp:coreProperties>
</file>