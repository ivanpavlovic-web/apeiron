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444444"/>
    <a:srgbClr val="E56043"/>
    <a:srgbClr val="2E2E2E"/>
    <a:srgbClr val="FF2A2A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4210-35AC-B0E9-1C02-FA893E25D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05034-3942-A93F-F693-2E57E995D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0DB1B-4915-C29A-625E-344C0804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0498F-AA10-ACA8-3231-C2EA5669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62C6-AAB7-5711-90C4-B6235C4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8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375B-0710-5AA2-E43A-450D7F65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46525-DDEC-0872-A7DE-7ABCC84A7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D12F1-19EA-0EF7-722B-F6F89F69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A836F-EDA8-6D5D-D922-CEA3A6D6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58C4B-70B8-052C-2FE8-4076D195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7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6234-CD0C-4C91-5B3A-DE780FB0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1A33C-C500-7B6A-2DF1-8A25CD48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789B4-4065-C37B-95A9-A4870839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1B613-73B6-DDC3-E45A-ADADA630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F5015-CB8D-66BE-D401-C47B696A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1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9D44-F442-D4B2-73E9-4FC3A643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FAF32-D69D-3725-9CD8-447083DFE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A7D0D-B2E6-0E9B-A9D6-0D3B023E3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A29D-9588-F92C-0CE3-83550FC1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96737-8781-029E-E551-D231A34A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215A2-E225-DDA6-CBF1-06CFE274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E9FB-B293-4BB0-1EC6-A120B2EF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7F86A-5A87-ABFF-6EE3-53384A2D6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F8782-D950-8EC3-5D83-05EAF3E87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C9D2C-253C-A61A-B86D-EDB3CFC29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C837D-E648-BAE1-829E-45A59C58A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8D1FE-31C9-D52E-4386-727B8767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33C94-B91C-05C0-10DD-AC99D6AE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FA8C7-B801-9D25-79F3-7738CCB4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7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4C15-539C-5E17-8841-DC6528E2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C3AFE-5539-4E12-6824-6B8F6228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1FDE1-A753-0433-5EEE-9E8EE0E2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15CFC-C1BD-F23A-9596-9F8A202C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94C07-26BF-F298-A464-B586BFE0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CDA47-DFD1-D290-BC3F-696FA5B4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16D51-CF93-43F8-9DE6-1CFB2762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1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D1FA-93D2-FEE2-BBB2-86DF6402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219CE-F67C-5BCB-DE97-5BA5509A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3C987-87A6-265D-4BAB-E55C0C7C2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C4680-5D9E-7D9D-904B-0AF32078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19E65-44C6-4634-E61D-DEBD8E96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F5C99-F1AF-6B46-682B-9C558636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6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35F6-DB8D-02D9-3779-546FED69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3B09A6-3537-A6FF-0958-6857568AD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49F30-9059-23DD-BFB8-D5066E6D6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17C0B-2CA7-DD34-5E14-33A8E9EE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1A4F5-69B1-E91E-80EF-C515BB16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28D1A-5A05-D0FB-DBA4-4A32926F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9A4B-2423-5D27-B30F-8A86852D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C4DD2-5B27-228B-2892-00B4AB63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B3C90-3205-8D97-7D6F-EA95B6A4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0C946-7637-CFB0-1E07-F2584A13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5A21-7F7C-45EF-DBCD-A2F1540C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8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37B93-3653-AC00-1ADF-5BEA56C67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55F09-04A8-A3C7-86DF-955816256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43E4A-D959-E02F-CB6D-229A2D14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EE9FA-E757-C0AA-A15D-BA389A17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81AA3-8368-E050-13CF-CE5E7852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3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3952C-6A91-4EE1-079F-08B2B7733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32BB0-28D0-0E49-39B3-50DF06EA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43BF6-4C88-AA5E-0CEB-2D4BD10CB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E76BA-EABC-43CB-8003-79FAFFBC1FE8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52CA3-2E4E-198B-C154-62003D558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0F91-4220-1339-C155-EFB761CB9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4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45B5223-C147-3903-EC35-03DCC9216B7B}"/>
              </a:ext>
            </a:extLst>
          </p:cNvPr>
          <p:cNvSpPr/>
          <p:nvPr/>
        </p:nvSpPr>
        <p:spPr>
          <a:xfrm>
            <a:off x="0" y="0"/>
            <a:ext cx="10684042" cy="685800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39CD9-7AE6-57F0-4A2C-67F79CC324D2}"/>
              </a:ext>
            </a:extLst>
          </p:cNvPr>
          <p:cNvSpPr txBox="1"/>
          <p:nvPr/>
        </p:nvSpPr>
        <p:spPr>
          <a:xfrm>
            <a:off x="187018" y="591672"/>
            <a:ext cx="9888906" cy="286232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000" b="1" i="1">
                <a:solidFill>
                  <a:srgbClr val="E56043"/>
                </a:solidFill>
                <a:effectLst/>
                <a:latin typeface="Jost" pitchFamily="2" charset="0"/>
                <a:ea typeface="Jost" pitchFamily="2" charset="0"/>
              </a:rPr>
              <a:t>SVELTE</a:t>
            </a:r>
            <a:endParaRPr lang="en-US" sz="18000" i="1">
              <a:solidFill>
                <a:srgbClr val="E56043"/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4DB21-FFEA-A4F4-E67E-29F0C6977266}"/>
              </a:ext>
            </a:extLst>
          </p:cNvPr>
          <p:cNvSpPr txBox="1"/>
          <p:nvPr/>
        </p:nvSpPr>
        <p:spPr>
          <a:xfrm>
            <a:off x="290650" y="2999243"/>
            <a:ext cx="8599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200" b="1" i="1">
                <a:solidFill>
                  <a:schemeClr val="bg1"/>
                </a:solidFill>
                <a:effectLst/>
                <a:latin typeface="Jost" pitchFamily="2" charset="0"/>
                <a:ea typeface="Jost" pitchFamily="2" charset="0"/>
              </a:rPr>
              <a:t>Pregled i implementacija u razvoju modernih web aplikacija</a:t>
            </a:r>
            <a:endParaRPr lang="en-US" sz="2200" i="1">
              <a:solidFill>
                <a:schemeClr val="bg1"/>
              </a:solidFill>
              <a:effectLst/>
              <a:latin typeface="Jost" pitchFamily="2" charset="0"/>
              <a:ea typeface="Jost" pitchFamily="2" charset="0"/>
            </a:endParaRPr>
          </a:p>
          <a:p>
            <a:endParaRPr lang="en-US" sz="2200" i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C5678-FC3C-5C82-CCF9-0B32CE54783A}"/>
              </a:ext>
            </a:extLst>
          </p:cNvPr>
          <p:cNvSpPr txBox="1"/>
          <p:nvPr/>
        </p:nvSpPr>
        <p:spPr>
          <a:xfrm>
            <a:off x="261042" y="6319096"/>
            <a:ext cx="4194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Jost" pitchFamily="2" charset="0"/>
                <a:ea typeface="Jost" pitchFamily="2" charset="0"/>
              </a:rPr>
              <a:t>Ivan Pavlovi</a:t>
            </a:r>
            <a:r>
              <a:rPr lang="sr-Latn-BA" sz="1600">
                <a:latin typeface="Jost" pitchFamily="2" charset="0"/>
                <a:ea typeface="Jost" pitchFamily="2" charset="0"/>
              </a:rPr>
              <a:t>ć </a:t>
            </a:r>
            <a:r>
              <a:rPr lang="en-US" sz="1600">
                <a:latin typeface="Jost" pitchFamily="2" charset="0"/>
                <a:ea typeface="Jost" pitchFamily="2" charset="0"/>
              </a:rPr>
              <a:t>| 92-20 RITP/S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0FA53-D19E-6A1B-69FA-20D6AFCF9570}"/>
              </a:ext>
            </a:extLst>
          </p:cNvPr>
          <p:cNvSpPr txBox="1"/>
          <p:nvPr/>
        </p:nvSpPr>
        <p:spPr>
          <a:xfrm>
            <a:off x="513705" y="4480425"/>
            <a:ext cx="6504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200" b="1">
                <a:solidFill>
                  <a:schemeClr val="tx1">
                    <a:lumMod val="50000"/>
                    <a:lumOff val="50000"/>
                  </a:schemeClr>
                </a:solidFill>
                <a:latin typeface="Jost" pitchFamily="2" charset="0"/>
                <a:ea typeface="Jost" pitchFamily="2" charset="0"/>
              </a:rPr>
              <a:t>Viši programski jezici i RAD alati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2B1A407-A0B3-F205-EBD8-0623519B1EEE}"/>
              </a:ext>
            </a:extLst>
          </p:cNvPr>
          <p:cNvSpPr/>
          <p:nvPr/>
        </p:nvSpPr>
        <p:spPr>
          <a:xfrm rot="21433570">
            <a:off x="6055778" y="-2577126"/>
            <a:ext cx="12272443" cy="10579692"/>
          </a:xfrm>
          <a:prstGeom prst="triangle">
            <a:avLst/>
          </a:prstGeom>
          <a:solidFill>
            <a:srgbClr val="2E2E2E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D436211-96C8-3550-A65C-07CC18CF0ED6}"/>
              </a:ext>
            </a:extLst>
          </p:cNvPr>
          <p:cNvSpPr/>
          <p:nvPr/>
        </p:nvSpPr>
        <p:spPr>
          <a:xfrm rot="21433570">
            <a:off x="6474677" y="-2577124"/>
            <a:ext cx="12272443" cy="10579692"/>
          </a:xfrm>
          <a:prstGeom prst="triangle">
            <a:avLst/>
          </a:prstGeom>
          <a:solidFill>
            <a:srgbClr val="1A1A1A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8E6708-A75C-A3EE-649B-C101B387F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908" y="5293428"/>
            <a:ext cx="3200768" cy="113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1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4" y="235670"/>
            <a:ext cx="436461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FRAMEWORK</a:t>
            </a:r>
            <a:endParaRPr lang="en-US" sz="2800" b="1">
              <a:solidFill>
                <a:schemeClr val="bg2">
                  <a:lumMod val="2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4" y="1085850"/>
            <a:ext cx="10470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1600">
                <a:latin typeface="Jost" pitchFamily="2" charset="0"/>
                <a:ea typeface="Jost" pitchFamily="2" charset="0"/>
              </a:rPr>
              <a:t>Svelte je kompajler za kreiranje </a:t>
            </a:r>
            <a:r>
              <a:rPr lang="sr-Latn-BA" sz="1600" u="sng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reaktivnih</a:t>
            </a:r>
            <a:r>
              <a:rPr lang="sr-Latn-BA" sz="1600">
                <a:latin typeface="Jost" pitchFamily="2" charset="0"/>
                <a:ea typeface="Jost" pitchFamily="2" charset="0"/>
              </a:rPr>
              <a:t> web aplikacija i interfejsa.</a:t>
            </a:r>
          </a:p>
          <a:p>
            <a:pPr algn="just"/>
            <a:endParaRPr lang="sr-Latn-BA" sz="1600">
              <a:latin typeface="Jost" pitchFamily="2" charset="0"/>
              <a:ea typeface="Jost" pitchFamily="2" charset="0"/>
            </a:endParaRPr>
          </a:p>
          <a:p>
            <a:pPr algn="just"/>
            <a:r>
              <a:rPr lang="en-US" sz="1600">
                <a:latin typeface="Jost" pitchFamily="2" charset="0"/>
                <a:ea typeface="Jost" pitchFamily="2" charset="0"/>
              </a:rPr>
              <a:t>Svelte je besplatan, open-source okvir za front-end razvoj koji je kreirao Rich Harris, a održava ga Svelte core tim. Za razliku od klasičnih JavaScript biblioteka, Svelte kompajlira HTML šablone u specifičan kod koji direktno manipuliše DOM-om, smanjujući veličinu fajlova i poboljšavajući performanse. Kompajler automatski ažurira podatke i UI elemente kad god dođe do promjena.</a:t>
            </a:r>
            <a:endParaRPr lang="sr-Latn-BA" sz="1600">
              <a:latin typeface="Jost" pitchFamily="2" charset="0"/>
              <a:ea typeface="Jost" pitchFamily="2" charset="0"/>
            </a:endParaRPr>
          </a:p>
          <a:p>
            <a:pPr algn="just"/>
            <a:endParaRPr lang="sr-Latn-BA" sz="1600">
              <a:latin typeface="Jost" pitchFamily="2" charset="0"/>
              <a:ea typeface="Jost" pitchFamily="2" charset="0"/>
            </a:endParaRPr>
          </a:p>
          <a:p>
            <a:pPr algn="just"/>
            <a:r>
              <a:rPr lang="en-US" sz="1600">
                <a:latin typeface="Jost" pitchFamily="2" charset="0"/>
                <a:ea typeface="Jost" pitchFamily="2" charset="0"/>
              </a:rPr>
              <a:t>Za razliku od okvira kao što su React i Vue, Svelte izbjegava virtuelni DOM i obradu u runtime-u, čime smanjuje opterećenje pretraživača.</a:t>
            </a:r>
          </a:p>
        </p:txBody>
      </p:sp>
      <p:pic>
        <p:nvPicPr>
          <p:cNvPr id="1026" name="Picture 2" descr="Svelte Dark - Visual Studio Marketplace">
            <a:extLst>
              <a:ext uri="{FF2B5EF4-FFF2-40B4-BE49-F238E27FC236}">
                <a16:creationId xmlns:a16="http://schemas.microsoft.com/office/drawing/2014/main" id="{3C183416-137B-5D45-B545-0B5DDC938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6" y="3463827"/>
            <a:ext cx="517907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A22FED-4F62-D712-4D99-05FE17EA7844}"/>
              </a:ext>
            </a:extLst>
          </p:cNvPr>
          <p:cNvSpPr txBox="1"/>
          <p:nvPr/>
        </p:nvSpPr>
        <p:spPr>
          <a:xfrm>
            <a:off x="5838825" y="3844826"/>
            <a:ext cx="59572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>
                <a:latin typeface="Jost" pitchFamily="2" charset="0"/>
                <a:ea typeface="Jost" pitchFamily="2" charset="0"/>
              </a:rPr>
              <a:t>Prikaz jednostavne Svelte sintakse:</a:t>
            </a:r>
          </a:p>
          <a:p>
            <a:endParaRPr lang="sr-Latn-BA" b="1">
              <a:latin typeface="Jost" pitchFamily="2" charset="0"/>
              <a:ea typeface="Jost" pitchFamily="2" charset="0"/>
            </a:endParaRPr>
          </a:p>
          <a:p>
            <a:r>
              <a:rPr lang="en-US" b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&lt;script&gt; </a:t>
            </a:r>
            <a:r>
              <a:rPr lang="en-US" b="1">
                <a:latin typeface="Jost" pitchFamily="2" charset="0"/>
                <a:ea typeface="Jost" pitchFamily="2" charset="0"/>
              </a:rPr>
              <a:t>- JavaScript </a:t>
            </a:r>
          </a:p>
          <a:p>
            <a:endParaRPr lang="en-US" b="1">
              <a:latin typeface="Jost" pitchFamily="2" charset="0"/>
              <a:ea typeface="Jost" pitchFamily="2" charset="0"/>
            </a:endParaRPr>
          </a:p>
          <a:p>
            <a:r>
              <a:rPr lang="en-US" b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&lt;main&gt; </a:t>
            </a:r>
            <a:r>
              <a:rPr lang="en-US" b="1">
                <a:latin typeface="Jost" pitchFamily="2" charset="0"/>
                <a:ea typeface="Jost" pitchFamily="2" charset="0"/>
              </a:rPr>
              <a:t>- HTML</a:t>
            </a:r>
          </a:p>
          <a:p>
            <a:endParaRPr lang="en-US" b="1">
              <a:latin typeface="Jost" pitchFamily="2" charset="0"/>
              <a:ea typeface="Jost" pitchFamily="2" charset="0"/>
            </a:endParaRPr>
          </a:p>
          <a:p>
            <a:r>
              <a:rPr lang="en-US" b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&lt;style&gt; </a:t>
            </a:r>
            <a:r>
              <a:rPr lang="en-US" b="1">
                <a:latin typeface="Jost" pitchFamily="2" charset="0"/>
                <a:ea typeface="Jost" pitchFamily="2" charset="0"/>
              </a:rPr>
              <a:t>- CSS</a:t>
            </a:r>
          </a:p>
        </p:txBody>
      </p:sp>
    </p:spTree>
    <p:extLst>
      <p:ext uri="{BB962C8B-B14F-4D97-AF65-F5344CB8AC3E}">
        <p14:creationId xmlns:p14="http://schemas.microsoft.com/office/powerpoint/2010/main" val="3476271815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4" y="235670"/>
            <a:ext cx="5813196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KORIST </a:t>
            </a:r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FRAMEWORK</a:t>
            </a:r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-a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4" y="1282110"/>
            <a:ext cx="675617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 se može koristiti za razvoj dijelova interfejsa ili cijelih aplikacija. Može se postepeno integrisati u postojeće projekte ili koristiti od nule. Posebno je pogodan za:</a:t>
            </a:r>
          </a:p>
          <a:p>
            <a:pPr algn="just"/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Web aplikacije za uređaje sa slabijim performansama zbog manjih paketa i manje potrošnje resursa.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Visoko interaktivne stranice i složene vizualizacije zahvaljujući performansama bez runtime opterećenja.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Razvojne timove sa osnovnim znanjem web tehnologija, jer ima plitku krivu učenja.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Progresivne web aplikacije, koje se brzo učitavaju i funkcionišu offline.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SSR aplikacije, poput blogova i e-commerce sajtova, zbog bolje SEO optimizacije i brzine.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IoT kontrolne ploče, jer je efikasan u radu sa osviježavanjem podataka.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Aplikacije sa animacijama i tranzicijama, jer Svelte ima ugrađenu podršku za njih.</a:t>
            </a:r>
          </a:p>
          <a:p>
            <a:pPr algn="just"/>
            <a:endParaRPr lang="en-US" sz="1400">
              <a:latin typeface="Jost" pitchFamily="2" charset="0"/>
              <a:ea typeface="Jost" pitchFamily="2" charset="0"/>
            </a:endParaRPr>
          </a:p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SvelteKit, dodatni okvir, donosi moderne funkcionalnosti poput SSR-a, rutiranja i offline podrške.</a:t>
            </a:r>
          </a:p>
        </p:txBody>
      </p:sp>
      <p:pic>
        <p:nvPicPr>
          <p:cNvPr id="2050" name="Picture 2" descr="Svelte • Cybernetically enhanced web apps">
            <a:extLst>
              <a:ext uri="{FF2B5EF4-FFF2-40B4-BE49-F238E27FC236}">
                <a16:creationId xmlns:a16="http://schemas.microsoft.com/office/drawing/2014/main" id="{A6296EB4-0BB7-8CB5-9375-A65D897D4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64173">
            <a:off x="4695826" y="3759913"/>
            <a:ext cx="91440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69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vs. React, Angular, Vue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3" y="1282110"/>
            <a:ext cx="7051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 je </a:t>
            </a:r>
            <a:r>
              <a:rPr lang="en-US" sz="1400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KOMPAJLER</a:t>
            </a:r>
            <a:r>
              <a:rPr lang="en-US" sz="1400">
                <a:latin typeface="Jost" pitchFamily="2" charset="0"/>
                <a:ea typeface="Jost" pitchFamily="2" charset="0"/>
              </a:rPr>
              <a:t> i nije framework, jer Svelte kompajluje na</a:t>
            </a:r>
            <a:r>
              <a:rPr lang="sr-Latn-BA" sz="1400">
                <a:latin typeface="Jost" pitchFamily="2" charset="0"/>
                <a:ea typeface="Jost" pitchFamily="2" charset="0"/>
              </a:rPr>
              <a:t>š kod za production u trenutnom vremenu pravljenja aplikacije tj. tokom kucanja samog koda i sav naš kod premješta u JavaScript Bundle za daljnu optimizaciju.</a:t>
            </a:r>
          </a:p>
          <a:p>
            <a:pPr algn="just"/>
            <a:endParaRPr lang="sr-Latn-BA" sz="1400">
              <a:latin typeface="Jost" pitchFamily="2" charset="0"/>
              <a:ea typeface="Jost" pitchFamily="2" charset="0"/>
            </a:endParaRPr>
          </a:p>
          <a:p>
            <a:pPr algn="just"/>
            <a:r>
              <a:rPr lang="sr-Latn-BA" sz="1400">
                <a:latin typeface="Jost" pitchFamily="2" charset="0"/>
                <a:ea typeface="Jost" pitchFamily="2" charset="0"/>
              </a:rPr>
              <a:t>Svelte ne ubacuje dodatne skripte i biblioteke u naše aplikacije, što ih čini znatno bržima.</a:t>
            </a:r>
            <a:endParaRPr lang="en-US" sz="1400">
              <a:latin typeface="Jost" pitchFamily="2" charset="0"/>
              <a:ea typeface="Jos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701B14-CAF5-F754-59AB-7A007CC0C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28" y="2936781"/>
            <a:ext cx="6806322" cy="3070844"/>
          </a:xfrm>
          <a:prstGeom prst="rect">
            <a:avLst/>
          </a:prstGeom>
          <a:effectLst>
            <a:glow rad="101600">
              <a:srgbClr val="FF2A2A">
                <a:alpha val="60000"/>
              </a:srgb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A6536-18E9-64C0-18DB-539990DC5595}"/>
              </a:ext>
            </a:extLst>
          </p:cNvPr>
          <p:cNvSpPr txBox="1"/>
          <p:nvPr/>
        </p:nvSpPr>
        <p:spPr>
          <a:xfrm>
            <a:off x="7487998" y="3573839"/>
            <a:ext cx="43284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U poređenju sa drugim framework-ovima poput React-a, Angular-a i Vue-a, Svelte se ističe kao kompajler, a ne tradicionalni framework zasnovan na biblioteci. Dok React ima veliku podršku zajednice, Angular nudi stabilnost i moćne alatke, a Vue je svestran, Svelte koristi kompajliranje za optimizaciju performansi.</a:t>
            </a:r>
          </a:p>
        </p:txBody>
      </p:sp>
    </p:spTree>
    <p:extLst>
      <p:ext uri="{BB962C8B-B14F-4D97-AF65-F5344CB8AC3E}">
        <p14:creationId xmlns:p14="http://schemas.microsoft.com/office/powerpoint/2010/main" val="217873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KOMPONENTE I SINTAKSA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3" y="1020500"/>
            <a:ext cx="6396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 komponente kombinuju HTML, CSS i JavaScript unutar jednog fajla sa ekstenzijom .svelte. Struktura se sastoji od tri dijela: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CBD8BC-344D-2681-64AE-D7102A9F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434" y="1638699"/>
            <a:ext cx="3250380" cy="3544776"/>
          </a:xfrm>
          <a:prstGeom prst="rect">
            <a:avLst/>
          </a:prstGeom>
          <a:effectLst>
            <a:glow rad="101600">
              <a:srgbClr val="FF2A2A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B1B227-4994-1318-A07D-18F5B27C7A04}"/>
              </a:ext>
            </a:extLst>
          </p:cNvPr>
          <p:cNvSpPr txBox="1"/>
          <p:nvPr/>
        </p:nvSpPr>
        <p:spPr>
          <a:xfrm>
            <a:off x="282803" y="1674525"/>
            <a:ext cx="663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Jost" pitchFamily="2" charset="0"/>
                <a:ea typeface="Jost" pitchFamily="2" charset="0"/>
              </a:rPr>
              <a:t>HTML</a:t>
            </a:r>
            <a:r>
              <a:rPr lang="en-US" sz="1400">
                <a:latin typeface="Jost" pitchFamily="2" charset="0"/>
                <a:ea typeface="Jost" pitchFamily="2" charset="0"/>
              </a:rPr>
              <a:t>: Definiše UI, kao što su elementi koji će biti prikazani korisnicima.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24EF48-22C1-FDD3-E203-80D030B02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6" y="1990761"/>
            <a:ext cx="2705478" cy="9716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0D6FC8-57B5-04B0-F0F6-EB375508DFCC}"/>
              </a:ext>
            </a:extLst>
          </p:cNvPr>
          <p:cNvSpPr txBox="1"/>
          <p:nvPr/>
        </p:nvSpPr>
        <p:spPr>
          <a:xfrm>
            <a:off x="282802" y="3121223"/>
            <a:ext cx="663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Jost" pitchFamily="2" charset="0"/>
                <a:ea typeface="Jost" pitchFamily="2" charset="0"/>
              </a:rPr>
              <a:t>CSS</a:t>
            </a:r>
            <a:r>
              <a:rPr lang="en-US" sz="1400">
                <a:latin typeface="Jost" pitchFamily="2" charset="0"/>
                <a:ea typeface="Jost" pitchFamily="2" charset="0"/>
              </a:rPr>
              <a:t>: Stilovi su lokalni za komponentu i ne utiču na ostale dijelove aplikacije.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C458E6-03EB-4595-1DE5-26D1C2141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26" y="3434896"/>
            <a:ext cx="2505425" cy="11050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78D12C-7E66-01DE-D715-B4D74F47369A}"/>
              </a:ext>
            </a:extLst>
          </p:cNvPr>
          <p:cNvSpPr txBox="1"/>
          <p:nvPr/>
        </p:nvSpPr>
        <p:spPr>
          <a:xfrm>
            <a:off x="282802" y="4660255"/>
            <a:ext cx="6635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Jost" pitchFamily="2" charset="0"/>
                <a:ea typeface="Jost" pitchFamily="2" charset="0"/>
              </a:rPr>
              <a:t>JavaScript</a:t>
            </a:r>
            <a:r>
              <a:rPr lang="en-US" sz="1400">
                <a:latin typeface="Jost" pitchFamily="2" charset="0"/>
                <a:ea typeface="Jost" pitchFamily="2" charset="0"/>
              </a:rPr>
              <a:t>: Definiše logiku komponente i koristi "reactive" promjenljive koje automatski ažuriraju UI.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6F3EB3-E286-11DA-79F5-0BB8923EC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6" y="5310311"/>
            <a:ext cx="2800741" cy="714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33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BINDOVANJE PODATAKA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678948-63E3-41EA-3A16-BC2017F4F200}"/>
              </a:ext>
            </a:extLst>
          </p:cNvPr>
          <p:cNvSpPr txBox="1"/>
          <p:nvPr/>
        </p:nvSpPr>
        <p:spPr>
          <a:xfrm>
            <a:off x="282803" y="1078992"/>
            <a:ext cx="5989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Jost" pitchFamily="2" charset="0"/>
                <a:ea typeface="Jost" pitchFamily="2" charset="0"/>
              </a:rPr>
              <a:t>Svelte omogućava bindovanje podataka i reagovanje na događaje uz direktive poput </a:t>
            </a:r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bind:value </a:t>
            </a:r>
            <a:r>
              <a:rPr lang="en-US" sz="1600">
                <a:latin typeface="Jost" pitchFamily="2" charset="0"/>
                <a:ea typeface="Jost" pitchFamily="2" charset="0"/>
              </a:rPr>
              <a:t>i </a:t>
            </a:r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on:event</a:t>
            </a:r>
            <a:r>
              <a:rPr lang="en-US" sz="1600">
                <a:latin typeface="Jost" pitchFamily="2" charset="0"/>
                <a:ea typeface="Jost" pitchFamily="2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36004-629C-B387-6C75-F0F33BB1861F}"/>
              </a:ext>
            </a:extLst>
          </p:cNvPr>
          <p:cNvSpPr txBox="1"/>
          <p:nvPr/>
        </p:nvSpPr>
        <p:spPr>
          <a:xfrm>
            <a:off x="282803" y="1911096"/>
            <a:ext cx="9013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4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bind:value </a:t>
            </a:r>
            <a:r>
              <a:rPr lang="en-US" sz="1400">
                <a:latin typeface="Jost" pitchFamily="2" charset="0"/>
                <a:ea typeface="Jost" pitchFamily="2" charset="0"/>
              </a:rPr>
              <a:t>: Promi</a:t>
            </a:r>
            <a:r>
              <a:rPr lang="sr-Latn-BA" sz="1400">
                <a:latin typeface="Jost" pitchFamily="2" charset="0"/>
                <a:ea typeface="Jost" pitchFamily="2" charset="0"/>
              </a:rPr>
              <a:t>j</a:t>
            </a:r>
            <a:r>
              <a:rPr lang="en-US" sz="1400">
                <a:latin typeface="Jost" pitchFamily="2" charset="0"/>
                <a:ea typeface="Jost" pitchFamily="2" charset="0"/>
              </a:rPr>
              <a:t>ena vr</a:t>
            </a:r>
            <a:r>
              <a:rPr lang="sr-Latn-BA" sz="1400">
                <a:latin typeface="Jost" pitchFamily="2" charset="0"/>
                <a:ea typeface="Jost" pitchFamily="2" charset="0"/>
              </a:rPr>
              <a:t>ij</a:t>
            </a:r>
            <a:r>
              <a:rPr lang="en-US" sz="1400">
                <a:latin typeface="Jost" pitchFamily="2" charset="0"/>
                <a:ea typeface="Jost" pitchFamily="2" charset="0"/>
              </a:rPr>
              <a:t>ednosti prom</a:t>
            </a:r>
            <a:r>
              <a:rPr lang="sr-Latn-BA" sz="1400">
                <a:latin typeface="Jost" pitchFamily="2" charset="0"/>
                <a:ea typeface="Jost" pitchFamily="2" charset="0"/>
              </a:rPr>
              <a:t>j</a:t>
            </a:r>
            <a:r>
              <a:rPr lang="en-US" sz="1400">
                <a:latin typeface="Jost" pitchFamily="2" charset="0"/>
                <a:ea typeface="Jost" pitchFamily="2" charset="0"/>
              </a:rPr>
              <a:t>enljive automatski ažurira UI.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0B9F4-5359-7195-3091-55C457175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6" y="2304279"/>
            <a:ext cx="3474898" cy="7721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F5CB9F-277F-EF1C-4A6E-EAEFC7E721B1}"/>
              </a:ext>
            </a:extLst>
          </p:cNvPr>
          <p:cNvSpPr txBox="1"/>
          <p:nvPr/>
        </p:nvSpPr>
        <p:spPr>
          <a:xfrm>
            <a:off x="6446701" y="3711966"/>
            <a:ext cx="5248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Stilizacija je lokalna, a dinamičke klase omogućavaju prom</a:t>
            </a:r>
            <a:r>
              <a:rPr lang="sr-Latn-BA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j</a:t>
            </a:r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ene stila u zavisnosti od stanja.</a:t>
            </a:r>
            <a:endParaRPr lang="en-US" sz="1600">
              <a:latin typeface="Jost" pitchFamily="2" charset="0"/>
              <a:ea typeface="Jost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8D6F44-8124-5407-5CDC-1287ED9B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6" y="3741593"/>
            <a:ext cx="4029637" cy="12860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B68FEF-48B7-99AC-9201-23223CF5134C}"/>
              </a:ext>
            </a:extLst>
          </p:cNvPr>
          <p:cNvSpPr txBox="1"/>
          <p:nvPr/>
        </p:nvSpPr>
        <p:spPr>
          <a:xfrm>
            <a:off x="282803" y="3345002"/>
            <a:ext cx="9013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on:event </a:t>
            </a:r>
            <a:r>
              <a:rPr lang="en-US" sz="1400">
                <a:latin typeface="Jost" pitchFamily="2" charset="0"/>
                <a:ea typeface="Jost" pitchFamily="2" charset="0"/>
              </a:rPr>
              <a:t>: Upravljanje koris</a:t>
            </a:r>
            <a:r>
              <a:rPr lang="sr-Latn-BA" sz="1400">
                <a:latin typeface="Jost" pitchFamily="2" charset="0"/>
                <a:ea typeface="Jost" pitchFamily="2" charset="0"/>
              </a:rPr>
              <a:t>ničkim akcijama poput klika.</a:t>
            </a:r>
            <a:endParaRPr lang="en-US" sz="1400">
              <a:latin typeface="Jost" pitchFamily="2" charset="0"/>
              <a:ea typeface="Jost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C0F4E5-82E3-83CC-8504-0DD5CBA93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897" y="4373774"/>
            <a:ext cx="5992061" cy="18100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030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38E199-8F6C-321A-1172-E3A9F414EDE4}"/>
              </a:ext>
            </a:extLst>
          </p:cNvPr>
          <p:cNvSpPr/>
          <p:nvPr/>
        </p:nvSpPr>
        <p:spPr>
          <a:xfrm>
            <a:off x="282802" y="4083890"/>
            <a:ext cx="10772293" cy="192618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C0A325-1FB2-701C-942B-2FDDE82734B6}"/>
              </a:ext>
            </a:extLst>
          </p:cNvPr>
          <p:cNvSpPr/>
          <p:nvPr/>
        </p:nvSpPr>
        <p:spPr>
          <a:xfrm>
            <a:off x="282802" y="1502815"/>
            <a:ext cx="10772293" cy="19261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PREDNOSTI I MANE Svelte FRAMEWORK-a</a:t>
            </a:r>
            <a:endParaRPr lang="en-US" sz="2800" b="1">
              <a:solidFill>
                <a:schemeClr val="bg2">
                  <a:lumMod val="2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F534C-BF68-0AB3-C25B-863E1856F03F}"/>
              </a:ext>
            </a:extLst>
          </p:cNvPr>
          <p:cNvSpPr txBox="1"/>
          <p:nvPr/>
        </p:nvSpPr>
        <p:spPr>
          <a:xfrm>
            <a:off x="282803" y="2141156"/>
            <a:ext cx="10622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95000"/>
                  </a:schemeClr>
                </a:solidFill>
                <a:latin typeface="Jost" pitchFamily="2" charset="0"/>
                <a:ea typeface="Jost" pitchFamily="2" charset="0"/>
              </a:rPr>
              <a:t>Svelte pruža visoke performanse jer kompajlira komponente u optimizovani JavaScript koji direktno manipuliše DOM-om, zaobilazeći potrebu za virtuelnim DOM-om, što ubrzava ažuriranje interfejsa. Generiše manji izlazni kod jer uključuje samo potrebne funkcionalnosti, što smanjuje veličinu fajlova i ubrzava učitavanje stranica. Sintaksa je jednostavna i omogućava kombinovanje HTML-a, CSS-a i JavaScript-a u jednom fajlu, olakšavajući održavanje i učenje.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D81BC-A87F-5472-EE4B-E09A06E99627}"/>
              </a:ext>
            </a:extLst>
          </p:cNvPr>
          <p:cNvSpPr txBox="1"/>
          <p:nvPr/>
        </p:nvSpPr>
        <p:spPr>
          <a:xfrm>
            <a:off x="282803" y="1595654"/>
            <a:ext cx="4024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200" b="1" i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PREDNOSTI</a:t>
            </a:r>
            <a:endParaRPr lang="en-US" sz="3200" b="1" i="1">
              <a:solidFill>
                <a:srgbClr val="FF2A2A"/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F5B1A3-DEA9-AEFB-2C1E-9C85203CE49E}"/>
              </a:ext>
            </a:extLst>
          </p:cNvPr>
          <p:cNvSpPr txBox="1"/>
          <p:nvPr/>
        </p:nvSpPr>
        <p:spPr>
          <a:xfrm>
            <a:off x="282803" y="4770015"/>
            <a:ext cx="10622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Jost" pitchFamily="2" charset="0"/>
                <a:ea typeface="Jost" pitchFamily="2" charset="0"/>
              </a:rPr>
              <a:t>Zbog svoje novine, Svelte ima manji ekosistem biblioteka u poređenju sa React-om i Vue-om, što otežava pronalazak specifičnih dodataka. Kompajlerski pristup može dodati kompleksnost u razvoju, zahtijevajući rad sa build alatima i razumijevanje kompajliranja koda. Manje rasprostranjenost otežava pronalazak resursa i podrške. Također, prelazak na Svelte može zahtevati velike promijene u postojećim projektima, dok je njegova dugoročna podrška još uvek neizvjesna.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D7E2B-1DCF-E01B-3A07-3A3478AA1B5A}"/>
              </a:ext>
            </a:extLst>
          </p:cNvPr>
          <p:cNvSpPr txBox="1"/>
          <p:nvPr/>
        </p:nvSpPr>
        <p:spPr>
          <a:xfrm>
            <a:off x="282803" y="4246959"/>
            <a:ext cx="4024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200" b="1" i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MANE</a:t>
            </a:r>
            <a:endParaRPr lang="en-US" sz="3200" b="1" i="1">
              <a:solidFill>
                <a:srgbClr val="FF2A2A"/>
              </a:solidFill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18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6" grpId="0"/>
      <p:bldP spid="9" grpId="0"/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i React MANIPULACIJA DOM</a:t>
            </a:r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-a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velte Vs React - Which is Better for Web Development? [2023]">
            <a:extLst>
              <a:ext uri="{FF2B5EF4-FFF2-40B4-BE49-F238E27FC236}">
                <a16:creationId xmlns:a16="http://schemas.microsoft.com/office/drawing/2014/main" id="{D4495B6D-3F9B-328F-E1FF-6CA6DC0D9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1108010"/>
            <a:ext cx="10776076" cy="55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3F7BE9-27A1-F732-CA98-CE52E00EDB58}"/>
              </a:ext>
            </a:extLst>
          </p:cNvPr>
          <p:cNvSpPr/>
          <p:nvPr/>
        </p:nvSpPr>
        <p:spPr>
          <a:xfrm>
            <a:off x="4087368" y="6163056"/>
            <a:ext cx="2008632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8D3DFF-C8AB-EFAB-83E0-89F451B2DD4F}"/>
              </a:ext>
            </a:extLst>
          </p:cNvPr>
          <p:cNvSpPr/>
          <p:nvPr/>
        </p:nvSpPr>
        <p:spPr>
          <a:xfrm>
            <a:off x="10460736" y="6099048"/>
            <a:ext cx="1152144" cy="523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3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B6757E-8F6F-77D8-17F2-DDEB82BE28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E82CA-B656-9CAD-77A3-BB412B8692F7}"/>
              </a:ext>
            </a:extLst>
          </p:cNvPr>
          <p:cNvSpPr txBox="1"/>
          <p:nvPr/>
        </p:nvSpPr>
        <p:spPr>
          <a:xfrm>
            <a:off x="1272540" y="2967335"/>
            <a:ext cx="9646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5400" b="1" i="1">
                <a:solidFill>
                  <a:schemeClr val="bg1"/>
                </a:solidFill>
                <a:latin typeface="Jost" pitchFamily="2" charset="0"/>
                <a:ea typeface="Jost" pitchFamily="2" charset="0"/>
              </a:rPr>
              <a:t>HVALA VAM PA PAŽNJI !!!</a:t>
            </a:r>
            <a:endParaRPr lang="en-US" sz="5400" b="1" i="1">
              <a:solidFill>
                <a:schemeClr val="bg1"/>
              </a:solidFill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21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694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Jost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Pavlovic</dc:creator>
  <cp:lastModifiedBy>Ivan Pavlovic</cp:lastModifiedBy>
  <cp:revision>3</cp:revision>
  <dcterms:created xsi:type="dcterms:W3CDTF">2024-09-07T15:12:20Z</dcterms:created>
  <dcterms:modified xsi:type="dcterms:W3CDTF">2024-09-07T16:43:46Z</dcterms:modified>
</cp:coreProperties>
</file>