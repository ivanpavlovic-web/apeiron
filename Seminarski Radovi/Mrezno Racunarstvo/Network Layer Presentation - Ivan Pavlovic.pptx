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8" r:id="rId3"/>
    <p:sldId id="257" r:id="rId4"/>
    <p:sldId id="258"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990"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AFE0D-ADFA-419A-B77A-D9A2D8A53D06}" type="datetimeFigureOut">
              <a:rPr lang="en-US" smtClean="0"/>
              <a:t>9/5/2024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57567-F8E8-42F0-BE96-FEE4802B9D8D}" type="slidenum">
              <a:rPr lang="en-US" smtClean="0"/>
              <a:t>‹#›</a:t>
            </a:fld>
            <a:endParaRPr lang="en-US"/>
          </a:p>
        </p:txBody>
      </p:sp>
    </p:spTree>
    <p:extLst>
      <p:ext uri="{BB962C8B-B14F-4D97-AF65-F5344CB8AC3E}">
        <p14:creationId xmlns:p14="http://schemas.microsoft.com/office/powerpoint/2010/main" val="676556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A57567-F8E8-42F0-BE96-FEE4802B9D8D}" type="slidenum">
              <a:rPr lang="en-US" smtClean="0"/>
              <a:t>10</a:t>
            </a:fld>
            <a:endParaRPr lang="en-US"/>
          </a:p>
        </p:txBody>
      </p:sp>
    </p:spTree>
    <p:extLst>
      <p:ext uri="{BB962C8B-B14F-4D97-AF65-F5344CB8AC3E}">
        <p14:creationId xmlns:p14="http://schemas.microsoft.com/office/powerpoint/2010/main" val="1681577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AA57567-F8E8-42F0-BE96-FEE4802B9D8D}" type="slidenum">
              <a:rPr lang="en-US" smtClean="0"/>
              <a:t>11</a:t>
            </a:fld>
            <a:endParaRPr lang="en-US"/>
          </a:p>
        </p:txBody>
      </p:sp>
    </p:spTree>
    <p:extLst>
      <p:ext uri="{BB962C8B-B14F-4D97-AF65-F5344CB8AC3E}">
        <p14:creationId xmlns:p14="http://schemas.microsoft.com/office/powerpoint/2010/main" val="981200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0CD0C-D7D6-BA3D-C099-D38C82E86D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C46220-3FD4-A43B-D103-3A47D80D0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B5E314-4C01-59B9-C781-A1EA251AB10D}"/>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5" name="Footer Placeholder 4">
            <a:extLst>
              <a:ext uri="{FF2B5EF4-FFF2-40B4-BE49-F238E27FC236}">
                <a16:creationId xmlns:a16="http://schemas.microsoft.com/office/drawing/2014/main" id="{C341DF87-038F-F5B8-4494-6A8181583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02B1C0-316F-5B0F-1762-4F8201324CA7}"/>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49537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0E7F9-859F-27C2-C8E2-35F0EE32AC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4A25AC-5015-471E-08F4-F8BC0AE4D3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0610A1-46A9-5BEC-033A-F5E3298047BC}"/>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5" name="Footer Placeholder 4">
            <a:extLst>
              <a:ext uri="{FF2B5EF4-FFF2-40B4-BE49-F238E27FC236}">
                <a16:creationId xmlns:a16="http://schemas.microsoft.com/office/drawing/2014/main" id="{F80C940C-F1C8-049C-D3F6-966CC19AC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ED5E7D-B9C2-1996-6987-14D7B8DBF33C}"/>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134817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37A4-D9C1-855D-DADC-C3BA37A2D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728215-A65A-B4B9-E304-A56D04D4A2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C1AAF4-74E6-FBCC-ED3B-64E7B92698C3}"/>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5" name="Footer Placeholder 4">
            <a:extLst>
              <a:ext uri="{FF2B5EF4-FFF2-40B4-BE49-F238E27FC236}">
                <a16:creationId xmlns:a16="http://schemas.microsoft.com/office/drawing/2014/main" id="{8950441E-5A9D-9E1C-4C56-FFA2C0BAB1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6DE993-A0BC-A00C-1A03-F204C4BDB6CA}"/>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1081631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F1F91-B629-8A67-546D-9BBA0C9CE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36E526-154B-9E49-5B42-268EF2C508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E17E70-ABFC-F150-8F5E-ED0E526FDC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CBCB38-6277-38EA-5913-5EA3DFD7DD53}"/>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6" name="Footer Placeholder 5">
            <a:extLst>
              <a:ext uri="{FF2B5EF4-FFF2-40B4-BE49-F238E27FC236}">
                <a16:creationId xmlns:a16="http://schemas.microsoft.com/office/drawing/2014/main" id="{2503328A-F8D1-9BA8-3DCD-CE6FE0A3DF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E13287-6EBD-F673-6528-6A0A88BF12CD}"/>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1921901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EBFA-35A1-2003-BBBF-11D31B2387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1BE36A-7B0C-23AA-A901-6213937B90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7E8DE5-9396-F819-1787-885C9ACC08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429D3C-8DF6-58FB-74BF-65337859C9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7E3F43-841B-715F-98CA-A0AB5936EB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4B069E-4A6C-1062-B54B-A61607A1F299}"/>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8" name="Footer Placeholder 7">
            <a:extLst>
              <a:ext uri="{FF2B5EF4-FFF2-40B4-BE49-F238E27FC236}">
                <a16:creationId xmlns:a16="http://schemas.microsoft.com/office/drawing/2014/main" id="{C4DF0173-8A37-7B02-741D-026E52124F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2F3101-9E84-B997-F665-2575B56C1BA7}"/>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958622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9A7EA-ECB6-35E9-59EA-6CDDDDBFCC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1F8A3B-7720-48D8-02F3-8EE4665077D7}"/>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4" name="Footer Placeholder 3">
            <a:extLst>
              <a:ext uri="{FF2B5EF4-FFF2-40B4-BE49-F238E27FC236}">
                <a16:creationId xmlns:a16="http://schemas.microsoft.com/office/drawing/2014/main" id="{94865F13-6DD8-EBEB-6E1D-692EC26911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C34604-96C1-5487-3883-129618E4961A}"/>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294656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3A87FA-4B70-C9F2-1DEF-11B49D449A07}"/>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3" name="Footer Placeholder 2">
            <a:extLst>
              <a:ext uri="{FF2B5EF4-FFF2-40B4-BE49-F238E27FC236}">
                <a16:creationId xmlns:a16="http://schemas.microsoft.com/office/drawing/2014/main" id="{6254AE15-7861-CC77-2385-BE65798428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EFCF0-6F1E-3DC2-3B3E-70C32828ABFF}"/>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427379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7269-F57E-2517-6CCA-D8A18ACA0D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5711D1-2C8C-3B7C-1FE7-8C913D9B3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606A82-03F2-FF22-61E1-8393377DB7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386738-AF8C-BA2A-1691-E61140478414}"/>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6" name="Footer Placeholder 5">
            <a:extLst>
              <a:ext uri="{FF2B5EF4-FFF2-40B4-BE49-F238E27FC236}">
                <a16:creationId xmlns:a16="http://schemas.microsoft.com/office/drawing/2014/main" id="{FC8A7EB9-EBC3-0575-0E66-5A31513A60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5073D0-A5BC-ECB7-5AEF-C48FFF14721A}"/>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3261051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379B-D8D5-7380-6B01-3871EE9F35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69EBEA-7756-93E2-DDB4-80D3FA8078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23655A-407B-F4D7-EC41-B9462321A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A759E-A166-375E-DC09-C5EDEADAD780}"/>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6" name="Footer Placeholder 5">
            <a:extLst>
              <a:ext uri="{FF2B5EF4-FFF2-40B4-BE49-F238E27FC236}">
                <a16:creationId xmlns:a16="http://schemas.microsoft.com/office/drawing/2014/main" id="{EC24120A-DA77-1CE0-7090-B82A0E258C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82F110-465B-27D7-EB20-674DF7965635}"/>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3221238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EAF89-3B91-4205-EC6A-632D8EDD8F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893C5D-6935-CAA0-DEE7-362A44B51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8C140-2AB0-4576-5884-C92C68E144FC}"/>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5" name="Footer Placeholder 4">
            <a:extLst>
              <a:ext uri="{FF2B5EF4-FFF2-40B4-BE49-F238E27FC236}">
                <a16:creationId xmlns:a16="http://schemas.microsoft.com/office/drawing/2014/main" id="{04E953BB-3298-A918-B3CF-4FD7C617B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6E654-71CF-3002-DEB5-D5CB3ABA761A}"/>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250718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BAD168-A075-89D1-DC68-7DAE6978C1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B3CC2E-47DE-9BCB-E363-0B39285035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462E4B-E1A2-79C7-3274-EBA890E452E4}"/>
              </a:ext>
            </a:extLst>
          </p:cNvPr>
          <p:cNvSpPr>
            <a:spLocks noGrp="1"/>
          </p:cNvSpPr>
          <p:nvPr>
            <p:ph type="dt" sz="half" idx="10"/>
          </p:nvPr>
        </p:nvSpPr>
        <p:spPr/>
        <p:txBody>
          <a:bodyPr/>
          <a:lstStyle/>
          <a:p>
            <a:fld id="{B44DCB67-15A8-4F91-A872-E648B35A8125}" type="datetimeFigureOut">
              <a:rPr lang="en-US" smtClean="0"/>
              <a:t>9/5/2024</a:t>
            </a:fld>
            <a:endParaRPr lang="en-US"/>
          </a:p>
        </p:txBody>
      </p:sp>
      <p:sp>
        <p:nvSpPr>
          <p:cNvPr id="5" name="Footer Placeholder 4">
            <a:extLst>
              <a:ext uri="{FF2B5EF4-FFF2-40B4-BE49-F238E27FC236}">
                <a16:creationId xmlns:a16="http://schemas.microsoft.com/office/drawing/2014/main" id="{B34DA1D8-C3B8-1372-6502-B0E52A7A7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76F57C-E710-6F18-9FC5-88715DCD7C35}"/>
              </a:ext>
            </a:extLst>
          </p:cNvPr>
          <p:cNvSpPr>
            <a:spLocks noGrp="1"/>
          </p:cNvSpPr>
          <p:nvPr>
            <p:ph type="sldNum" sz="quarter" idx="12"/>
          </p:nvPr>
        </p:nvSpPr>
        <p:spPr/>
        <p:txBody>
          <a:bodyPr/>
          <a:lstStyle/>
          <a:p>
            <a:fld id="{7BC68C5D-1BD3-4F49-8843-1A91EF76F5FA}" type="slidenum">
              <a:rPr lang="en-US" smtClean="0"/>
              <a:t>‹#›</a:t>
            </a:fld>
            <a:endParaRPr lang="en-US"/>
          </a:p>
        </p:txBody>
      </p:sp>
    </p:spTree>
    <p:extLst>
      <p:ext uri="{BB962C8B-B14F-4D97-AF65-F5344CB8AC3E}">
        <p14:creationId xmlns:p14="http://schemas.microsoft.com/office/powerpoint/2010/main" val="2299706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D1201D-13CB-2034-D23D-11BF67F463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883572-C13C-CF95-28EC-09D1775BD0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6100A1-0CAD-4FF2-1B5E-8ED349F77D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4DCB67-15A8-4F91-A872-E648B35A8125}" type="datetimeFigureOut">
              <a:rPr lang="en-US" smtClean="0"/>
              <a:t>9/5/2024</a:t>
            </a:fld>
            <a:endParaRPr lang="en-US"/>
          </a:p>
        </p:txBody>
      </p:sp>
      <p:sp>
        <p:nvSpPr>
          <p:cNvPr id="5" name="Footer Placeholder 4">
            <a:extLst>
              <a:ext uri="{FF2B5EF4-FFF2-40B4-BE49-F238E27FC236}">
                <a16:creationId xmlns:a16="http://schemas.microsoft.com/office/drawing/2014/main" id="{DC362199-8F2E-377C-33A2-2AD7751FB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175657-FE6C-DAA8-4AEB-C47CCE9181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68C5D-1BD3-4F49-8843-1A91EF76F5FA}" type="slidenum">
              <a:rPr lang="en-US" smtClean="0"/>
              <a:t>‹#›</a:t>
            </a:fld>
            <a:endParaRPr lang="en-US"/>
          </a:p>
        </p:txBody>
      </p:sp>
    </p:spTree>
    <p:extLst>
      <p:ext uri="{BB962C8B-B14F-4D97-AF65-F5344CB8AC3E}">
        <p14:creationId xmlns:p14="http://schemas.microsoft.com/office/powerpoint/2010/main" val="3933372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F8E43E-28E6-F9AD-F5AA-98D6874D8BB6}"/>
              </a:ext>
            </a:extLst>
          </p:cNvPr>
          <p:cNvSpPr txBox="1"/>
          <p:nvPr/>
        </p:nvSpPr>
        <p:spPr>
          <a:xfrm>
            <a:off x="457199" y="567162"/>
            <a:ext cx="8442251" cy="3046988"/>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sz="9600" b="1" i="1">
                <a:latin typeface="Jost" pitchFamily="2" charset="0"/>
                <a:ea typeface="Jost" pitchFamily="2" charset="0"/>
              </a:rPr>
              <a:t>NETWORK</a:t>
            </a:r>
          </a:p>
          <a:p>
            <a:r>
              <a:rPr lang="en-US" sz="9600" b="1" i="1">
                <a:latin typeface="Jost" pitchFamily="2" charset="0"/>
                <a:ea typeface="Jost" pitchFamily="2" charset="0"/>
              </a:rPr>
              <a:t>LAYER</a:t>
            </a:r>
          </a:p>
        </p:txBody>
      </p:sp>
      <p:sp>
        <p:nvSpPr>
          <p:cNvPr id="5" name="TextBox 4">
            <a:extLst>
              <a:ext uri="{FF2B5EF4-FFF2-40B4-BE49-F238E27FC236}">
                <a16:creationId xmlns:a16="http://schemas.microsoft.com/office/drawing/2014/main" id="{9D91BDCB-7E88-C3CE-1780-75439EF529B6}"/>
              </a:ext>
            </a:extLst>
          </p:cNvPr>
          <p:cNvSpPr txBox="1"/>
          <p:nvPr/>
        </p:nvSpPr>
        <p:spPr>
          <a:xfrm>
            <a:off x="457199" y="3514123"/>
            <a:ext cx="5805377" cy="400110"/>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2000" b="1" i="1">
                <a:solidFill>
                  <a:schemeClr val="tx1">
                    <a:lumMod val="50000"/>
                    <a:lumOff val="50000"/>
                  </a:schemeClr>
                </a:solidFill>
                <a:latin typeface="Jost" pitchFamily="2" charset="0"/>
                <a:ea typeface="Jost" pitchFamily="2" charset="0"/>
              </a:rPr>
              <a:t>(Layer 2 </a:t>
            </a:r>
            <a:r>
              <a:rPr lang="en-US" sz="2000" b="1" i="1" err="1">
                <a:solidFill>
                  <a:schemeClr val="tx1">
                    <a:lumMod val="50000"/>
                    <a:lumOff val="50000"/>
                  </a:schemeClr>
                </a:solidFill>
                <a:latin typeface="Jost" pitchFamily="2" charset="0"/>
                <a:ea typeface="Jost" pitchFamily="2" charset="0"/>
              </a:rPr>
              <a:t>protokol</a:t>
            </a:r>
            <a:r>
              <a:rPr lang="en-US" sz="2000" b="1" i="1">
                <a:solidFill>
                  <a:schemeClr val="tx1">
                    <a:lumMod val="50000"/>
                    <a:lumOff val="50000"/>
                  </a:schemeClr>
                </a:solidFill>
                <a:latin typeface="Jost" pitchFamily="2" charset="0"/>
                <a:ea typeface="Jost" pitchFamily="2" charset="0"/>
              </a:rPr>
              <a:t> </a:t>
            </a:r>
            <a:r>
              <a:rPr lang="en-US" sz="2000" b="1" i="1" err="1">
                <a:solidFill>
                  <a:schemeClr val="tx1">
                    <a:lumMod val="50000"/>
                    <a:lumOff val="50000"/>
                  </a:schemeClr>
                </a:solidFill>
                <a:latin typeface="Jost" pitchFamily="2" charset="0"/>
                <a:ea typeface="Jost" pitchFamily="2" charset="0"/>
              </a:rPr>
              <a:t>i</a:t>
            </a:r>
            <a:r>
              <a:rPr lang="en-US" sz="2000" b="1" i="1">
                <a:solidFill>
                  <a:schemeClr val="tx1">
                    <a:lumMod val="50000"/>
                    <a:lumOff val="50000"/>
                  </a:schemeClr>
                </a:solidFill>
                <a:latin typeface="Jost" pitchFamily="2" charset="0"/>
                <a:ea typeface="Jost" pitchFamily="2" charset="0"/>
              </a:rPr>
              <a:t> Layer 3 </a:t>
            </a:r>
            <a:r>
              <a:rPr lang="en-US" sz="2000" b="1" i="1" err="1">
                <a:solidFill>
                  <a:schemeClr val="tx1">
                    <a:lumMod val="50000"/>
                    <a:lumOff val="50000"/>
                  </a:schemeClr>
                </a:solidFill>
                <a:latin typeface="Jost" pitchFamily="2" charset="0"/>
                <a:ea typeface="Jost" pitchFamily="2" charset="0"/>
              </a:rPr>
              <a:t>protokol</a:t>
            </a:r>
            <a:r>
              <a:rPr lang="en-US" sz="2000" b="1" i="1">
                <a:solidFill>
                  <a:schemeClr val="tx1">
                    <a:lumMod val="50000"/>
                    <a:lumOff val="50000"/>
                  </a:schemeClr>
                </a:solidFill>
                <a:latin typeface="Jost" pitchFamily="2" charset="0"/>
                <a:ea typeface="Jost" pitchFamily="2" charset="0"/>
              </a:rPr>
              <a:t>)</a:t>
            </a:r>
          </a:p>
        </p:txBody>
      </p:sp>
      <p:sp>
        <p:nvSpPr>
          <p:cNvPr id="6" name="TextBox 5">
            <a:extLst>
              <a:ext uri="{FF2B5EF4-FFF2-40B4-BE49-F238E27FC236}">
                <a16:creationId xmlns:a16="http://schemas.microsoft.com/office/drawing/2014/main" id="{C37D5E29-E87C-04D8-36AE-D40A578C100D}"/>
              </a:ext>
            </a:extLst>
          </p:cNvPr>
          <p:cNvSpPr txBox="1"/>
          <p:nvPr/>
        </p:nvSpPr>
        <p:spPr>
          <a:xfrm>
            <a:off x="457199" y="3814205"/>
            <a:ext cx="5272597" cy="923330"/>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5400" b="1">
                <a:latin typeface="Jost" pitchFamily="2" charset="0"/>
                <a:ea typeface="Jost" pitchFamily="2" charset="0"/>
              </a:rPr>
              <a:t>U OSI MODELU</a:t>
            </a:r>
          </a:p>
        </p:txBody>
      </p:sp>
      <p:sp>
        <p:nvSpPr>
          <p:cNvPr id="7" name="Isosceles Triangle 6">
            <a:extLst>
              <a:ext uri="{FF2B5EF4-FFF2-40B4-BE49-F238E27FC236}">
                <a16:creationId xmlns:a16="http://schemas.microsoft.com/office/drawing/2014/main" id="{8AD3A654-68E6-2C36-3253-5693E9D4220E}"/>
              </a:ext>
            </a:extLst>
          </p:cNvPr>
          <p:cNvSpPr/>
          <p:nvPr/>
        </p:nvSpPr>
        <p:spPr>
          <a:xfrm rot="4053742">
            <a:off x="7914355" y="-2515459"/>
            <a:ext cx="10370751" cy="8924341"/>
          </a:xfrm>
          <a:prstGeom prst="triangle">
            <a:avLst/>
          </a:prstGeom>
          <a:solidFill>
            <a:schemeClr val="bg1">
              <a:lumMod val="65000"/>
            </a:scheme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86DCF8F9-5D9D-C2D8-949D-2C519B733413}"/>
              </a:ext>
            </a:extLst>
          </p:cNvPr>
          <p:cNvSpPr/>
          <p:nvPr/>
        </p:nvSpPr>
        <p:spPr>
          <a:xfrm rot="4053742">
            <a:off x="8254632" y="-2371515"/>
            <a:ext cx="10370751" cy="8924341"/>
          </a:xfrm>
          <a:prstGeom prst="triangle">
            <a:avLst/>
          </a:prstGeom>
          <a:solidFill>
            <a:schemeClr val="accent1">
              <a:lumMod val="75000"/>
            </a:scheme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369CB30-3B24-06BF-9285-B19DCC3C3D92}"/>
              </a:ext>
            </a:extLst>
          </p:cNvPr>
          <p:cNvSpPr txBox="1"/>
          <p:nvPr/>
        </p:nvSpPr>
        <p:spPr>
          <a:xfrm>
            <a:off x="264694" y="6087979"/>
            <a:ext cx="5272597" cy="369332"/>
          </a:xfrm>
          <a:prstGeom prst="rect">
            <a:avLst/>
          </a:prstGeom>
          <a:noFill/>
        </p:spPr>
        <p:txBody>
          <a:bodyPr wrap="square" rtlCol="0">
            <a:spAutoFit/>
          </a:bodyPr>
          <a:lstStyle/>
          <a:p>
            <a:r>
              <a:rPr lang="en-US">
                <a:solidFill>
                  <a:schemeClr val="tx1">
                    <a:lumMod val="85000"/>
                    <a:lumOff val="15000"/>
                  </a:schemeClr>
                </a:solidFill>
                <a:latin typeface="Jost" pitchFamily="2" charset="0"/>
                <a:ea typeface="Jost" pitchFamily="2" charset="0"/>
              </a:rPr>
              <a:t>Ivan Pavlovi</a:t>
            </a:r>
            <a:r>
              <a:rPr lang="sr-Latn-BA">
                <a:solidFill>
                  <a:schemeClr val="tx1">
                    <a:lumMod val="85000"/>
                    <a:lumOff val="15000"/>
                  </a:schemeClr>
                </a:solidFill>
                <a:latin typeface="Jost" pitchFamily="2" charset="0"/>
                <a:ea typeface="Jost" pitchFamily="2" charset="0"/>
              </a:rPr>
              <a:t>ć 92-20 RITP</a:t>
            </a:r>
            <a:r>
              <a:rPr lang="en-US">
                <a:solidFill>
                  <a:schemeClr val="tx1">
                    <a:lumMod val="85000"/>
                    <a:lumOff val="15000"/>
                  </a:schemeClr>
                </a:solidFill>
                <a:latin typeface="Jost" pitchFamily="2" charset="0"/>
                <a:ea typeface="Jost" pitchFamily="2" charset="0"/>
              </a:rPr>
              <a:t>/S | </a:t>
            </a:r>
            <a:r>
              <a:rPr lang="en-US" b="1">
                <a:solidFill>
                  <a:schemeClr val="tx1">
                    <a:lumMod val="85000"/>
                    <a:lumOff val="15000"/>
                  </a:schemeClr>
                </a:solidFill>
                <a:latin typeface="Jost" pitchFamily="2" charset="0"/>
                <a:ea typeface="Jost" pitchFamily="2" charset="0"/>
              </a:rPr>
              <a:t>Mre</a:t>
            </a:r>
            <a:r>
              <a:rPr lang="sr-Latn-BA" b="1">
                <a:solidFill>
                  <a:schemeClr val="tx1">
                    <a:lumMod val="85000"/>
                    <a:lumOff val="15000"/>
                  </a:schemeClr>
                </a:solidFill>
                <a:latin typeface="Jost" pitchFamily="2" charset="0"/>
                <a:ea typeface="Jost" pitchFamily="2" charset="0"/>
              </a:rPr>
              <a:t>žno računarstvo</a:t>
            </a:r>
            <a:endParaRPr lang="en-US" b="1">
              <a:solidFill>
                <a:schemeClr val="tx1">
                  <a:lumMod val="85000"/>
                  <a:lumOff val="15000"/>
                </a:schemeClr>
              </a:solidFill>
              <a:latin typeface="Jost" pitchFamily="2" charset="0"/>
              <a:ea typeface="Jost" pitchFamily="2" charset="0"/>
            </a:endParaRPr>
          </a:p>
        </p:txBody>
      </p:sp>
      <p:pic>
        <p:nvPicPr>
          <p:cNvPr id="13" name="Picture 12">
            <a:extLst>
              <a:ext uri="{FF2B5EF4-FFF2-40B4-BE49-F238E27FC236}">
                <a16:creationId xmlns:a16="http://schemas.microsoft.com/office/drawing/2014/main" id="{233420F4-44AA-6762-04A3-87808218DAC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9239727" y="401120"/>
            <a:ext cx="2219532" cy="2219532"/>
          </a:xfrm>
          <a:prstGeom prst="ellipse">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863931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6F58E7-6936-121B-BE7C-B0045BADC704}"/>
              </a:ext>
            </a:extLst>
          </p:cNvPr>
          <p:cNvSpPr/>
          <p:nvPr/>
        </p:nvSpPr>
        <p:spPr>
          <a:xfrm>
            <a:off x="0" y="0"/>
            <a:ext cx="12192000" cy="1057275"/>
          </a:xfrm>
          <a:prstGeom prst="rect">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1A2EC7E-4CFC-25E3-CF74-4A45B0EBAC95}"/>
              </a:ext>
            </a:extLst>
          </p:cNvPr>
          <p:cNvSpPr txBox="1"/>
          <p:nvPr/>
        </p:nvSpPr>
        <p:spPr>
          <a:xfrm>
            <a:off x="266700" y="205829"/>
            <a:ext cx="6629400" cy="769441"/>
          </a:xfrm>
          <a:prstGeom prst="rect">
            <a:avLst/>
          </a:prstGeom>
          <a:noFill/>
        </p:spPr>
        <p:txBody>
          <a:bodyPr wrap="square" rtlCol="0">
            <a:spAutoFit/>
          </a:bodyPr>
          <a:lstStyle/>
          <a:p>
            <a:r>
              <a:rPr lang="en-US" sz="4400" b="1" i="1">
                <a:solidFill>
                  <a:schemeClr val="bg1"/>
                </a:solidFill>
                <a:latin typeface="Jost" pitchFamily="2" charset="0"/>
                <a:ea typeface="Jost" pitchFamily="2" charset="0"/>
              </a:rPr>
              <a:t>SADR</a:t>
            </a:r>
            <a:r>
              <a:rPr lang="sr-Latn-BA" sz="4400" b="1" i="1">
                <a:solidFill>
                  <a:schemeClr val="bg1"/>
                </a:solidFill>
                <a:latin typeface="Jost" pitchFamily="2" charset="0"/>
                <a:ea typeface="Jost" pitchFamily="2" charset="0"/>
              </a:rPr>
              <a:t>ŽAJ</a:t>
            </a:r>
            <a:endParaRPr lang="en-US" sz="4400" b="1" i="1">
              <a:solidFill>
                <a:schemeClr val="bg1"/>
              </a:solidFill>
              <a:latin typeface="Jost" pitchFamily="2" charset="0"/>
              <a:ea typeface="Jost" pitchFamily="2" charset="0"/>
            </a:endParaRPr>
          </a:p>
        </p:txBody>
      </p:sp>
      <p:sp>
        <p:nvSpPr>
          <p:cNvPr id="7" name="TextBox 6">
            <a:extLst>
              <a:ext uri="{FF2B5EF4-FFF2-40B4-BE49-F238E27FC236}">
                <a16:creationId xmlns:a16="http://schemas.microsoft.com/office/drawing/2014/main" id="{541A6C69-1A0A-9111-E5E0-0C91E4B22629}"/>
              </a:ext>
            </a:extLst>
          </p:cNvPr>
          <p:cNvSpPr txBox="1"/>
          <p:nvPr/>
        </p:nvSpPr>
        <p:spPr>
          <a:xfrm>
            <a:off x="266700" y="1390650"/>
            <a:ext cx="11163300" cy="5078313"/>
          </a:xfrm>
          <a:prstGeom prst="rect">
            <a:avLst/>
          </a:prstGeom>
          <a:noFill/>
        </p:spPr>
        <p:txBody>
          <a:bodyPr wrap="square" rtlCol="0">
            <a:spAutoFit/>
          </a:bodyPr>
          <a:lstStyle/>
          <a:p>
            <a:r>
              <a:rPr lang="sr-Latn-BA" sz="3600" b="1">
                <a:latin typeface="Jost" pitchFamily="2" charset="0"/>
                <a:ea typeface="Jost" pitchFamily="2" charset="0"/>
              </a:rPr>
              <a:t>1. OSI MODEL</a:t>
            </a:r>
          </a:p>
          <a:p>
            <a:r>
              <a:rPr lang="sr-Latn-BA" sz="3600" b="1">
                <a:solidFill>
                  <a:schemeClr val="accent1">
                    <a:lumMod val="75000"/>
                  </a:schemeClr>
                </a:solidFill>
                <a:latin typeface="Jost" pitchFamily="2" charset="0"/>
                <a:ea typeface="Jost" pitchFamily="2" charset="0"/>
              </a:rPr>
              <a:t>2. Sloj Veze Podataka</a:t>
            </a:r>
          </a:p>
          <a:p>
            <a:r>
              <a:rPr lang="sr-Latn-BA" sz="3600" b="1">
                <a:latin typeface="Jost" pitchFamily="2" charset="0"/>
                <a:ea typeface="Jost" pitchFamily="2" charset="0"/>
              </a:rPr>
              <a:t>2.1. Ethernet (802.3)</a:t>
            </a:r>
          </a:p>
          <a:p>
            <a:r>
              <a:rPr lang="sr-Latn-BA" sz="3600" b="1">
                <a:solidFill>
                  <a:schemeClr val="accent1">
                    <a:lumMod val="75000"/>
                  </a:schemeClr>
                </a:solidFill>
                <a:latin typeface="Jost" pitchFamily="2" charset="0"/>
                <a:ea typeface="Jost" pitchFamily="2" charset="0"/>
              </a:rPr>
              <a:t>2.2. PPP Point</a:t>
            </a:r>
            <a:r>
              <a:rPr lang="en-US" sz="3600" b="1">
                <a:solidFill>
                  <a:schemeClr val="accent1">
                    <a:lumMod val="75000"/>
                  </a:schemeClr>
                </a:solidFill>
                <a:latin typeface="Jost" pitchFamily="2" charset="0"/>
                <a:ea typeface="Jost" pitchFamily="2" charset="0"/>
              </a:rPr>
              <a:t>-to-Point protocol</a:t>
            </a:r>
          </a:p>
          <a:p>
            <a:r>
              <a:rPr lang="en-US" sz="3600" b="1">
                <a:latin typeface="Jost" pitchFamily="2" charset="0"/>
                <a:ea typeface="Jost" pitchFamily="2" charset="0"/>
              </a:rPr>
              <a:t>2.3. Wi-Fi (802.11)</a:t>
            </a:r>
          </a:p>
          <a:p>
            <a:r>
              <a:rPr lang="en-US" sz="3600" b="1">
                <a:solidFill>
                  <a:schemeClr val="accent1">
                    <a:lumMod val="75000"/>
                  </a:schemeClr>
                </a:solidFill>
                <a:latin typeface="Jost" pitchFamily="2" charset="0"/>
                <a:ea typeface="Jost" pitchFamily="2" charset="0"/>
              </a:rPr>
              <a:t>3. Sloj Mre</a:t>
            </a:r>
            <a:r>
              <a:rPr lang="sr-Latn-BA" sz="3600" b="1">
                <a:solidFill>
                  <a:schemeClr val="accent1">
                    <a:lumMod val="75000"/>
                  </a:schemeClr>
                </a:solidFill>
                <a:latin typeface="Jost" pitchFamily="2" charset="0"/>
                <a:ea typeface="Jost" pitchFamily="2" charset="0"/>
              </a:rPr>
              <a:t>že</a:t>
            </a:r>
          </a:p>
          <a:p>
            <a:r>
              <a:rPr lang="sr-Latn-BA" sz="3600" b="1">
                <a:latin typeface="Jost" pitchFamily="2" charset="0"/>
                <a:ea typeface="Jost" pitchFamily="2" charset="0"/>
              </a:rPr>
              <a:t>3.1. IP Internet Protocol</a:t>
            </a:r>
          </a:p>
          <a:p>
            <a:r>
              <a:rPr lang="sr-Latn-BA" sz="3600" b="1">
                <a:solidFill>
                  <a:schemeClr val="accent1">
                    <a:lumMod val="75000"/>
                  </a:schemeClr>
                </a:solidFill>
                <a:latin typeface="Jost" pitchFamily="2" charset="0"/>
                <a:ea typeface="Jost" pitchFamily="2" charset="0"/>
              </a:rPr>
              <a:t>3.2. Internet Control Message Protocol</a:t>
            </a:r>
          </a:p>
          <a:p>
            <a:r>
              <a:rPr lang="sr-Latn-BA" sz="3600" b="1">
                <a:latin typeface="Jost" pitchFamily="2" charset="0"/>
                <a:ea typeface="Jost" pitchFamily="2" charset="0"/>
              </a:rPr>
              <a:t>3.3. Open Shortest Path First</a:t>
            </a:r>
            <a:endParaRPr lang="en-US" sz="3600" b="1">
              <a:latin typeface="Jost" pitchFamily="2" charset="0"/>
              <a:ea typeface="Jost" pitchFamily="2" charset="0"/>
            </a:endParaRPr>
          </a:p>
        </p:txBody>
      </p:sp>
    </p:spTree>
    <p:extLst>
      <p:ext uri="{BB962C8B-B14F-4D97-AF65-F5344CB8AC3E}">
        <p14:creationId xmlns:p14="http://schemas.microsoft.com/office/powerpoint/2010/main" val="19895255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4547937" cy="646331"/>
          </a:xfrm>
          <a:prstGeom prst="rect">
            <a:avLst/>
          </a:prstGeom>
          <a:noFill/>
        </p:spPr>
        <p:txBody>
          <a:bodyPr wrap="square" rtlCol="0">
            <a:spAutoFit/>
          </a:bodyPr>
          <a:lstStyle/>
          <a:p>
            <a:r>
              <a:rPr lang="en-US" sz="3600" b="1">
                <a:latin typeface="Jost" pitchFamily="2" charset="0"/>
                <a:ea typeface="Jost" pitchFamily="2" charset="0"/>
              </a:rPr>
              <a:t>1. </a:t>
            </a:r>
            <a:r>
              <a:rPr lang="sr-Latn-BA" sz="3600" b="1">
                <a:latin typeface="Jost" pitchFamily="2" charset="0"/>
                <a:ea typeface="Jost" pitchFamily="2" charset="0"/>
              </a:rPr>
              <a:t>OSI MODEL</a:t>
            </a:r>
            <a:endParaRPr lang="en-US" sz="3600" b="1">
              <a:latin typeface="Jost" pitchFamily="2" charset="0"/>
              <a:ea typeface="Jost" pitchFamily="2" charset="0"/>
            </a:endParaRP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789857-6723-EC68-FCBA-648DE1576FAC}"/>
              </a:ext>
            </a:extLst>
          </p:cNvPr>
          <p:cNvSpPr txBox="1"/>
          <p:nvPr/>
        </p:nvSpPr>
        <p:spPr>
          <a:xfrm>
            <a:off x="409575" y="1066777"/>
            <a:ext cx="6267450" cy="5693866"/>
          </a:xfrm>
          <a:prstGeom prst="rect">
            <a:avLst/>
          </a:prstGeom>
          <a:noFill/>
        </p:spPr>
        <p:txBody>
          <a:bodyPr wrap="square" rtlCol="0">
            <a:spAutoFit/>
          </a:bodyPr>
          <a:lstStyle/>
          <a:p>
            <a:r>
              <a:rPr lang="en-US" sz="1400">
                <a:latin typeface="Jost" pitchFamily="2" charset="0"/>
                <a:ea typeface="Jost" pitchFamily="2" charset="0"/>
              </a:rPr>
              <a:t>Model otvorenih sistema povezivanja (OSI) je standard ISO organizacije koji omogućava razvijanje i povezivanje sistema preko zajedničkih pravila. U ovom modelu komunikacija između sistema dijeli se na sedam apstraktnih slojeva, gdje svaki sloj obavlja specifične funkcije i zavisi od sloja ispod sebe, a pruža usluge sloju iznad.</a:t>
            </a:r>
          </a:p>
          <a:p>
            <a:endParaRPr lang="en-US" sz="1400">
              <a:latin typeface="Jost" pitchFamily="2" charset="0"/>
              <a:ea typeface="Jost" pitchFamily="2" charset="0"/>
            </a:endParaRPr>
          </a:p>
          <a:p>
            <a:pPr marL="285750" indent="-285750">
              <a:buFont typeface="Arial" panose="020B0604020202020204" pitchFamily="34" charset="0"/>
              <a:buChar char="•"/>
            </a:pPr>
            <a:r>
              <a:rPr lang="sr-Latn-BA" sz="1400" b="1">
                <a:latin typeface="Jost" pitchFamily="2" charset="0"/>
                <a:ea typeface="Jost" pitchFamily="2" charset="0"/>
              </a:rPr>
              <a:t>Fizički sloj</a:t>
            </a:r>
            <a:r>
              <a:rPr lang="sr-Latn-BA" sz="1400">
                <a:latin typeface="Jost" pitchFamily="2" charset="0"/>
                <a:ea typeface="Jost" pitchFamily="2" charset="0"/>
              </a:rPr>
              <a:t> se bavi prenosom bitova preko fizičkih medija poput kablova ili bežične mreže.</a:t>
            </a:r>
          </a:p>
          <a:p>
            <a:pPr marL="285750" indent="-285750">
              <a:buFont typeface="Arial" panose="020B0604020202020204" pitchFamily="34" charset="0"/>
              <a:buChar char="•"/>
            </a:pPr>
            <a:r>
              <a:rPr lang="sr-Latn-BA" sz="1400" b="1">
                <a:latin typeface="Jost" pitchFamily="2" charset="0"/>
                <a:ea typeface="Jost" pitchFamily="2" charset="0"/>
              </a:rPr>
              <a:t>Sloj podataka </a:t>
            </a:r>
            <a:r>
              <a:rPr lang="sr-Latn-BA" sz="1400">
                <a:latin typeface="Jost" pitchFamily="2" charset="0"/>
                <a:ea typeface="Jost" pitchFamily="2" charset="0"/>
              </a:rPr>
              <a:t>osigurava pouzdanu razm</a:t>
            </a:r>
            <a:r>
              <a:rPr lang="en-US" sz="1400">
                <a:latin typeface="Jost" pitchFamily="2" charset="0"/>
                <a:ea typeface="Jost" pitchFamily="2" charset="0"/>
              </a:rPr>
              <a:t>j</a:t>
            </a:r>
            <a:r>
              <a:rPr lang="sr-Latn-BA" sz="1400">
                <a:latin typeface="Jost" pitchFamily="2" charset="0"/>
                <a:ea typeface="Jost" pitchFamily="2" charset="0"/>
              </a:rPr>
              <a:t>enu podataka preko fizičkog sloja, definišući metode kao što su okviri podataka.</a:t>
            </a:r>
          </a:p>
          <a:p>
            <a:pPr marL="285750" indent="-285750">
              <a:buFont typeface="Arial" panose="020B0604020202020204" pitchFamily="34" charset="0"/>
              <a:buChar char="•"/>
            </a:pPr>
            <a:r>
              <a:rPr lang="sr-Latn-BA" sz="1400" b="1">
                <a:latin typeface="Jost" pitchFamily="2" charset="0"/>
                <a:ea typeface="Jost" pitchFamily="2" charset="0"/>
              </a:rPr>
              <a:t>Mrežni sloj </a:t>
            </a:r>
            <a:r>
              <a:rPr lang="sr-Latn-BA" sz="1400">
                <a:latin typeface="Jost" pitchFamily="2" charset="0"/>
                <a:ea typeface="Jost" pitchFamily="2" charset="0"/>
              </a:rPr>
              <a:t>upravlja adresiranjem i rutiranjem podataka kroz mrežu, koristeći IP adrese za identifikaciju čvorova.</a:t>
            </a:r>
          </a:p>
          <a:p>
            <a:pPr marL="285750" indent="-285750">
              <a:buFont typeface="Arial" panose="020B0604020202020204" pitchFamily="34" charset="0"/>
              <a:buChar char="•"/>
            </a:pPr>
            <a:r>
              <a:rPr lang="sr-Latn-BA" sz="1400" b="1">
                <a:latin typeface="Jost" pitchFamily="2" charset="0"/>
                <a:ea typeface="Jost" pitchFamily="2" charset="0"/>
              </a:rPr>
              <a:t>Transportni sloj </a:t>
            </a:r>
            <a:r>
              <a:rPr lang="sr-Latn-BA" sz="1400">
                <a:latin typeface="Jost" pitchFamily="2" charset="0"/>
                <a:ea typeface="Jost" pitchFamily="2" charset="0"/>
              </a:rPr>
              <a:t>osigurava isporuku podataka između aplikacija, kontrolišući segmentaciju i pouzdanost.</a:t>
            </a:r>
          </a:p>
          <a:p>
            <a:pPr marL="285750" indent="-285750">
              <a:buFont typeface="Arial" panose="020B0604020202020204" pitchFamily="34" charset="0"/>
              <a:buChar char="•"/>
            </a:pPr>
            <a:r>
              <a:rPr lang="sr-Latn-BA" sz="1400" b="1">
                <a:latin typeface="Jost" pitchFamily="2" charset="0"/>
                <a:ea typeface="Jost" pitchFamily="2" charset="0"/>
              </a:rPr>
              <a:t>Sloj sesije </a:t>
            </a:r>
            <a:r>
              <a:rPr lang="sr-Latn-BA" sz="1400">
                <a:latin typeface="Jost" pitchFamily="2" charset="0"/>
                <a:ea typeface="Jost" pitchFamily="2" charset="0"/>
              </a:rPr>
              <a:t>uspostavlja, upravlja i prekida sesije između komunikacionih aplikacija.</a:t>
            </a:r>
          </a:p>
          <a:p>
            <a:pPr marL="285750" indent="-285750">
              <a:buFont typeface="Arial" panose="020B0604020202020204" pitchFamily="34" charset="0"/>
              <a:buChar char="•"/>
            </a:pPr>
            <a:r>
              <a:rPr lang="sr-Latn-BA" sz="1400" b="1">
                <a:latin typeface="Jost" pitchFamily="2" charset="0"/>
                <a:ea typeface="Jost" pitchFamily="2" charset="0"/>
              </a:rPr>
              <a:t>Sloj prezentacije </a:t>
            </a:r>
            <a:r>
              <a:rPr lang="sr-Latn-BA" sz="1400">
                <a:latin typeface="Jost" pitchFamily="2" charset="0"/>
                <a:ea typeface="Jost" pitchFamily="2" charset="0"/>
              </a:rPr>
              <a:t>je odgovoran za transformaciju podataka, kao što su kodiranje i dešifrovanje, kako bi ih aplikacije razum</a:t>
            </a:r>
            <a:r>
              <a:rPr lang="en-US" sz="1400">
                <a:latin typeface="Jost" pitchFamily="2" charset="0"/>
                <a:ea typeface="Jost" pitchFamily="2" charset="0"/>
              </a:rPr>
              <a:t>ij</a:t>
            </a:r>
            <a:r>
              <a:rPr lang="sr-Latn-BA" sz="1400">
                <a:latin typeface="Jost" pitchFamily="2" charset="0"/>
                <a:ea typeface="Jost" pitchFamily="2" charset="0"/>
              </a:rPr>
              <a:t>ele.</a:t>
            </a:r>
          </a:p>
          <a:p>
            <a:pPr marL="285750" indent="-285750">
              <a:buFont typeface="Arial" panose="020B0604020202020204" pitchFamily="34" charset="0"/>
              <a:buChar char="•"/>
            </a:pPr>
            <a:r>
              <a:rPr lang="sr-Latn-BA" sz="1400" b="1">
                <a:latin typeface="Jost" pitchFamily="2" charset="0"/>
                <a:ea typeface="Jost" pitchFamily="2" charset="0"/>
              </a:rPr>
              <a:t>Aplikacioni sloj </a:t>
            </a:r>
            <a:r>
              <a:rPr lang="sr-Latn-BA" sz="1400">
                <a:latin typeface="Jost" pitchFamily="2" charset="0"/>
                <a:ea typeface="Jost" pitchFamily="2" charset="0"/>
              </a:rPr>
              <a:t>pruža interfejs za aplikacije koje komuniciraju preko mreže, kao što su e-mail klijenti ili web pretraživači.</a:t>
            </a:r>
            <a:endParaRPr lang="en-US" sz="1400">
              <a:latin typeface="Jost" pitchFamily="2" charset="0"/>
              <a:ea typeface="Jost" pitchFamily="2" charset="0"/>
            </a:endParaRPr>
          </a:p>
          <a:p>
            <a:pPr marL="285750" indent="-285750">
              <a:buFont typeface="Arial" panose="020B0604020202020204" pitchFamily="34" charset="0"/>
              <a:buChar char="•"/>
            </a:pPr>
            <a:endParaRPr lang="en-US" sz="1400">
              <a:latin typeface="Jost" pitchFamily="2" charset="0"/>
              <a:ea typeface="Jost" pitchFamily="2" charset="0"/>
            </a:endParaRPr>
          </a:p>
          <a:p>
            <a:r>
              <a:rPr lang="sr-Latn-BA" sz="1400">
                <a:latin typeface="Jost" pitchFamily="2" charset="0"/>
                <a:ea typeface="Jost" pitchFamily="2" charset="0"/>
              </a:rPr>
              <a:t>Svaki sloj funkcioniše autonomno, ali zajedno omogućavaju efikasnu komunikaciju između različitih mrežnih sistema, od prenosa bitova do kompletne aplikacione interakcije.</a:t>
            </a:r>
          </a:p>
          <a:p>
            <a:endParaRPr lang="sr-Latn-BA" sz="1400">
              <a:latin typeface="Jost" pitchFamily="2" charset="0"/>
              <a:ea typeface="Jost" pitchFamily="2" charset="0"/>
            </a:endParaRPr>
          </a:p>
          <a:p>
            <a:endParaRPr lang="en-US" sz="1400">
              <a:latin typeface="Jost" pitchFamily="2" charset="0"/>
              <a:ea typeface="Jost" pitchFamily="2" charset="0"/>
            </a:endParaRPr>
          </a:p>
        </p:txBody>
      </p:sp>
      <p:pic>
        <p:nvPicPr>
          <p:cNvPr id="8" name="Picture 7">
            <a:extLst>
              <a:ext uri="{FF2B5EF4-FFF2-40B4-BE49-F238E27FC236}">
                <a16:creationId xmlns:a16="http://schemas.microsoft.com/office/drawing/2014/main" id="{E43C24F7-F75A-06BD-21E7-9165CC0EB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6233" y="1066777"/>
            <a:ext cx="4147568" cy="501991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3915138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75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75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75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4" dur="75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75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0" dur="75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75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26" dur="75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750" fill="hold"/>
                                        <p:tgtEl>
                                          <p:spTgt spid="6">
                                            <p:txEl>
                                              <p:pRg st="5" end="5"/>
                                            </p:txEl>
                                          </p:spTgt>
                                        </p:tgtEl>
                                        <p:attrNameLst>
                                          <p:attrName>ppt_x</p:attrName>
                                        </p:attrNameLst>
                                      </p:cBhvr>
                                      <p:tavLst>
                                        <p:tav tm="0">
                                          <p:val>
                                            <p:strVal val="0-#ppt_w/2"/>
                                          </p:val>
                                        </p:tav>
                                        <p:tav tm="100000">
                                          <p:val>
                                            <p:strVal val="#ppt_x"/>
                                          </p:val>
                                        </p:tav>
                                      </p:tavLst>
                                    </p:anim>
                                    <p:anim calcmode="lin" valueType="num">
                                      <p:cBhvr additive="base">
                                        <p:cTn id="32" dur="750" fill="hold"/>
                                        <p:tgtEl>
                                          <p:spTgt spid="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 calcmode="lin" valueType="num">
                                      <p:cBhvr additive="base">
                                        <p:cTn id="37" dur="75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38" dur="75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anim calcmode="lin" valueType="num">
                                      <p:cBhvr additive="base">
                                        <p:cTn id="43" dur="750" fill="hold"/>
                                        <p:tgtEl>
                                          <p:spTgt spid="6">
                                            <p:txEl>
                                              <p:pRg st="7" end="7"/>
                                            </p:txEl>
                                          </p:spTgt>
                                        </p:tgtEl>
                                        <p:attrNameLst>
                                          <p:attrName>ppt_x</p:attrName>
                                        </p:attrNameLst>
                                      </p:cBhvr>
                                      <p:tavLst>
                                        <p:tav tm="0">
                                          <p:val>
                                            <p:strVal val="0-#ppt_w/2"/>
                                          </p:val>
                                        </p:tav>
                                        <p:tav tm="100000">
                                          <p:val>
                                            <p:strVal val="#ppt_x"/>
                                          </p:val>
                                        </p:tav>
                                      </p:tavLst>
                                    </p:anim>
                                    <p:anim calcmode="lin" valueType="num">
                                      <p:cBhvr additive="base">
                                        <p:cTn id="44" dur="750" fill="hold"/>
                                        <p:tgtEl>
                                          <p:spTgt spid="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6">
                                            <p:txEl>
                                              <p:pRg st="8" end="8"/>
                                            </p:txEl>
                                          </p:spTgt>
                                        </p:tgtEl>
                                        <p:attrNameLst>
                                          <p:attrName>style.visibility</p:attrName>
                                        </p:attrNameLst>
                                      </p:cBhvr>
                                      <p:to>
                                        <p:strVal val="visible"/>
                                      </p:to>
                                    </p:set>
                                    <p:anim calcmode="lin" valueType="num">
                                      <p:cBhvr additive="base">
                                        <p:cTn id="49" dur="750" fill="hold"/>
                                        <p:tgtEl>
                                          <p:spTgt spid="6">
                                            <p:txEl>
                                              <p:pRg st="8" end="8"/>
                                            </p:txEl>
                                          </p:spTgt>
                                        </p:tgtEl>
                                        <p:attrNameLst>
                                          <p:attrName>ppt_x</p:attrName>
                                        </p:attrNameLst>
                                      </p:cBhvr>
                                      <p:tavLst>
                                        <p:tav tm="0">
                                          <p:val>
                                            <p:strVal val="0-#ppt_w/2"/>
                                          </p:val>
                                        </p:tav>
                                        <p:tav tm="100000">
                                          <p:val>
                                            <p:strVal val="#ppt_x"/>
                                          </p:val>
                                        </p:tav>
                                      </p:tavLst>
                                    </p:anim>
                                    <p:anim calcmode="lin" valueType="num">
                                      <p:cBhvr additive="base">
                                        <p:cTn id="50" dur="750" fill="hold"/>
                                        <p:tgtEl>
                                          <p:spTgt spid="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6">
                                            <p:txEl>
                                              <p:pRg st="10" end="10"/>
                                            </p:txEl>
                                          </p:spTgt>
                                        </p:tgtEl>
                                        <p:attrNameLst>
                                          <p:attrName>style.visibility</p:attrName>
                                        </p:attrNameLst>
                                      </p:cBhvr>
                                      <p:to>
                                        <p:strVal val="visible"/>
                                      </p:to>
                                    </p:set>
                                    <p:anim calcmode="lin" valueType="num">
                                      <p:cBhvr additive="base">
                                        <p:cTn id="55" dur="750" fill="hold"/>
                                        <p:tgtEl>
                                          <p:spTgt spid="6">
                                            <p:txEl>
                                              <p:pRg st="10" end="10"/>
                                            </p:txEl>
                                          </p:spTgt>
                                        </p:tgtEl>
                                        <p:attrNameLst>
                                          <p:attrName>ppt_x</p:attrName>
                                        </p:attrNameLst>
                                      </p:cBhvr>
                                      <p:tavLst>
                                        <p:tav tm="0">
                                          <p:val>
                                            <p:strVal val="0-#ppt_w/2"/>
                                          </p:val>
                                        </p:tav>
                                        <p:tav tm="100000">
                                          <p:val>
                                            <p:strVal val="#ppt_x"/>
                                          </p:val>
                                        </p:tav>
                                      </p:tavLst>
                                    </p:anim>
                                    <p:anim calcmode="lin" valueType="num">
                                      <p:cBhvr additive="base">
                                        <p:cTn id="56" dur="750" fill="hold"/>
                                        <p:tgtEl>
                                          <p:spTgt spid="6">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6160650"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2. SLOJ VEZE PODATAKA</a:t>
            </a: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7D4A32E-7356-47A8-720E-06C5BA63A724}"/>
              </a:ext>
            </a:extLst>
          </p:cNvPr>
          <p:cNvSpPr txBox="1"/>
          <p:nvPr/>
        </p:nvSpPr>
        <p:spPr>
          <a:xfrm>
            <a:off x="409575" y="1033272"/>
            <a:ext cx="8194929" cy="3108543"/>
          </a:xfrm>
          <a:prstGeom prst="rect">
            <a:avLst/>
          </a:prstGeom>
          <a:noFill/>
        </p:spPr>
        <p:txBody>
          <a:bodyPr wrap="square" rtlCol="0">
            <a:spAutoFit/>
          </a:bodyPr>
          <a:lstStyle/>
          <a:p>
            <a:r>
              <a:rPr lang="en-US" sz="1400">
                <a:latin typeface="Jost" pitchFamily="2" charset="0"/>
                <a:ea typeface="Jost" pitchFamily="2" charset="0"/>
              </a:rPr>
              <a:t>Sloj veze podataka (Data Link Layer) je drugi sloj OSI modela, odgovoran za prenos podataka između čvorova na mrežnom segmentu. Ovaj sloj omogućava lokalnu isporuku podataka u obliku ramova (frames) i bavi se adresiranjem, kontrolom pristupa mediju, kao i detekcijom i korekcijom grešaka koje nastaju na fizičkom sloju.</a:t>
            </a:r>
          </a:p>
          <a:p>
            <a:endParaRPr lang="en-US" sz="1400">
              <a:latin typeface="Jost" pitchFamily="2" charset="0"/>
              <a:ea typeface="Jost" pitchFamily="2" charset="0"/>
            </a:endParaRPr>
          </a:p>
          <a:p>
            <a:r>
              <a:rPr lang="en-US" sz="1400">
                <a:latin typeface="Jost" pitchFamily="2" charset="0"/>
                <a:ea typeface="Jost" pitchFamily="2" charset="0"/>
              </a:rPr>
              <a:t>Ramovi ne prelaze granice lokalne mreže, dok globalno adresiranje i rutiranje pripadaju višim slojevima. Uloga sloja veze podataka je da obezbijedi isporuku podataka između hostova povezanih na fizičkom linku. Funkcija ovog sloja može biti pouzdana ili nepouzdana, zavisno od protokola. U slučaju nepouzdanih protokola, slojevi iznad brinu o kontroli grešaka, potvrdi prijema i ponovnom prenosu.</a:t>
            </a:r>
          </a:p>
          <a:p>
            <a:endParaRPr lang="en-US" sz="1400">
              <a:latin typeface="Jost" pitchFamily="2" charset="0"/>
              <a:ea typeface="Jost" pitchFamily="2" charset="0"/>
            </a:endParaRPr>
          </a:p>
          <a:p>
            <a:r>
              <a:rPr lang="en-US" sz="1400">
                <a:latin typeface="Jost" pitchFamily="2" charset="0"/>
                <a:ea typeface="Jost" pitchFamily="2" charset="0"/>
              </a:rPr>
              <a:t>Zaglavlje rama sadrži izvornu i odredišnu adresu, koja definiše ko šalje i ko prima podatke. Za razliku od mrežnog sloja, adrese sloja 2 su ravne, bez hijerarhijske strukture. U mrežama poput </a:t>
            </a:r>
            <a:r>
              <a:rPr lang="en-US" sz="1400" b="1">
                <a:solidFill>
                  <a:schemeClr val="accent1">
                    <a:lumMod val="75000"/>
                  </a:schemeClr>
                </a:solidFill>
                <a:latin typeface="Jost" pitchFamily="2" charset="0"/>
                <a:ea typeface="Jost" pitchFamily="2" charset="0"/>
              </a:rPr>
              <a:t>IEEE 802</a:t>
            </a:r>
            <a:r>
              <a:rPr lang="en-US" sz="1400">
                <a:latin typeface="Jost" pitchFamily="2" charset="0"/>
                <a:ea typeface="Jost" pitchFamily="2" charset="0"/>
              </a:rPr>
              <a:t>, ovaj sloj se dijeli na dva pod-sloja: </a:t>
            </a:r>
            <a:r>
              <a:rPr lang="en-US" sz="1400" b="1">
                <a:latin typeface="Jost" pitchFamily="2" charset="0"/>
                <a:ea typeface="Jost" pitchFamily="2" charset="0"/>
              </a:rPr>
              <a:t>kontrola pristupa mediju </a:t>
            </a:r>
            <a:r>
              <a:rPr lang="en-US" sz="1400">
                <a:latin typeface="Jost" pitchFamily="2" charset="0"/>
                <a:ea typeface="Jost" pitchFamily="2" charset="0"/>
              </a:rPr>
              <a:t>(MAC) i </a:t>
            </a:r>
            <a:r>
              <a:rPr lang="en-US" sz="1400" b="1">
                <a:latin typeface="Jost" pitchFamily="2" charset="0"/>
                <a:ea typeface="Jost" pitchFamily="2" charset="0"/>
              </a:rPr>
              <a:t>logička kontrola linka </a:t>
            </a:r>
            <a:r>
              <a:rPr lang="en-US" sz="1400">
                <a:latin typeface="Jost" pitchFamily="2" charset="0"/>
                <a:ea typeface="Jost" pitchFamily="2" charset="0"/>
              </a:rPr>
              <a:t>(LLC). Ovi protokoli se koriste u standardima kao što su </a:t>
            </a:r>
            <a:r>
              <a:rPr lang="en-US" sz="1400" i="1">
                <a:latin typeface="Jost" pitchFamily="2" charset="0"/>
                <a:ea typeface="Jost" pitchFamily="2" charset="0"/>
              </a:rPr>
              <a:t>Ethernet</a:t>
            </a:r>
            <a:r>
              <a:rPr lang="en-US" sz="1400">
                <a:latin typeface="Jost" pitchFamily="2" charset="0"/>
                <a:ea typeface="Jost" pitchFamily="2" charset="0"/>
              </a:rPr>
              <a:t>, </a:t>
            </a:r>
            <a:r>
              <a:rPr lang="en-US" sz="1400" i="1">
                <a:latin typeface="Jost" pitchFamily="2" charset="0"/>
                <a:ea typeface="Jost" pitchFamily="2" charset="0"/>
              </a:rPr>
              <a:t>Wi-Fi</a:t>
            </a:r>
            <a:r>
              <a:rPr lang="en-US" sz="1400">
                <a:latin typeface="Jost" pitchFamily="2" charset="0"/>
                <a:ea typeface="Jost" pitchFamily="2" charset="0"/>
              </a:rPr>
              <a:t> (IEEE 802.11), i </a:t>
            </a:r>
            <a:r>
              <a:rPr lang="en-US" sz="1400" i="1">
                <a:latin typeface="Jost" pitchFamily="2" charset="0"/>
                <a:ea typeface="Jost" pitchFamily="2" charset="0"/>
              </a:rPr>
              <a:t>Token</a:t>
            </a:r>
            <a:r>
              <a:rPr lang="en-US" sz="1400">
                <a:latin typeface="Jost" pitchFamily="2" charset="0"/>
                <a:ea typeface="Jost" pitchFamily="2" charset="0"/>
              </a:rPr>
              <a:t> </a:t>
            </a:r>
            <a:r>
              <a:rPr lang="en-US" sz="1400" i="1">
                <a:latin typeface="Jost" pitchFamily="2" charset="0"/>
                <a:ea typeface="Jost" pitchFamily="2" charset="0"/>
              </a:rPr>
              <a:t>Ring</a:t>
            </a:r>
            <a:r>
              <a:rPr lang="en-US" sz="1400">
                <a:latin typeface="Jost" pitchFamily="2" charset="0"/>
                <a:ea typeface="Jost" pitchFamily="2" charset="0"/>
              </a:rPr>
              <a:t>.</a:t>
            </a:r>
          </a:p>
        </p:txBody>
      </p:sp>
      <p:pic>
        <p:nvPicPr>
          <p:cNvPr id="9" name="Picture 8">
            <a:extLst>
              <a:ext uri="{FF2B5EF4-FFF2-40B4-BE49-F238E27FC236}">
                <a16:creationId xmlns:a16="http://schemas.microsoft.com/office/drawing/2014/main" id="{30E19B65-7114-322C-2AFE-C38D2A76DE9A}"/>
              </a:ext>
            </a:extLst>
          </p:cNvPr>
          <p:cNvPicPr>
            <a:picLocks noChangeAspect="1"/>
          </p:cNvPicPr>
          <p:nvPr/>
        </p:nvPicPr>
        <p:blipFill>
          <a:blip r:embed="rId2"/>
          <a:stretch>
            <a:fillRect/>
          </a:stretch>
        </p:blipFill>
        <p:spPr>
          <a:xfrm>
            <a:off x="494389" y="4352293"/>
            <a:ext cx="5725324" cy="2057687"/>
          </a:xfrm>
          <a:prstGeom prst="rect">
            <a:avLst/>
          </a:prstGeom>
        </p:spPr>
      </p:pic>
      <p:pic>
        <p:nvPicPr>
          <p:cNvPr id="6" name="Picture 5">
            <a:extLst>
              <a:ext uri="{FF2B5EF4-FFF2-40B4-BE49-F238E27FC236}">
                <a16:creationId xmlns:a16="http://schemas.microsoft.com/office/drawing/2014/main" id="{04E3734B-6259-4A1F-A876-E71F81E89921}"/>
              </a:ext>
            </a:extLst>
          </p:cNvPr>
          <p:cNvPicPr>
            <a:picLocks noChangeAspect="1"/>
          </p:cNvPicPr>
          <p:nvPr/>
        </p:nvPicPr>
        <p:blipFill>
          <a:blip r:embed="rId3"/>
          <a:stretch>
            <a:fillRect/>
          </a:stretch>
        </p:blipFill>
        <p:spPr>
          <a:xfrm>
            <a:off x="6648144" y="4860147"/>
            <a:ext cx="4874524" cy="82655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71361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ppt_x"/>
                                          </p:val>
                                        </p:tav>
                                        <p:tav tm="100000">
                                          <p:val>
                                            <p:strVal val="#ppt_x"/>
                                          </p:val>
                                        </p:tav>
                                      </p:tavLst>
                                    </p:anim>
                                    <p:anim calcmode="lin" valueType="num">
                                      <p:cBhvr additive="base">
                                        <p:cTn id="12" dur="10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2.1. ETHERNET (</a:t>
            </a:r>
            <a:r>
              <a:rPr lang="en-US" sz="3600" b="1">
                <a:solidFill>
                  <a:schemeClr val="accent1">
                    <a:lumMod val="75000"/>
                  </a:schemeClr>
                </a:solidFill>
                <a:latin typeface="Jost" pitchFamily="2" charset="0"/>
                <a:ea typeface="Jost" pitchFamily="2" charset="0"/>
              </a:rPr>
              <a:t>802.3</a:t>
            </a:r>
            <a:r>
              <a:rPr lang="en-US" sz="3600" b="1">
                <a:latin typeface="Jost" pitchFamily="2" charset="0"/>
                <a:ea typeface="Jost" pitchFamily="2" charset="0"/>
              </a:rPr>
              <a:t>)</a:t>
            </a: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115568"/>
            <a:ext cx="6247257" cy="3754874"/>
          </a:xfrm>
          <a:prstGeom prst="rect">
            <a:avLst/>
          </a:prstGeom>
          <a:noFill/>
        </p:spPr>
        <p:txBody>
          <a:bodyPr wrap="square" rtlCol="0">
            <a:spAutoFit/>
          </a:bodyPr>
          <a:lstStyle/>
          <a:p>
            <a:r>
              <a:rPr lang="en-US" sz="1400">
                <a:latin typeface="Jost" pitchFamily="2" charset="0"/>
                <a:ea typeface="Jost" pitchFamily="2" charset="0"/>
              </a:rPr>
              <a:t>Ethernet (IEEE 802.3) je široko korištena tehnologija za žično umrežavanje u lokalnim (LAN), metropolitanskim (MAN) i širokopojasnim mrežama (WAN). Prvi put je standardizovan 1983. godine kao IEEE 802.3 i od tada je unapređen da podrži veće brzine prenosa, veći broj čvorova i duže linkove, uz održavanje kompatibilnosti unazad.</a:t>
            </a:r>
          </a:p>
          <a:p>
            <a:endParaRPr lang="en-US" sz="1400">
              <a:latin typeface="Jost" pitchFamily="2" charset="0"/>
              <a:ea typeface="Jost" pitchFamily="2" charset="0"/>
            </a:endParaRPr>
          </a:p>
          <a:p>
            <a:r>
              <a:rPr lang="en-US" sz="1400">
                <a:latin typeface="Jost" pitchFamily="2" charset="0"/>
                <a:ea typeface="Jost" pitchFamily="2" charset="0"/>
              </a:rPr>
              <a:t>Originalni Ethernet je koristio koaksijalni kabal, ali su novije verzije prešle na uvijene parice i optička vlakna, u kombinaciji sa preklopnicima. Brzina prenosa podataka se tokom godina značajno povećala, od početnih 2,94 Mbit/s do najnovijih 400 Gbit/s, a u razvoju su brzine do 1,6 Tbit/s.</a:t>
            </a:r>
          </a:p>
          <a:p>
            <a:endParaRPr lang="en-US" sz="1400">
              <a:latin typeface="Jost" pitchFamily="2" charset="0"/>
              <a:ea typeface="Jost" pitchFamily="2" charset="0"/>
            </a:endParaRPr>
          </a:p>
          <a:p>
            <a:r>
              <a:rPr lang="en-US" sz="1400">
                <a:latin typeface="Jost" pitchFamily="2" charset="0"/>
                <a:ea typeface="Jost" pitchFamily="2" charset="0"/>
              </a:rPr>
              <a:t>Ethernet dijeli podatke na "frame" jedinice, koje sadrže izvornu i odredišnu adresu, kao i podatke za provjeru grešaka. Koristi 48-bitnu MAC adresu, koja je također prisutna u drugim standardima poput IEEE 802.11 (WiFi). Ethernet je ključna tehnologija u internet infrastrukturi i često se koristi zajedno sa WiFi mrežama.</a:t>
            </a:r>
          </a:p>
          <a:p>
            <a:endParaRPr lang="en-US" sz="1400">
              <a:latin typeface="Jost" pitchFamily="2" charset="0"/>
              <a:ea typeface="Jost" pitchFamily="2" charset="0"/>
            </a:endParaRPr>
          </a:p>
        </p:txBody>
      </p:sp>
      <p:pic>
        <p:nvPicPr>
          <p:cNvPr id="2050" name="Picture 2" descr="Eaton Tripp Lite Series Cat6 Gigabit Molded Ultra-Slim UTP Ethernet Cable  (RJ45 M/M), Blue, 5 ft. (1.52 m) - network - N200-UR05-BL - Cat 6 Cables -  CDW.com">
            <a:extLst>
              <a:ext uri="{FF2B5EF4-FFF2-40B4-BE49-F238E27FC236}">
                <a16:creationId xmlns:a16="http://schemas.microsoft.com/office/drawing/2014/main" id="{B7A07D45-0863-6903-3FB2-37B2956E8D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385" y="1322588"/>
            <a:ext cx="4288713" cy="260933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thernet Frame Format - GeeksforGeeks">
            <a:extLst>
              <a:ext uri="{FF2B5EF4-FFF2-40B4-BE49-F238E27FC236}">
                <a16:creationId xmlns:a16="http://schemas.microsoft.com/office/drawing/2014/main" id="{E13740C8-3A53-631F-2C91-6203B0C60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6174" y="4759642"/>
            <a:ext cx="6819900" cy="1819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73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1000" fill="hold"/>
                                        <p:tgtEl>
                                          <p:spTgt spid="2050"/>
                                        </p:tgtEl>
                                        <p:attrNameLst>
                                          <p:attrName>ppt_x</p:attrName>
                                        </p:attrNameLst>
                                      </p:cBhvr>
                                      <p:tavLst>
                                        <p:tav tm="0">
                                          <p:val>
                                            <p:strVal val="1+#ppt_w/2"/>
                                          </p:val>
                                        </p:tav>
                                        <p:tav tm="100000">
                                          <p:val>
                                            <p:strVal val="#ppt_x"/>
                                          </p:val>
                                        </p:tav>
                                      </p:tavLst>
                                    </p:anim>
                                    <p:anim calcmode="lin" valueType="num">
                                      <p:cBhvr additive="base">
                                        <p:cTn id="14" dur="1000" fill="hold"/>
                                        <p:tgtEl>
                                          <p:spTgt spid="205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anim calcmode="lin" valueType="num">
                                      <p:cBhvr additive="base">
                                        <p:cTn id="19" dur="1000" fill="hold"/>
                                        <p:tgtEl>
                                          <p:spTgt spid="2052"/>
                                        </p:tgtEl>
                                        <p:attrNameLst>
                                          <p:attrName>ppt_x</p:attrName>
                                        </p:attrNameLst>
                                      </p:cBhvr>
                                      <p:tavLst>
                                        <p:tav tm="0">
                                          <p:val>
                                            <p:strVal val="#ppt_x"/>
                                          </p:val>
                                        </p:tav>
                                        <p:tav tm="100000">
                                          <p:val>
                                            <p:strVal val="#ppt_x"/>
                                          </p:val>
                                        </p:tav>
                                      </p:tavLst>
                                    </p:anim>
                                    <p:anim calcmode="lin" valueType="num">
                                      <p:cBhvr additive="base">
                                        <p:cTn id="20" dur="1000" fill="hold"/>
                                        <p:tgtEl>
                                          <p:spTgt spid="205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10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10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4B1840E-AD40-F792-31AE-936DC2E875BE}"/>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p:spPr>
        <p:txBody>
          <a:bodyPr wrap="square" rtlCol="0">
            <a:spAutoFit/>
          </a:bodyPr>
          <a:lstStyle/>
          <a:p>
            <a:r>
              <a:rPr lang="en-US" sz="3600" b="1">
                <a:solidFill>
                  <a:schemeClr val="bg1"/>
                </a:solidFill>
                <a:latin typeface="Jost" pitchFamily="2" charset="0"/>
                <a:ea typeface="Jost" pitchFamily="2" charset="0"/>
              </a:rPr>
              <a:t>2.2. PPP Point-to-Point protokol</a:t>
            </a: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115568"/>
            <a:ext cx="9484233" cy="2246769"/>
          </a:xfrm>
          <a:prstGeom prst="rect">
            <a:avLst/>
          </a:prstGeom>
          <a:noFill/>
        </p:spPr>
        <p:txBody>
          <a:bodyPr wrap="square" rtlCol="0">
            <a:spAutoFit/>
          </a:bodyPr>
          <a:lstStyle/>
          <a:p>
            <a:r>
              <a:rPr lang="en-US" sz="1400" b="1">
                <a:solidFill>
                  <a:schemeClr val="accent1">
                    <a:lumMod val="75000"/>
                  </a:schemeClr>
                </a:solidFill>
                <a:latin typeface="Jost" pitchFamily="2" charset="0"/>
                <a:ea typeface="Jost" pitchFamily="2" charset="0"/>
              </a:rPr>
              <a:t>Point-to-Point</a:t>
            </a:r>
            <a:r>
              <a:rPr lang="en-US" sz="1400">
                <a:solidFill>
                  <a:schemeClr val="bg1"/>
                </a:solidFill>
                <a:latin typeface="Jost" pitchFamily="2" charset="0"/>
                <a:ea typeface="Jost" pitchFamily="2" charset="0"/>
              </a:rPr>
              <a:t> (PPP) protokol je komunikacioni protokol na sloju veze podataka koji omogućava direktnu komunikaciju između dva rutera bez posredovanja drugih mrežnih uređaja. PPP pruža funkcionalnosti kao što su detekcija grešaka, autentifikacija, enkripcija prenosa i kompresija podataka.</a:t>
            </a:r>
          </a:p>
          <a:p>
            <a:endParaRPr lang="en-US" sz="1400">
              <a:solidFill>
                <a:schemeClr val="bg1"/>
              </a:solidFill>
              <a:latin typeface="Jost" pitchFamily="2" charset="0"/>
              <a:ea typeface="Jost" pitchFamily="2" charset="0"/>
            </a:endParaRPr>
          </a:p>
          <a:p>
            <a:r>
              <a:rPr lang="en-US" sz="1400">
                <a:solidFill>
                  <a:schemeClr val="bg1"/>
                </a:solidFill>
                <a:latin typeface="Jost" pitchFamily="2" charset="0"/>
                <a:ea typeface="Jost" pitchFamily="2" charset="0"/>
              </a:rPr>
              <a:t>Koristi se preko različitih fizičkih mreža, uključujući serijske kablove, telefonske linije, mobilne telefone, specijalizovane radio linkove, ISDN i optička vlakna. U kontekstu internet usluga, PPP je bio ključan za </a:t>
            </a:r>
            <a:r>
              <a:rPr lang="en-US" sz="1400" b="1">
                <a:solidFill>
                  <a:schemeClr val="accent1">
                    <a:lumMod val="75000"/>
                  </a:schemeClr>
                </a:solidFill>
                <a:latin typeface="Jost" pitchFamily="2" charset="0"/>
                <a:ea typeface="Jost" pitchFamily="2" charset="0"/>
              </a:rPr>
              <a:t>dial-up</a:t>
            </a:r>
            <a:r>
              <a:rPr lang="en-US" sz="1400">
                <a:solidFill>
                  <a:schemeClr val="bg1"/>
                </a:solidFill>
                <a:latin typeface="Jost" pitchFamily="2" charset="0"/>
                <a:ea typeface="Jost" pitchFamily="2" charset="0"/>
              </a:rPr>
              <a:t> pristup internetu, omogućavajući prenos IP paketa preko modemske linije.</a:t>
            </a:r>
          </a:p>
          <a:p>
            <a:endParaRPr lang="en-US" sz="1400">
              <a:solidFill>
                <a:schemeClr val="bg1"/>
              </a:solidFill>
              <a:latin typeface="Jost" pitchFamily="2" charset="0"/>
              <a:ea typeface="Jost" pitchFamily="2" charset="0"/>
            </a:endParaRPr>
          </a:p>
          <a:p>
            <a:r>
              <a:rPr lang="en-US" sz="1400">
                <a:solidFill>
                  <a:schemeClr val="bg1"/>
                </a:solidFill>
                <a:latin typeface="Jost" pitchFamily="2" charset="0"/>
                <a:ea typeface="Jost" pitchFamily="2" charset="0"/>
              </a:rPr>
              <a:t>Na bivšim dial-up linijama, derivati PPP-a kao što su Point-to-Point Protocol over Ethernet (PPPoE) i Point-to-Point Protocol over ATM (PPPoA) koriste se za uspostavljanje DSL (Digital Subscriber Line) internet veza.</a:t>
            </a:r>
          </a:p>
        </p:txBody>
      </p:sp>
      <p:pic>
        <p:nvPicPr>
          <p:cNvPr id="4098" name="Picture 2" descr="Point-to-Point Protocol (PPP) - Computer Notes">
            <a:extLst>
              <a:ext uri="{FF2B5EF4-FFF2-40B4-BE49-F238E27FC236}">
                <a16:creationId xmlns:a16="http://schemas.microsoft.com/office/drawing/2014/main" id="{3A075D23-CD02-15A9-8B35-9FDF32580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3495664"/>
            <a:ext cx="4012692" cy="296939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he Death of Dial Up - join us on a technology trip down memory lane |  Voyager">
            <a:extLst>
              <a:ext uri="{FF2B5EF4-FFF2-40B4-BE49-F238E27FC236}">
                <a16:creationId xmlns:a16="http://schemas.microsoft.com/office/drawing/2014/main" id="{BA36B62A-8961-172C-F6AC-0F9DB0C0F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6711" y="3762965"/>
            <a:ext cx="4989957" cy="2482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94669"/>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2.3. Wi-Fi (</a:t>
            </a:r>
            <a:r>
              <a:rPr lang="en-US" sz="3600" b="1">
                <a:solidFill>
                  <a:schemeClr val="accent1">
                    <a:lumMod val="75000"/>
                  </a:schemeClr>
                </a:solidFill>
                <a:latin typeface="Jost" pitchFamily="2" charset="0"/>
                <a:ea typeface="Jost" pitchFamily="2" charset="0"/>
              </a:rPr>
              <a:t>802.11</a:t>
            </a:r>
            <a:r>
              <a:rPr lang="en-US" sz="3600" b="1">
                <a:latin typeface="Jost" pitchFamily="2" charset="0"/>
                <a:ea typeface="Jost" pitchFamily="2" charset="0"/>
              </a:rPr>
              <a:t>)</a:t>
            </a: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096766"/>
            <a:ext cx="6009513" cy="2893100"/>
          </a:xfrm>
          <a:prstGeom prst="rect">
            <a:avLst/>
          </a:prstGeom>
          <a:noFill/>
        </p:spPr>
        <p:txBody>
          <a:bodyPr wrap="square" rtlCol="0">
            <a:spAutoFit/>
          </a:bodyPr>
          <a:lstStyle/>
          <a:p>
            <a:r>
              <a:rPr lang="en-US" sz="1400">
                <a:latin typeface="Jost" pitchFamily="2" charset="0"/>
                <a:ea typeface="Jost" pitchFamily="2" charset="0"/>
              </a:rPr>
              <a:t>IEEE 802.11 je standard koji definiše protokole za kontrolu pristupa mediju (MAC) i fizički sloj (PHY) u bežičkim lokalnim mrežama (WLAN). Kao osnovni standard za Wi-Fi, IEEE 802.11 omogućava bežično umrežavanje, što ga čini najšire koriš</a:t>
            </a:r>
            <a:r>
              <a:rPr lang="sr-Latn-BA" sz="1400">
                <a:latin typeface="Jost" pitchFamily="2" charset="0"/>
                <a:ea typeface="Jost" pitchFamily="2" charset="0"/>
              </a:rPr>
              <a:t>t</a:t>
            </a:r>
            <a:r>
              <a:rPr lang="en-US" sz="1400">
                <a:latin typeface="Jost" pitchFamily="2" charset="0"/>
                <a:ea typeface="Jost" pitchFamily="2" charset="0"/>
              </a:rPr>
              <a:t>enim bežičnim standardom za računarstvo u sv</a:t>
            </a:r>
            <a:r>
              <a:rPr lang="sr-Latn-BA" sz="1400">
                <a:latin typeface="Jost" pitchFamily="2" charset="0"/>
                <a:ea typeface="Jost" pitchFamily="2" charset="0"/>
              </a:rPr>
              <a:t>ij</a:t>
            </a:r>
            <a:r>
              <a:rPr lang="en-US" sz="1400">
                <a:latin typeface="Jost" pitchFamily="2" charset="0"/>
                <a:ea typeface="Jost" pitchFamily="2" charset="0"/>
              </a:rPr>
              <a:t>etu.</a:t>
            </a:r>
          </a:p>
          <a:p>
            <a:endParaRPr lang="en-US" sz="1400">
              <a:latin typeface="Jost" pitchFamily="2" charset="0"/>
              <a:ea typeface="Jost" pitchFamily="2" charset="0"/>
            </a:endParaRPr>
          </a:p>
          <a:p>
            <a:r>
              <a:rPr lang="en-US" sz="1400">
                <a:latin typeface="Jost" pitchFamily="2" charset="0"/>
                <a:ea typeface="Jost" pitchFamily="2" charset="0"/>
              </a:rPr>
              <a:t>Koristi se u većini kućnih i kancelarijskih mreža, omogućavajući komunikaciju između uređaja poput laptopova, štampača i pametnih telefona, kao i pristup internetu bez kablova. Takođe</a:t>
            </a:r>
            <a:r>
              <a:rPr lang="sr-Latn-BA" sz="1400">
                <a:latin typeface="Jost" pitchFamily="2" charset="0"/>
                <a:ea typeface="Jost" pitchFamily="2" charset="0"/>
              </a:rPr>
              <a:t>r</a:t>
            </a:r>
            <a:r>
              <a:rPr lang="en-US" sz="1400">
                <a:latin typeface="Jost" pitchFamily="2" charset="0"/>
                <a:ea typeface="Jost" pitchFamily="2" charset="0"/>
              </a:rPr>
              <a:t>, IEEE 802.11 služi kao osnova za komunikacione mreže u vozilima kroz IEEE 802.11p.</a:t>
            </a:r>
          </a:p>
          <a:p>
            <a:endParaRPr lang="en-US" sz="1400">
              <a:latin typeface="Jost" pitchFamily="2" charset="0"/>
              <a:ea typeface="Jost" pitchFamily="2" charset="0"/>
            </a:endParaRPr>
          </a:p>
          <a:p>
            <a:r>
              <a:rPr lang="en-US" sz="1400">
                <a:latin typeface="Jost" pitchFamily="2" charset="0"/>
                <a:ea typeface="Jost" pitchFamily="2" charset="0"/>
              </a:rPr>
              <a:t>Standardi IEEE 802.11, koji su kreirani i održavani od strane IEEE 802 komiteta za LAN/MAN, prvi put su objavljeni 1997. godine i od tada su prošli kroz nekoliko dopuna.</a:t>
            </a:r>
          </a:p>
        </p:txBody>
      </p:sp>
      <p:pic>
        <p:nvPicPr>
          <p:cNvPr id="5122" name="Picture 2" descr="Wi-Fi -IEEE 802.11 standard's versions | Download Scientific Diagram">
            <a:extLst>
              <a:ext uri="{FF2B5EF4-FFF2-40B4-BE49-F238E27FC236}">
                <a16:creationId xmlns:a16="http://schemas.microsoft.com/office/drawing/2014/main" id="{8C83429A-38D0-A570-6135-44F7BF203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8585" y="1319749"/>
            <a:ext cx="4352544" cy="2825565"/>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26" name="Picture 6" descr="Wi-Fi by the numbers">
            <a:extLst>
              <a:ext uri="{FF2B5EF4-FFF2-40B4-BE49-F238E27FC236}">
                <a16:creationId xmlns:a16="http://schemas.microsoft.com/office/drawing/2014/main" id="{AF03D234-F461-7543-3CD5-C6F85248E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1794" y="4078225"/>
            <a:ext cx="4606480" cy="269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74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3. SLOJ MRE</a:t>
            </a:r>
            <a:r>
              <a:rPr lang="sr-Latn-BA" sz="3600" b="1">
                <a:latin typeface="Jost" pitchFamily="2" charset="0"/>
                <a:ea typeface="Jost" pitchFamily="2" charset="0"/>
              </a:rPr>
              <a:t>ŽE</a:t>
            </a:r>
            <a:endParaRPr lang="en-US" sz="3600" b="1">
              <a:latin typeface="Jost" pitchFamily="2" charset="0"/>
              <a:ea typeface="Jost" pitchFamily="2" charset="0"/>
            </a:endParaRP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115568"/>
            <a:ext cx="7106793" cy="4616648"/>
          </a:xfrm>
          <a:prstGeom prst="rect">
            <a:avLst/>
          </a:prstGeom>
          <a:noFill/>
        </p:spPr>
        <p:txBody>
          <a:bodyPr wrap="square" rtlCol="0">
            <a:spAutoFit/>
          </a:bodyPr>
          <a:lstStyle/>
          <a:p>
            <a:r>
              <a:rPr lang="en-US" sz="1400">
                <a:latin typeface="Jost" pitchFamily="2" charset="0"/>
                <a:ea typeface="Jost" pitchFamily="2" charset="0"/>
              </a:rPr>
              <a:t>Sloj mreže, ili Network Layer, je ključni d</a:t>
            </a:r>
            <a:r>
              <a:rPr lang="sr-Latn-BA" sz="1400">
                <a:latin typeface="Jost" pitchFamily="2" charset="0"/>
                <a:ea typeface="Jost" pitchFamily="2" charset="0"/>
              </a:rPr>
              <a:t>i</a:t>
            </a:r>
            <a:r>
              <a:rPr lang="en-US" sz="1400">
                <a:latin typeface="Jost" pitchFamily="2" charset="0"/>
                <a:ea typeface="Jost" pitchFamily="2" charset="0"/>
              </a:rPr>
              <a:t>o OSI modela koji upravlja usm</a:t>
            </a:r>
            <a:r>
              <a:rPr lang="sr-Latn-BA" sz="1400">
                <a:latin typeface="Jost" pitchFamily="2" charset="0"/>
                <a:ea typeface="Jost" pitchFamily="2" charset="0"/>
              </a:rPr>
              <a:t>j</a:t>
            </a:r>
            <a:r>
              <a:rPr lang="en-US" sz="1400">
                <a:latin typeface="Jost" pitchFamily="2" charset="0"/>
                <a:ea typeface="Jost" pitchFamily="2" charset="0"/>
              </a:rPr>
              <a:t>eravanjem i prenosom paketa između različitih mreža i računarskih sistema. Njegove glavne funkcije uključuju:</a:t>
            </a:r>
          </a:p>
          <a:p>
            <a:endParaRPr lang="en-US" sz="1400">
              <a:latin typeface="Jost" pitchFamily="2" charset="0"/>
              <a:ea typeface="Jost" pitchFamily="2" charset="0"/>
            </a:endParaRPr>
          </a:p>
          <a:p>
            <a:pPr>
              <a:buFont typeface="Arial" panose="020B0604020202020204" pitchFamily="34" charset="0"/>
              <a:buChar char="•"/>
            </a:pPr>
            <a:r>
              <a:rPr lang="en-US" sz="1400" b="1">
                <a:latin typeface="Jost" pitchFamily="2" charset="0"/>
                <a:ea typeface="Jost" pitchFamily="2" charset="0"/>
              </a:rPr>
              <a:t> </a:t>
            </a:r>
            <a:r>
              <a:rPr lang="en-US" sz="1400" b="1">
                <a:solidFill>
                  <a:schemeClr val="accent1">
                    <a:lumMod val="75000"/>
                  </a:schemeClr>
                </a:solidFill>
                <a:latin typeface="Jost" pitchFamily="2" charset="0"/>
                <a:ea typeface="Jost" pitchFamily="2" charset="0"/>
              </a:rPr>
              <a:t>Rutiranje</a:t>
            </a:r>
            <a:r>
              <a:rPr lang="en-US" sz="1400" b="1">
                <a:latin typeface="Jost" pitchFamily="2" charset="0"/>
                <a:ea typeface="Jost" pitchFamily="2" charset="0"/>
              </a:rPr>
              <a:t> -</a:t>
            </a:r>
            <a:r>
              <a:rPr lang="en-US" sz="1400">
                <a:latin typeface="Jost" pitchFamily="2" charset="0"/>
                <a:ea typeface="Jost" pitchFamily="2" charset="0"/>
              </a:rPr>
              <a:t> Određuje putanju koju paketi treba da pređu od izvora do odredišta koristeći rutere i algoritme za pronalaženje najefikasnijeg puta.</a:t>
            </a:r>
          </a:p>
          <a:p>
            <a:pPr>
              <a:buFont typeface="Arial" panose="020B0604020202020204" pitchFamily="34" charset="0"/>
              <a:buChar char="•"/>
            </a:pPr>
            <a:endParaRPr lang="en-US" sz="1400">
              <a:latin typeface="Jost" pitchFamily="2" charset="0"/>
              <a:ea typeface="Jost" pitchFamily="2" charset="0"/>
            </a:endParaRPr>
          </a:p>
          <a:p>
            <a:pPr>
              <a:buFont typeface="Arial" panose="020B0604020202020204" pitchFamily="34" charset="0"/>
              <a:buChar char="•"/>
            </a:pPr>
            <a:r>
              <a:rPr lang="en-US" sz="1400" b="1">
                <a:latin typeface="Jost" pitchFamily="2" charset="0"/>
                <a:ea typeface="Jost" pitchFamily="2" charset="0"/>
              </a:rPr>
              <a:t> </a:t>
            </a:r>
            <a:r>
              <a:rPr lang="en-US" sz="1400" b="1">
                <a:solidFill>
                  <a:schemeClr val="accent1">
                    <a:lumMod val="75000"/>
                  </a:schemeClr>
                </a:solidFill>
                <a:latin typeface="Jost" pitchFamily="2" charset="0"/>
                <a:ea typeface="Jost" pitchFamily="2" charset="0"/>
              </a:rPr>
              <a:t>Logičke adrese </a:t>
            </a:r>
            <a:r>
              <a:rPr lang="en-US" sz="1400" b="1">
                <a:latin typeface="Jost" pitchFamily="2" charset="0"/>
                <a:ea typeface="Jost" pitchFamily="2" charset="0"/>
              </a:rPr>
              <a:t>-</a:t>
            </a:r>
            <a:r>
              <a:rPr lang="en-US" sz="1400">
                <a:latin typeface="Jost" pitchFamily="2" charset="0"/>
                <a:ea typeface="Jost" pitchFamily="2" charset="0"/>
              </a:rPr>
              <a:t> Dod</a:t>
            </a:r>
            <a:r>
              <a:rPr lang="sr-Latn-BA" sz="1400">
                <a:latin typeface="Jost" pitchFamily="2" charset="0"/>
                <a:ea typeface="Jost" pitchFamily="2" charset="0"/>
              </a:rPr>
              <a:t>j</a:t>
            </a:r>
            <a:r>
              <a:rPr lang="en-US" sz="1400">
                <a:latin typeface="Jost" pitchFamily="2" charset="0"/>
                <a:ea typeface="Jost" pitchFamily="2" charset="0"/>
              </a:rPr>
              <a:t>eljuje IP adrese koje omogućavaju identifikaciju uređaja na mreži i olakšavaju komunikaciju između njih.</a:t>
            </a:r>
          </a:p>
          <a:p>
            <a:pPr>
              <a:buFont typeface="Arial" panose="020B0604020202020204" pitchFamily="34" charset="0"/>
              <a:buChar char="•"/>
            </a:pPr>
            <a:endParaRPr lang="en-US" sz="1400">
              <a:latin typeface="Jost" pitchFamily="2" charset="0"/>
              <a:ea typeface="Jost" pitchFamily="2" charset="0"/>
            </a:endParaRPr>
          </a:p>
          <a:p>
            <a:pPr>
              <a:buFont typeface="Arial" panose="020B0604020202020204" pitchFamily="34" charset="0"/>
              <a:buChar char="•"/>
            </a:pPr>
            <a:r>
              <a:rPr lang="en-US" sz="1400" b="1">
                <a:latin typeface="Jost" pitchFamily="2" charset="0"/>
                <a:ea typeface="Jost" pitchFamily="2" charset="0"/>
              </a:rPr>
              <a:t> </a:t>
            </a:r>
            <a:r>
              <a:rPr lang="en-US" sz="1400" b="1">
                <a:solidFill>
                  <a:schemeClr val="accent1">
                    <a:lumMod val="75000"/>
                  </a:schemeClr>
                </a:solidFill>
                <a:latin typeface="Jost" pitchFamily="2" charset="0"/>
                <a:ea typeface="Jost" pitchFamily="2" charset="0"/>
              </a:rPr>
              <a:t>Fragmentacija</a:t>
            </a:r>
            <a:r>
              <a:rPr lang="en-US" sz="1400" b="1">
                <a:latin typeface="Jost" pitchFamily="2" charset="0"/>
                <a:ea typeface="Jost" pitchFamily="2" charset="0"/>
              </a:rPr>
              <a:t> -</a:t>
            </a:r>
            <a:r>
              <a:rPr lang="en-US" sz="1400">
                <a:latin typeface="Jost" pitchFamily="2" charset="0"/>
                <a:ea typeface="Jost" pitchFamily="2" charset="0"/>
              </a:rPr>
              <a:t> Razdvaja prevelike pakete na manje d</a:t>
            </a:r>
            <a:r>
              <a:rPr lang="sr-Latn-BA" sz="1400">
                <a:latin typeface="Jost" pitchFamily="2" charset="0"/>
                <a:ea typeface="Jost" pitchFamily="2" charset="0"/>
              </a:rPr>
              <a:t>ij</a:t>
            </a:r>
            <a:r>
              <a:rPr lang="en-US" sz="1400">
                <a:latin typeface="Jost" pitchFamily="2" charset="0"/>
                <a:ea typeface="Jost" pitchFamily="2" charset="0"/>
              </a:rPr>
              <a:t>elove za prenos preko mreže i ponovo ih sastavlja na odredištu.</a:t>
            </a:r>
          </a:p>
          <a:p>
            <a:pPr>
              <a:buFont typeface="Arial" panose="020B0604020202020204" pitchFamily="34" charset="0"/>
              <a:buChar char="•"/>
            </a:pPr>
            <a:endParaRPr lang="en-US" sz="1400">
              <a:latin typeface="Jost" pitchFamily="2" charset="0"/>
              <a:ea typeface="Jost" pitchFamily="2" charset="0"/>
            </a:endParaRPr>
          </a:p>
          <a:p>
            <a:pPr>
              <a:buFont typeface="Arial" panose="020B0604020202020204" pitchFamily="34" charset="0"/>
              <a:buChar char="•"/>
            </a:pPr>
            <a:r>
              <a:rPr lang="en-US" sz="1400" b="1">
                <a:latin typeface="Jost" pitchFamily="2" charset="0"/>
                <a:ea typeface="Jost" pitchFamily="2" charset="0"/>
              </a:rPr>
              <a:t> </a:t>
            </a:r>
            <a:r>
              <a:rPr lang="en-US" sz="1400" b="1">
                <a:solidFill>
                  <a:schemeClr val="accent1">
                    <a:lumMod val="75000"/>
                  </a:schemeClr>
                </a:solidFill>
                <a:latin typeface="Jost" pitchFamily="2" charset="0"/>
                <a:ea typeface="Jost" pitchFamily="2" charset="0"/>
              </a:rPr>
              <a:t>Kontrola zagušenja </a:t>
            </a:r>
            <a:r>
              <a:rPr lang="en-US" sz="1400" b="1">
                <a:latin typeface="Jost" pitchFamily="2" charset="0"/>
                <a:ea typeface="Jost" pitchFamily="2" charset="0"/>
              </a:rPr>
              <a:t>-</a:t>
            </a:r>
            <a:r>
              <a:rPr lang="en-US" sz="1400">
                <a:latin typeface="Jost" pitchFamily="2" charset="0"/>
                <a:ea typeface="Jost" pitchFamily="2" charset="0"/>
              </a:rPr>
              <a:t> Pomaže u sprečavanju preopterećenja mreže.</a:t>
            </a:r>
          </a:p>
          <a:p>
            <a:endParaRPr lang="en-US" sz="1400">
              <a:latin typeface="Jost" pitchFamily="2" charset="0"/>
              <a:ea typeface="Jost" pitchFamily="2" charset="0"/>
            </a:endParaRPr>
          </a:p>
          <a:p>
            <a:pPr>
              <a:buFont typeface="Arial" panose="020B0604020202020204" pitchFamily="34" charset="0"/>
              <a:buChar char="•"/>
            </a:pPr>
            <a:endParaRPr lang="en-US" sz="1400">
              <a:latin typeface="Jost" pitchFamily="2" charset="0"/>
              <a:ea typeface="Jost" pitchFamily="2" charset="0"/>
            </a:endParaRPr>
          </a:p>
          <a:p>
            <a:r>
              <a:rPr lang="en-US" sz="1400">
                <a:latin typeface="Jost" pitchFamily="2" charset="0"/>
                <a:ea typeface="Jost" pitchFamily="2" charset="0"/>
              </a:rPr>
              <a:t>Mrežni sloj omogućava povezivanje između različitih mrežnih segmenata i mreža, čime omogućava komunikaciju između uređaja na različitim mrežama. Najpoznatiji protokoli u ovom sloju uključuju </a:t>
            </a:r>
            <a:r>
              <a:rPr lang="en-US" sz="1400" b="1">
                <a:solidFill>
                  <a:schemeClr val="accent1">
                    <a:lumMod val="75000"/>
                  </a:schemeClr>
                </a:solidFill>
                <a:latin typeface="Jost" pitchFamily="2" charset="0"/>
                <a:ea typeface="Jost" pitchFamily="2" charset="0"/>
              </a:rPr>
              <a:t>IP</a:t>
            </a:r>
            <a:r>
              <a:rPr lang="en-US" sz="1400">
                <a:latin typeface="Jost" pitchFamily="2" charset="0"/>
                <a:ea typeface="Jost" pitchFamily="2" charset="0"/>
              </a:rPr>
              <a:t> za adresiranje i rutiranje paketa, </a:t>
            </a:r>
            <a:r>
              <a:rPr lang="en-US" sz="1400" b="1">
                <a:solidFill>
                  <a:schemeClr val="accent1">
                    <a:lumMod val="75000"/>
                  </a:schemeClr>
                </a:solidFill>
                <a:latin typeface="Jost" pitchFamily="2" charset="0"/>
                <a:ea typeface="Jost" pitchFamily="2" charset="0"/>
              </a:rPr>
              <a:t>ICMP</a:t>
            </a:r>
            <a:r>
              <a:rPr lang="en-US" sz="1400">
                <a:latin typeface="Jost" pitchFamily="2" charset="0"/>
                <a:ea typeface="Jost" pitchFamily="2" charset="0"/>
              </a:rPr>
              <a:t> za slanje kontrolnih poruka i grešaka, te protokole za rutiranje kao što su OSPF, BGP i EIGRP, koji pomažu u razm</a:t>
            </a:r>
            <a:r>
              <a:rPr lang="sr-Latn-BA" sz="1400">
                <a:latin typeface="Jost" pitchFamily="2" charset="0"/>
                <a:ea typeface="Jost" pitchFamily="2" charset="0"/>
              </a:rPr>
              <a:t>j</a:t>
            </a:r>
            <a:r>
              <a:rPr lang="en-US" sz="1400">
                <a:latin typeface="Jost" pitchFamily="2" charset="0"/>
                <a:ea typeface="Jost" pitchFamily="2" charset="0"/>
              </a:rPr>
              <a:t>eni informacija o rutama između rutera.</a:t>
            </a:r>
          </a:p>
        </p:txBody>
      </p:sp>
      <p:grpSp>
        <p:nvGrpSpPr>
          <p:cNvPr id="27" name="Group 26">
            <a:extLst>
              <a:ext uri="{FF2B5EF4-FFF2-40B4-BE49-F238E27FC236}">
                <a16:creationId xmlns:a16="http://schemas.microsoft.com/office/drawing/2014/main" id="{CF3F1575-412C-20E4-94C2-A314B4C56897}"/>
              </a:ext>
            </a:extLst>
          </p:cNvPr>
          <p:cNvGrpSpPr/>
          <p:nvPr/>
        </p:nvGrpSpPr>
        <p:grpSpPr>
          <a:xfrm>
            <a:off x="9013126" y="1425724"/>
            <a:ext cx="3571875" cy="4205293"/>
            <a:chOff x="8457560" y="2068667"/>
            <a:chExt cx="2877190" cy="3387416"/>
          </a:xfrm>
          <a:solidFill>
            <a:schemeClr val="accent1">
              <a:lumMod val="75000"/>
            </a:schemeClr>
          </a:solidFill>
          <a:effectLst>
            <a:outerShdw blurRad="50800" dist="38100" dir="2700000" algn="tl" rotWithShape="0">
              <a:prstClr val="black">
                <a:alpha val="40000"/>
              </a:prstClr>
            </a:outerShdw>
          </a:effectLst>
        </p:grpSpPr>
        <p:sp>
          <p:nvSpPr>
            <p:cNvPr id="7" name="Oval 6">
              <a:extLst>
                <a:ext uri="{FF2B5EF4-FFF2-40B4-BE49-F238E27FC236}">
                  <a16:creationId xmlns:a16="http://schemas.microsoft.com/office/drawing/2014/main" id="{51851D45-F7D9-F6BA-898C-80023ED5C630}"/>
                </a:ext>
              </a:extLst>
            </p:cNvPr>
            <p:cNvSpPr/>
            <p:nvPr/>
          </p:nvSpPr>
          <p:spPr>
            <a:xfrm>
              <a:off x="9029700" y="264795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60D62F5-C2D3-0EA1-EE72-62F9666E9F20}"/>
                </a:ext>
              </a:extLst>
            </p:cNvPr>
            <p:cNvSpPr/>
            <p:nvPr/>
          </p:nvSpPr>
          <p:spPr>
            <a:xfrm>
              <a:off x="9848850" y="264795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B3CF1E8-57BE-75D4-8972-D7811052BAF0}"/>
                </a:ext>
              </a:extLst>
            </p:cNvPr>
            <p:cNvSpPr/>
            <p:nvPr/>
          </p:nvSpPr>
          <p:spPr>
            <a:xfrm>
              <a:off x="10668000" y="264795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263E06-006F-7F33-8159-CB1ADF24A1FC}"/>
                </a:ext>
              </a:extLst>
            </p:cNvPr>
            <p:cNvSpPr/>
            <p:nvPr/>
          </p:nvSpPr>
          <p:spPr>
            <a:xfrm>
              <a:off x="9020175" y="342900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770BC96-5308-2201-1122-8C5BCF1BA2EB}"/>
                </a:ext>
              </a:extLst>
            </p:cNvPr>
            <p:cNvSpPr/>
            <p:nvPr/>
          </p:nvSpPr>
          <p:spPr>
            <a:xfrm>
              <a:off x="9820275" y="342900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CF48FE3-460D-BD59-B3B5-6919E44EA745}"/>
                </a:ext>
              </a:extLst>
            </p:cNvPr>
            <p:cNvSpPr/>
            <p:nvPr/>
          </p:nvSpPr>
          <p:spPr>
            <a:xfrm>
              <a:off x="10668000" y="342900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182AD7-7E59-7D54-01D6-59D2CAFE7CFE}"/>
                </a:ext>
              </a:extLst>
            </p:cNvPr>
            <p:cNvSpPr/>
            <p:nvPr/>
          </p:nvSpPr>
          <p:spPr>
            <a:xfrm>
              <a:off x="10668000" y="421005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4A0605A-6B19-E8A6-E212-099825C7D28C}"/>
                </a:ext>
              </a:extLst>
            </p:cNvPr>
            <p:cNvSpPr/>
            <p:nvPr/>
          </p:nvSpPr>
          <p:spPr>
            <a:xfrm>
              <a:off x="9848850" y="421005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B140026-5012-FF9A-37D7-085B031149A6}"/>
                </a:ext>
              </a:extLst>
            </p:cNvPr>
            <p:cNvSpPr/>
            <p:nvPr/>
          </p:nvSpPr>
          <p:spPr>
            <a:xfrm>
              <a:off x="9020175" y="4210050"/>
              <a:ext cx="666750" cy="66675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17E98A8-C097-13A1-BF80-41910A69DD05}"/>
                </a:ext>
              </a:extLst>
            </p:cNvPr>
            <p:cNvSpPr/>
            <p:nvPr/>
          </p:nvSpPr>
          <p:spPr>
            <a:xfrm>
              <a:off x="9130583" y="4991100"/>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740A451-BA5E-6895-BC71-2F4E4D0C6206}"/>
                </a:ext>
              </a:extLst>
            </p:cNvPr>
            <p:cNvSpPr/>
            <p:nvPr/>
          </p:nvSpPr>
          <p:spPr>
            <a:xfrm>
              <a:off x="9949733" y="4991100"/>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03703EC-7475-16F2-0C99-0D208DDAD24B}"/>
                </a:ext>
              </a:extLst>
            </p:cNvPr>
            <p:cNvSpPr/>
            <p:nvPr/>
          </p:nvSpPr>
          <p:spPr>
            <a:xfrm>
              <a:off x="10823747" y="4991100"/>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015F330-6EE7-A070-C192-07AC9EE67305}"/>
                </a:ext>
              </a:extLst>
            </p:cNvPr>
            <p:cNvSpPr/>
            <p:nvPr/>
          </p:nvSpPr>
          <p:spPr>
            <a:xfrm>
              <a:off x="9121058" y="2068667"/>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7A164BA-F9E3-F2F3-829C-511803AF5214}"/>
                </a:ext>
              </a:extLst>
            </p:cNvPr>
            <p:cNvSpPr/>
            <p:nvPr/>
          </p:nvSpPr>
          <p:spPr>
            <a:xfrm>
              <a:off x="9921158" y="2068667"/>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C8EC023-D6A4-405B-24DF-DB44FC5F8105}"/>
                </a:ext>
              </a:extLst>
            </p:cNvPr>
            <p:cNvSpPr/>
            <p:nvPr/>
          </p:nvSpPr>
          <p:spPr>
            <a:xfrm>
              <a:off x="10768883" y="2068667"/>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20C8C60-5266-F66A-19C7-55F54CA4E2F4}"/>
                </a:ext>
              </a:extLst>
            </p:cNvPr>
            <p:cNvSpPr/>
            <p:nvPr/>
          </p:nvSpPr>
          <p:spPr>
            <a:xfrm>
              <a:off x="8460309" y="2748833"/>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C36904E-22D8-AEC3-F29D-31EA3C8C0F6C}"/>
                </a:ext>
              </a:extLst>
            </p:cNvPr>
            <p:cNvSpPr/>
            <p:nvPr/>
          </p:nvSpPr>
          <p:spPr>
            <a:xfrm>
              <a:off x="8461452" y="3514565"/>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A273568-7776-99F8-D31C-32DE867E78FF}"/>
                </a:ext>
              </a:extLst>
            </p:cNvPr>
            <p:cNvSpPr/>
            <p:nvPr/>
          </p:nvSpPr>
          <p:spPr>
            <a:xfrm>
              <a:off x="8457560" y="4280297"/>
              <a:ext cx="464983" cy="464983"/>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3887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10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10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10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1000" fill="hold"/>
                                        <p:tgtEl>
                                          <p:spTgt spid="2">
                                            <p:txEl>
                                              <p:pRg st="8" end="8"/>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anim calcmode="lin" valueType="num">
                                      <p:cBhvr additive="base">
                                        <p:cTn id="37" dur="1000" fill="hold"/>
                                        <p:tgtEl>
                                          <p:spTgt spid="2">
                                            <p:txEl>
                                              <p:pRg st="11" end="11"/>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2">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3.</a:t>
            </a:r>
            <a:r>
              <a:rPr lang="sr-Latn-BA" sz="3600" b="1">
                <a:latin typeface="Jost" pitchFamily="2" charset="0"/>
                <a:ea typeface="Jost" pitchFamily="2" charset="0"/>
              </a:rPr>
              <a:t>1</a:t>
            </a:r>
            <a:r>
              <a:rPr lang="en-US" sz="3600" b="1">
                <a:latin typeface="Jost" pitchFamily="2" charset="0"/>
                <a:ea typeface="Jost" pitchFamily="2" charset="0"/>
              </a:rPr>
              <a:t> </a:t>
            </a:r>
            <a:r>
              <a:rPr lang="sr-Latn-BA" sz="3600" b="1">
                <a:latin typeface="Jost" pitchFamily="2" charset="0"/>
                <a:ea typeface="Jost" pitchFamily="2" charset="0"/>
              </a:rPr>
              <a:t>IP (Internet Protocol) PROTOKOL</a:t>
            </a:r>
            <a:endParaRPr lang="en-US" sz="3600" b="1">
              <a:latin typeface="Jost" pitchFamily="2" charset="0"/>
              <a:ea typeface="Jost" pitchFamily="2" charset="0"/>
            </a:endParaRP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115568"/>
            <a:ext cx="10522338" cy="2246769"/>
          </a:xfrm>
          <a:prstGeom prst="rect">
            <a:avLst/>
          </a:prstGeom>
          <a:noFill/>
        </p:spPr>
        <p:txBody>
          <a:bodyPr wrap="square" rtlCol="0">
            <a:spAutoFit/>
          </a:bodyPr>
          <a:lstStyle/>
          <a:p>
            <a:r>
              <a:rPr lang="en-US" sz="1400" b="1">
                <a:solidFill>
                  <a:schemeClr val="accent1">
                    <a:lumMod val="75000"/>
                  </a:schemeClr>
                </a:solidFill>
                <a:latin typeface="Jost" pitchFamily="2" charset="0"/>
                <a:ea typeface="Jost" pitchFamily="2" charset="0"/>
              </a:rPr>
              <a:t>IP (Internet Protocol) </a:t>
            </a:r>
            <a:r>
              <a:rPr lang="en-US" sz="1400">
                <a:latin typeface="Jost" pitchFamily="2" charset="0"/>
                <a:ea typeface="Jost" pitchFamily="2" charset="0"/>
              </a:rPr>
              <a:t>je osnovni protokol na mrežnom sloju OSI modela i ključna komponenta u komunikaciji na Internetu i drugim mrežama. Njegova glavna funkcija je da omogućava adresiranje i rutiranje paketa između uređaja na mreži. IP se koristi za usmijeravanje paketa podataka od izvora do odredišta preko različitih mrežnih segmenata i mreža.</a:t>
            </a:r>
            <a:endParaRPr lang="sr-Latn-BA" sz="1400">
              <a:latin typeface="Jost" pitchFamily="2" charset="0"/>
              <a:ea typeface="Jost" pitchFamily="2" charset="0"/>
            </a:endParaRPr>
          </a:p>
          <a:p>
            <a:endParaRPr lang="sr-Latn-BA" sz="1400">
              <a:latin typeface="Jost" pitchFamily="2" charset="0"/>
              <a:ea typeface="Jost" pitchFamily="2" charset="0"/>
            </a:endParaRPr>
          </a:p>
          <a:p>
            <a:r>
              <a:rPr lang="en-US" sz="1400">
                <a:latin typeface="Jost" pitchFamily="2" charset="0"/>
                <a:ea typeface="Jost" pitchFamily="2" charset="0"/>
              </a:rPr>
              <a:t>IP pruža mehanizam za dodjeljivanje jedinstvenih logičkih adresa uređajima na mreži, što omogućava identifikaciju i komunikaciju između njih. Postoje dve glavne verzije IP-a: </a:t>
            </a:r>
            <a:r>
              <a:rPr lang="en-US" sz="1400" b="1">
                <a:solidFill>
                  <a:schemeClr val="accent1">
                    <a:lumMod val="75000"/>
                  </a:schemeClr>
                </a:solidFill>
                <a:latin typeface="Jost" pitchFamily="2" charset="0"/>
                <a:ea typeface="Jost" pitchFamily="2" charset="0"/>
              </a:rPr>
              <a:t>IPv4</a:t>
            </a:r>
            <a:r>
              <a:rPr lang="en-US" sz="1400">
                <a:latin typeface="Jost" pitchFamily="2" charset="0"/>
                <a:ea typeface="Jost" pitchFamily="2" charset="0"/>
              </a:rPr>
              <a:t> i </a:t>
            </a:r>
            <a:r>
              <a:rPr lang="en-US" sz="1400" b="1">
                <a:solidFill>
                  <a:schemeClr val="accent1">
                    <a:lumMod val="75000"/>
                  </a:schemeClr>
                </a:solidFill>
                <a:latin typeface="Jost" pitchFamily="2" charset="0"/>
                <a:ea typeface="Jost" pitchFamily="2" charset="0"/>
              </a:rPr>
              <a:t>IPv6</a:t>
            </a:r>
            <a:r>
              <a:rPr lang="en-US" sz="1400">
                <a:latin typeface="Jost" pitchFamily="2" charset="0"/>
                <a:ea typeface="Jost" pitchFamily="2" charset="0"/>
              </a:rPr>
              <a:t>.</a:t>
            </a:r>
            <a:endParaRPr lang="sr-Latn-BA" sz="1400">
              <a:latin typeface="Jost" pitchFamily="2" charset="0"/>
              <a:ea typeface="Jost" pitchFamily="2" charset="0"/>
            </a:endParaRPr>
          </a:p>
          <a:p>
            <a:endParaRPr lang="sr-Latn-BA" sz="1400">
              <a:latin typeface="Jost" pitchFamily="2" charset="0"/>
              <a:ea typeface="Jost" pitchFamily="2" charset="0"/>
            </a:endParaRPr>
          </a:p>
          <a:p>
            <a:r>
              <a:rPr lang="en-US" sz="1400">
                <a:latin typeface="Jost" pitchFamily="2" charset="0"/>
                <a:ea typeface="Jost" pitchFamily="2" charset="0"/>
              </a:rPr>
              <a:t>IPv4 je najčešće korišćena verzija IP-a i koristi 32-bitne adrese, što omogućava oko 4,3 milijarde jedinstvenih adresa. Međutim, zbog brzog rasta broja uređaja povezanih na Internet, kapacitet IPv4 adresa postao je ograničen. Da bi se prevazišao ovaj problem, razvijen je IPv6, koji koristi 128 bitne adrese i omogućava gotovo neograničen broj jedinstvenih adresa.</a:t>
            </a:r>
          </a:p>
        </p:txBody>
      </p:sp>
      <p:pic>
        <p:nvPicPr>
          <p:cNvPr id="6" name="Picture 5">
            <a:extLst>
              <a:ext uri="{FF2B5EF4-FFF2-40B4-BE49-F238E27FC236}">
                <a16:creationId xmlns:a16="http://schemas.microsoft.com/office/drawing/2014/main" id="{E5C8361E-93AA-20DE-171E-654C54754CA6}"/>
              </a:ext>
            </a:extLst>
          </p:cNvPr>
          <p:cNvPicPr>
            <a:picLocks noChangeAspect="1"/>
          </p:cNvPicPr>
          <p:nvPr/>
        </p:nvPicPr>
        <p:blipFill>
          <a:blip r:embed="rId2"/>
          <a:stretch>
            <a:fillRect/>
          </a:stretch>
        </p:blipFill>
        <p:spPr>
          <a:xfrm>
            <a:off x="487191" y="3655111"/>
            <a:ext cx="6175330" cy="2676536"/>
          </a:xfrm>
          <a:prstGeom prst="rect">
            <a:avLst/>
          </a:prstGeom>
          <a:effectLst>
            <a:glow rad="101600">
              <a:schemeClr val="accent1">
                <a:satMod val="175000"/>
                <a:alpha val="40000"/>
              </a:schemeClr>
            </a:glow>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759AA3F6-BD83-6B29-47D0-22B94FEA3572}"/>
              </a:ext>
            </a:extLst>
          </p:cNvPr>
          <p:cNvSpPr txBox="1"/>
          <p:nvPr/>
        </p:nvSpPr>
        <p:spPr>
          <a:xfrm>
            <a:off x="7060994" y="3846081"/>
            <a:ext cx="4443984" cy="1169551"/>
          </a:xfrm>
          <a:prstGeom prst="rect">
            <a:avLst/>
          </a:prstGeom>
          <a:noFill/>
        </p:spPr>
        <p:txBody>
          <a:bodyPr wrap="square" rtlCol="0">
            <a:spAutoFit/>
          </a:bodyPr>
          <a:lstStyle/>
          <a:p>
            <a:r>
              <a:rPr lang="en-US" sz="1400">
                <a:latin typeface="Jost" pitchFamily="2" charset="0"/>
                <a:ea typeface="Jost" pitchFamily="2" charset="0"/>
              </a:rPr>
              <a:t>IP također definiše format paketa i način na koji se podaci prenose kroz mrežu. Svaki IP paket sadrži zaglavlje koje uključuje informacije kao što su izvorna i odredišna IP adresa, verzija protokola, dužina paketa, kao i druge kontrolne informacije. </a:t>
            </a:r>
          </a:p>
        </p:txBody>
      </p:sp>
      <p:pic>
        <p:nvPicPr>
          <p:cNvPr id="9" name="Picture 8">
            <a:extLst>
              <a:ext uri="{FF2B5EF4-FFF2-40B4-BE49-F238E27FC236}">
                <a16:creationId xmlns:a16="http://schemas.microsoft.com/office/drawing/2014/main" id="{DA239BA3-07B1-6E2C-6D9B-AB962DA92A9F}"/>
              </a:ext>
            </a:extLst>
          </p:cNvPr>
          <p:cNvPicPr>
            <a:picLocks noChangeAspect="1"/>
          </p:cNvPicPr>
          <p:nvPr/>
        </p:nvPicPr>
        <p:blipFill>
          <a:blip r:embed="rId3"/>
          <a:stretch>
            <a:fillRect/>
          </a:stretch>
        </p:blipFill>
        <p:spPr>
          <a:xfrm>
            <a:off x="7060994" y="5359139"/>
            <a:ext cx="4515310" cy="46327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06337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3.2 ICMP (</a:t>
            </a:r>
            <a:r>
              <a:rPr lang="en-US" sz="3600" b="1">
                <a:solidFill>
                  <a:schemeClr val="accent1">
                    <a:lumMod val="75000"/>
                  </a:schemeClr>
                </a:solidFill>
                <a:latin typeface="Jost" pitchFamily="2" charset="0"/>
                <a:ea typeface="Jost" pitchFamily="2" charset="0"/>
              </a:rPr>
              <a:t>I</a:t>
            </a:r>
            <a:r>
              <a:rPr lang="en-US" sz="3600" b="1">
                <a:latin typeface="Jost" pitchFamily="2" charset="0"/>
                <a:ea typeface="Jost" pitchFamily="2" charset="0"/>
              </a:rPr>
              <a:t>nternet </a:t>
            </a:r>
            <a:r>
              <a:rPr lang="en-US" sz="3600" b="1">
                <a:solidFill>
                  <a:schemeClr val="accent1">
                    <a:lumMod val="75000"/>
                  </a:schemeClr>
                </a:solidFill>
                <a:latin typeface="Jost" pitchFamily="2" charset="0"/>
                <a:ea typeface="Jost" pitchFamily="2" charset="0"/>
              </a:rPr>
              <a:t>C</a:t>
            </a:r>
            <a:r>
              <a:rPr lang="en-US" sz="3600" b="1">
                <a:latin typeface="Jost" pitchFamily="2" charset="0"/>
                <a:ea typeface="Jost" pitchFamily="2" charset="0"/>
              </a:rPr>
              <a:t>ontrol </a:t>
            </a:r>
            <a:r>
              <a:rPr lang="en-US" sz="3600" b="1">
                <a:solidFill>
                  <a:schemeClr val="accent1">
                    <a:lumMod val="75000"/>
                  </a:schemeClr>
                </a:solidFill>
                <a:latin typeface="Jost" pitchFamily="2" charset="0"/>
                <a:ea typeface="Jost" pitchFamily="2" charset="0"/>
              </a:rPr>
              <a:t>M</a:t>
            </a:r>
            <a:r>
              <a:rPr lang="en-US" sz="3600" b="1">
                <a:latin typeface="Jost" pitchFamily="2" charset="0"/>
                <a:ea typeface="Jost" pitchFamily="2" charset="0"/>
              </a:rPr>
              <a:t>essage </a:t>
            </a:r>
            <a:r>
              <a:rPr lang="en-US" sz="3600" b="1">
                <a:solidFill>
                  <a:schemeClr val="accent1">
                    <a:lumMod val="75000"/>
                  </a:schemeClr>
                </a:solidFill>
                <a:latin typeface="Jost" pitchFamily="2" charset="0"/>
                <a:ea typeface="Jost" pitchFamily="2" charset="0"/>
              </a:rPr>
              <a:t>P</a:t>
            </a:r>
            <a:r>
              <a:rPr lang="en-US" sz="3600" b="1">
                <a:latin typeface="Jost" pitchFamily="2" charset="0"/>
                <a:ea typeface="Jost" pitchFamily="2" charset="0"/>
              </a:rPr>
              <a:t>rotocol)</a:t>
            </a: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115568"/>
            <a:ext cx="5488305" cy="3539430"/>
          </a:xfrm>
          <a:prstGeom prst="rect">
            <a:avLst/>
          </a:prstGeom>
          <a:noFill/>
        </p:spPr>
        <p:txBody>
          <a:bodyPr wrap="square" rtlCol="0">
            <a:spAutoFit/>
          </a:bodyPr>
          <a:lstStyle/>
          <a:p>
            <a:r>
              <a:rPr lang="en-US" sz="1400" b="1">
                <a:solidFill>
                  <a:schemeClr val="accent1">
                    <a:lumMod val="75000"/>
                  </a:schemeClr>
                </a:solidFill>
                <a:latin typeface="Jost" pitchFamily="2" charset="0"/>
                <a:ea typeface="Jost" pitchFamily="2" charset="0"/>
              </a:rPr>
              <a:t>ICMP (Internet Control Message Protocol) </a:t>
            </a:r>
            <a:r>
              <a:rPr lang="en-US" sz="1400">
                <a:latin typeface="Jost" pitchFamily="2" charset="0"/>
                <a:ea typeface="Jost" pitchFamily="2" charset="0"/>
              </a:rPr>
              <a:t>je protokol na mrežnom sloju koji omogućava slanje kontrolnih poruka i informacija o greškama između mrežnih uređaja. Ključan je za održavanje mreže jer omogućava razmjenu informacija o stanju mreže i problemima u prenosu podataka I koristi se za:</a:t>
            </a:r>
          </a:p>
          <a:p>
            <a:endParaRPr lang="en-US" sz="1400">
              <a:latin typeface="Jost" pitchFamily="2" charset="0"/>
              <a:ea typeface="Jost" pitchFamily="2" charset="0"/>
            </a:endParaRPr>
          </a:p>
          <a:p>
            <a:r>
              <a:rPr lang="en-US" sz="1400" b="1">
                <a:latin typeface="Jost" pitchFamily="2" charset="0"/>
                <a:ea typeface="Jost" pitchFamily="2" charset="0"/>
              </a:rPr>
              <a:t>Obavještavanje o greškama:</a:t>
            </a:r>
            <a:r>
              <a:rPr lang="en-US" sz="1400">
                <a:latin typeface="Jost" pitchFamily="2" charset="0"/>
                <a:ea typeface="Jost" pitchFamily="2" charset="0"/>
              </a:rPr>
              <a:t> Na primjer, kada ruter ne može da pronađe putanju do odredišta, šalje poruku "Destination Unreachable".</a:t>
            </a:r>
          </a:p>
          <a:p>
            <a:endParaRPr lang="en-US" sz="1400">
              <a:latin typeface="Jost" pitchFamily="2" charset="0"/>
              <a:ea typeface="Jost" pitchFamily="2" charset="0"/>
            </a:endParaRPr>
          </a:p>
          <a:p>
            <a:r>
              <a:rPr lang="en-US" sz="1400" b="1">
                <a:latin typeface="Jost" pitchFamily="2" charset="0"/>
                <a:ea typeface="Jost" pitchFamily="2" charset="0"/>
              </a:rPr>
              <a:t>Testiranje veze:</a:t>
            </a:r>
            <a:r>
              <a:rPr lang="en-US" sz="1400">
                <a:latin typeface="Jost" pitchFamily="2" charset="0"/>
                <a:ea typeface="Jost" pitchFamily="2" charset="0"/>
              </a:rPr>
              <a:t> Alat ping koristi ICMP za provjeru dostupnosti uređaja na mreži i mjeri vrijeme prenosa paketa.</a:t>
            </a:r>
          </a:p>
          <a:p>
            <a:endParaRPr lang="en-US" sz="1400">
              <a:latin typeface="Jost" pitchFamily="2" charset="0"/>
              <a:ea typeface="Jost" pitchFamily="2" charset="0"/>
            </a:endParaRPr>
          </a:p>
          <a:p>
            <a:r>
              <a:rPr lang="en-US" sz="1400" b="1">
                <a:latin typeface="Jost" pitchFamily="2" charset="0"/>
                <a:ea typeface="Jost" pitchFamily="2" charset="0"/>
              </a:rPr>
              <a:t>Praćenje rute:</a:t>
            </a:r>
            <a:r>
              <a:rPr lang="en-US" sz="1400">
                <a:latin typeface="Jost" pitchFamily="2" charset="0"/>
                <a:ea typeface="Jost" pitchFamily="2" charset="0"/>
              </a:rPr>
              <a:t> Traceroute koristi ICMP za identifikaciju putanje paketa kroz mrežu.</a:t>
            </a:r>
          </a:p>
          <a:p>
            <a:endParaRPr lang="en-US" sz="1400">
              <a:latin typeface="Jost" pitchFamily="2" charset="0"/>
              <a:ea typeface="Jost" pitchFamily="2" charset="0"/>
            </a:endParaRPr>
          </a:p>
        </p:txBody>
      </p:sp>
      <p:pic>
        <p:nvPicPr>
          <p:cNvPr id="8" name="Picture 7">
            <a:extLst>
              <a:ext uri="{FF2B5EF4-FFF2-40B4-BE49-F238E27FC236}">
                <a16:creationId xmlns:a16="http://schemas.microsoft.com/office/drawing/2014/main" id="{8D3E5BE9-8CC9-86F0-7E9B-2B6B5E6F0479}"/>
              </a:ext>
            </a:extLst>
          </p:cNvPr>
          <p:cNvPicPr>
            <a:picLocks noChangeAspect="1"/>
          </p:cNvPicPr>
          <p:nvPr/>
        </p:nvPicPr>
        <p:blipFill>
          <a:blip r:embed="rId3"/>
          <a:stretch>
            <a:fillRect/>
          </a:stretch>
        </p:blipFill>
        <p:spPr>
          <a:xfrm>
            <a:off x="6416040" y="1115568"/>
            <a:ext cx="4876800" cy="2086187"/>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8BB3A77D-1732-B4B3-1BFD-837DE3932218}"/>
              </a:ext>
            </a:extLst>
          </p:cNvPr>
          <p:cNvPicPr>
            <a:picLocks noChangeAspect="1"/>
          </p:cNvPicPr>
          <p:nvPr/>
        </p:nvPicPr>
        <p:blipFill>
          <a:blip r:embed="rId4"/>
          <a:stretch>
            <a:fillRect/>
          </a:stretch>
        </p:blipFill>
        <p:spPr>
          <a:xfrm>
            <a:off x="485549" y="4532214"/>
            <a:ext cx="5153744" cy="1895740"/>
          </a:xfrm>
          <a:prstGeom prst="rect">
            <a:avLst/>
          </a:prstGeom>
          <a:effectLst>
            <a:outerShdw blurRad="50800" dist="38100" dir="5400000" algn="t" rotWithShape="0">
              <a:prstClr val="black">
                <a:alpha val="40000"/>
              </a:prstClr>
            </a:outerShdw>
          </a:effectLst>
        </p:spPr>
      </p:pic>
      <p:grpSp>
        <p:nvGrpSpPr>
          <p:cNvPr id="21" name="Group 20">
            <a:extLst>
              <a:ext uri="{FF2B5EF4-FFF2-40B4-BE49-F238E27FC236}">
                <a16:creationId xmlns:a16="http://schemas.microsoft.com/office/drawing/2014/main" id="{733E29B7-E157-9CDB-603D-00A21DEA039E}"/>
              </a:ext>
            </a:extLst>
          </p:cNvPr>
          <p:cNvGrpSpPr/>
          <p:nvPr/>
        </p:nvGrpSpPr>
        <p:grpSpPr>
          <a:xfrm>
            <a:off x="6294121" y="3551783"/>
            <a:ext cx="5783629" cy="2780298"/>
            <a:chOff x="6294121" y="3551783"/>
            <a:chExt cx="5783629" cy="2780298"/>
          </a:xfrm>
        </p:grpSpPr>
        <p:pic>
          <p:nvPicPr>
            <p:cNvPr id="13" name="Picture 12">
              <a:extLst>
                <a:ext uri="{FF2B5EF4-FFF2-40B4-BE49-F238E27FC236}">
                  <a16:creationId xmlns:a16="http://schemas.microsoft.com/office/drawing/2014/main" id="{2BB4F83E-B0E9-E125-4FBB-5353FA1D06BB}"/>
                </a:ext>
              </a:extLst>
            </p:cNvPr>
            <p:cNvPicPr>
              <a:picLocks noChangeAspect="1"/>
            </p:cNvPicPr>
            <p:nvPr/>
          </p:nvPicPr>
          <p:blipFill>
            <a:blip r:embed="rId5"/>
            <a:stretch>
              <a:fillRect/>
            </a:stretch>
          </p:blipFill>
          <p:spPr>
            <a:xfrm>
              <a:off x="6294121" y="3551783"/>
              <a:ext cx="5455839" cy="2312532"/>
            </a:xfrm>
            <a:prstGeom prst="rect">
              <a:avLst/>
            </a:prstGeom>
            <a:effectLst>
              <a:outerShdw blurRad="50800" dist="38100" dir="5400000" algn="t" rotWithShape="0">
                <a:prstClr val="black">
                  <a:alpha val="40000"/>
                </a:prstClr>
              </a:outerShdw>
            </a:effectLst>
          </p:spPr>
        </p:pic>
        <p:sp>
          <p:nvSpPr>
            <p:cNvPr id="14" name="Rectangle 13">
              <a:extLst>
                <a:ext uri="{FF2B5EF4-FFF2-40B4-BE49-F238E27FC236}">
                  <a16:creationId xmlns:a16="http://schemas.microsoft.com/office/drawing/2014/main" id="{7ADFF11A-2D2B-A086-B885-42BB7E832E86}"/>
                </a:ext>
              </a:extLst>
            </p:cNvPr>
            <p:cNvSpPr/>
            <p:nvPr/>
          </p:nvSpPr>
          <p:spPr>
            <a:xfrm>
              <a:off x="7626096" y="5760719"/>
              <a:ext cx="3858768" cy="571361"/>
            </a:xfrm>
            <a:prstGeom prst="rect">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5AC8171-4439-5002-B202-1444F57B1484}"/>
                </a:ext>
              </a:extLst>
            </p:cNvPr>
            <p:cNvSpPr txBox="1"/>
            <p:nvPr/>
          </p:nvSpPr>
          <p:spPr>
            <a:xfrm>
              <a:off x="7575854" y="5808861"/>
              <a:ext cx="4501896" cy="523220"/>
            </a:xfrm>
            <a:prstGeom prst="rect">
              <a:avLst/>
            </a:prstGeom>
            <a:noFill/>
          </p:spPr>
          <p:txBody>
            <a:bodyPr wrap="square" rtlCol="0">
              <a:spAutoFit/>
            </a:bodyPr>
            <a:lstStyle/>
            <a:p>
              <a:r>
                <a:rPr lang="nb-NO" sz="1400">
                  <a:solidFill>
                    <a:schemeClr val="bg1"/>
                  </a:solidFill>
                  <a:latin typeface="Jost" pitchFamily="2" charset="0"/>
                  <a:ea typeface="Jost" pitchFamily="2" charset="0"/>
                </a:rPr>
                <a:t>Ova komanda prikazuje sve rutere kroz koje paket prolazi dok ne stigne do odredišta.</a:t>
              </a:r>
              <a:endParaRPr lang="en-US" sz="1400">
                <a:solidFill>
                  <a:schemeClr val="bg1"/>
                </a:solidFill>
                <a:latin typeface="Jost" pitchFamily="2" charset="0"/>
                <a:ea typeface="Jost" pitchFamily="2" charset="0"/>
              </a:endParaRPr>
            </a:p>
          </p:txBody>
        </p:sp>
      </p:grpSp>
      <p:sp>
        <p:nvSpPr>
          <p:cNvPr id="17" name="Rectangle 2">
            <a:extLst>
              <a:ext uri="{FF2B5EF4-FFF2-40B4-BE49-F238E27FC236}">
                <a16:creationId xmlns:a16="http://schemas.microsoft.com/office/drawing/2014/main" id="{1F0C45DE-EFFB-F765-EB9D-00B37CFA51E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Ova komanda prikazuje sve rutere kroz koje paket prolazi dok ne stigne do odredišta.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261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10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10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10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5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75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2C50B9-25F6-9108-6CAA-619B0245575A}"/>
              </a:ext>
            </a:extLst>
          </p:cNvPr>
          <p:cNvSpPr txBox="1"/>
          <p:nvPr/>
        </p:nvSpPr>
        <p:spPr>
          <a:xfrm>
            <a:off x="276726" y="176463"/>
            <a:ext cx="10522338" cy="646331"/>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3600" b="1">
                <a:latin typeface="Jost" pitchFamily="2" charset="0"/>
                <a:ea typeface="Jost" pitchFamily="2" charset="0"/>
              </a:rPr>
              <a:t>3.3 OSPF (</a:t>
            </a:r>
            <a:r>
              <a:rPr lang="en-US" sz="3600" b="1">
                <a:solidFill>
                  <a:schemeClr val="accent1">
                    <a:lumMod val="75000"/>
                  </a:schemeClr>
                </a:solidFill>
                <a:latin typeface="Jost" pitchFamily="2" charset="0"/>
                <a:ea typeface="Jost" pitchFamily="2" charset="0"/>
              </a:rPr>
              <a:t>O</a:t>
            </a:r>
            <a:r>
              <a:rPr lang="en-US" sz="3600" b="1">
                <a:latin typeface="Jost" pitchFamily="2" charset="0"/>
                <a:ea typeface="Jost" pitchFamily="2" charset="0"/>
              </a:rPr>
              <a:t>pen </a:t>
            </a:r>
            <a:r>
              <a:rPr lang="en-US" sz="3600" b="1">
                <a:solidFill>
                  <a:schemeClr val="accent1">
                    <a:lumMod val="75000"/>
                  </a:schemeClr>
                </a:solidFill>
                <a:latin typeface="Jost" pitchFamily="2" charset="0"/>
                <a:ea typeface="Jost" pitchFamily="2" charset="0"/>
              </a:rPr>
              <a:t>S</a:t>
            </a:r>
            <a:r>
              <a:rPr lang="en-US" sz="3600" b="1">
                <a:latin typeface="Jost" pitchFamily="2" charset="0"/>
                <a:ea typeface="Jost" pitchFamily="2" charset="0"/>
              </a:rPr>
              <a:t>hortest </a:t>
            </a:r>
            <a:r>
              <a:rPr lang="en-US" sz="3600" b="1">
                <a:solidFill>
                  <a:schemeClr val="accent1">
                    <a:lumMod val="75000"/>
                  </a:schemeClr>
                </a:solidFill>
                <a:latin typeface="Jost" pitchFamily="2" charset="0"/>
                <a:ea typeface="Jost" pitchFamily="2" charset="0"/>
              </a:rPr>
              <a:t>P</a:t>
            </a:r>
            <a:r>
              <a:rPr lang="en-US" sz="3600" b="1">
                <a:latin typeface="Jost" pitchFamily="2" charset="0"/>
                <a:ea typeface="Jost" pitchFamily="2" charset="0"/>
              </a:rPr>
              <a:t>ath </a:t>
            </a:r>
            <a:r>
              <a:rPr lang="en-US" sz="3600" b="1">
                <a:solidFill>
                  <a:schemeClr val="accent1">
                    <a:lumMod val="75000"/>
                  </a:schemeClr>
                </a:solidFill>
                <a:latin typeface="Jost" pitchFamily="2" charset="0"/>
                <a:ea typeface="Jost" pitchFamily="2" charset="0"/>
              </a:rPr>
              <a:t>F</a:t>
            </a:r>
            <a:r>
              <a:rPr lang="en-US" sz="3600" b="1">
                <a:latin typeface="Jost" pitchFamily="2" charset="0"/>
                <a:ea typeface="Jost" pitchFamily="2" charset="0"/>
              </a:rPr>
              <a:t>irst)</a:t>
            </a:r>
          </a:p>
        </p:txBody>
      </p:sp>
      <p:sp>
        <p:nvSpPr>
          <p:cNvPr id="5" name="Rectangle 4">
            <a:extLst>
              <a:ext uri="{FF2B5EF4-FFF2-40B4-BE49-F238E27FC236}">
                <a16:creationId xmlns:a16="http://schemas.microsoft.com/office/drawing/2014/main" id="{1780440C-D66F-06ED-4ABC-1C6B2E5BA1C3}"/>
              </a:ext>
            </a:extLst>
          </p:cNvPr>
          <p:cNvSpPr/>
          <p:nvPr/>
        </p:nvSpPr>
        <p:spPr>
          <a:xfrm>
            <a:off x="409575" y="756095"/>
            <a:ext cx="1238250" cy="13339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E01BE9-684D-616A-232A-9AA59CC17D36}"/>
              </a:ext>
            </a:extLst>
          </p:cNvPr>
          <p:cNvSpPr txBox="1"/>
          <p:nvPr/>
        </p:nvSpPr>
        <p:spPr>
          <a:xfrm>
            <a:off x="409575" y="1115568"/>
            <a:ext cx="6827248" cy="738664"/>
          </a:xfrm>
          <a:prstGeom prst="rect">
            <a:avLst/>
          </a:prstGeom>
          <a:noFill/>
        </p:spPr>
        <p:txBody>
          <a:bodyPr wrap="square" rtlCol="0">
            <a:spAutoFit/>
          </a:bodyPr>
          <a:lstStyle/>
          <a:p>
            <a:r>
              <a:rPr lang="en-US" sz="1400" b="1">
                <a:solidFill>
                  <a:schemeClr val="accent1">
                    <a:lumMod val="75000"/>
                  </a:schemeClr>
                </a:solidFill>
                <a:latin typeface="Jost" pitchFamily="2" charset="0"/>
                <a:ea typeface="Jost" pitchFamily="2" charset="0"/>
              </a:rPr>
              <a:t>OSPF (Open Shortest Path First)</a:t>
            </a:r>
            <a:r>
              <a:rPr lang="en-US" sz="1400">
                <a:latin typeface="Jost" pitchFamily="2" charset="0"/>
                <a:ea typeface="Jost" pitchFamily="2" charset="0"/>
              </a:rPr>
              <a:t> je protokol za rutiranje u IP mrežama koji određuje najkraću putanju za prenos podataka između uređaja. Zasniva se na stanju linkova i koristi </a:t>
            </a:r>
            <a:r>
              <a:rPr lang="en-US" sz="1400" b="1">
                <a:solidFill>
                  <a:schemeClr val="accent1">
                    <a:lumMod val="75000"/>
                  </a:schemeClr>
                </a:solidFill>
                <a:latin typeface="Jost" pitchFamily="2" charset="0"/>
                <a:ea typeface="Jost" pitchFamily="2" charset="0"/>
              </a:rPr>
              <a:t>Dijkstrin algoritam </a:t>
            </a:r>
            <a:r>
              <a:rPr lang="en-US" sz="1400">
                <a:latin typeface="Jost" pitchFamily="2" charset="0"/>
                <a:ea typeface="Jost" pitchFamily="2" charset="0"/>
              </a:rPr>
              <a:t>kako bi ruteri mogli kreirati i održavati tabelu rutiranja.</a:t>
            </a:r>
          </a:p>
        </p:txBody>
      </p:sp>
      <p:sp>
        <p:nvSpPr>
          <p:cNvPr id="17" name="Rectangle 2">
            <a:extLst>
              <a:ext uri="{FF2B5EF4-FFF2-40B4-BE49-F238E27FC236}">
                <a16:creationId xmlns:a16="http://schemas.microsoft.com/office/drawing/2014/main" id="{1F0C45DE-EFFB-F765-EB9D-00B37CFA51E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Ova komanda prikazuje sve rutere kroz koje paket prolazi dok ne stigne do odredišta.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50" name="Picture 2" descr="undefined">
            <a:extLst>
              <a:ext uri="{FF2B5EF4-FFF2-40B4-BE49-F238E27FC236}">
                <a16:creationId xmlns:a16="http://schemas.microsoft.com/office/drawing/2014/main" id="{E80A64AC-E34A-83A1-4462-DA3D018E7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6807" y="1115568"/>
            <a:ext cx="2695575" cy="2114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ADAC41-267E-1335-9D66-05A72CD591B1}"/>
              </a:ext>
            </a:extLst>
          </p:cNvPr>
          <p:cNvSpPr txBox="1"/>
          <p:nvPr/>
        </p:nvSpPr>
        <p:spPr>
          <a:xfrm>
            <a:off x="409575" y="2080308"/>
            <a:ext cx="6548845" cy="3216265"/>
          </a:xfrm>
          <a:prstGeom prst="rect">
            <a:avLst/>
          </a:prstGeom>
          <a:noFill/>
        </p:spPr>
        <p:txBody>
          <a:bodyPr wrap="square" rtlCol="0">
            <a:spAutoFit/>
          </a:bodyPr>
          <a:lstStyle/>
          <a:p>
            <a:r>
              <a:rPr lang="en-US" sz="1400">
                <a:latin typeface="Jost" pitchFamily="2" charset="0"/>
                <a:ea typeface="Jost" pitchFamily="2" charset="0"/>
              </a:rPr>
              <a:t>Osnovne karakteristike OSPF-a:</a:t>
            </a:r>
          </a:p>
          <a:p>
            <a:endParaRPr lang="en-US" sz="1400">
              <a:latin typeface="Jost" pitchFamily="2" charset="0"/>
              <a:ea typeface="Jost" pitchFamily="2" charset="0"/>
            </a:endParaRPr>
          </a:p>
          <a:p>
            <a:pPr marL="342900" indent="-342900">
              <a:lnSpc>
                <a:spcPct val="150000"/>
              </a:lnSpc>
              <a:buFont typeface="+mj-lt"/>
              <a:buAutoNum type="arabicPeriod"/>
            </a:pPr>
            <a:r>
              <a:rPr lang="en-US" sz="1400">
                <a:latin typeface="Jost" pitchFamily="2" charset="0"/>
                <a:ea typeface="Jost" pitchFamily="2" charset="0"/>
              </a:rPr>
              <a:t>Koristi informacije o stanju linkova svih rutera u mreži za izgradnju topologije</a:t>
            </a:r>
          </a:p>
          <a:p>
            <a:pPr marL="342900" indent="-342900">
              <a:lnSpc>
                <a:spcPct val="150000"/>
              </a:lnSpc>
              <a:buFont typeface="+mj-lt"/>
              <a:buAutoNum type="arabicPeriod"/>
            </a:pPr>
            <a:r>
              <a:rPr lang="en-US" sz="1400">
                <a:latin typeface="Jost" pitchFamily="2" charset="0"/>
                <a:ea typeface="Jost" pitchFamily="2" charset="0"/>
              </a:rPr>
              <a:t>Brzo reaguje na promene u mreži, osiguravajući brzu konvergenciju</a:t>
            </a:r>
          </a:p>
          <a:p>
            <a:pPr marL="342900" indent="-342900">
              <a:lnSpc>
                <a:spcPct val="150000"/>
              </a:lnSpc>
              <a:buFont typeface="+mj-lt"/>
              <a:buAutoNum type="arabicPeriod"/>
            </a:pPr>
            <a:r>
              <a:rPr lang="en-US" sz="1400">
                <a:latin typeface="Jost" pitchFamily="2" charset="0"/>
                <a:ea typeface="Jost" pitchFamily="2" charset="0"/>
              </a:rPr>
              <a:t>Organizovan je hijerarhijski sa backbone zonom (area 0), što smanjuje veličinu tabela rutiranja</a:t>
            </a:r>
          </a:p>
          <a:p>
            <a:pPr marL="342900" indent="-342900">
              <a:lnSpc>
                <a:spcPct val="150000"/>
              </a:lnSpc>
              <a:buFont typeface="+mj-lt"/>
              <a:buAutoNum type="arabicPeriod"/>
            </a:pPr>
            <a:r>
              <a:rPr lang="en-US" sz="1400">
                <a:latin typeface="Jost" pitchFamily="2" charset="0"/>
                <a:ea typeface="Jost" pitchFamily="2" charset="0"/>
              </a:rPr>
              <a:t>Razmenjuje informacije o stanju linkova putem OSPF paketa</a:t>
            </a:r>
          </a:p>
          <a:p>
            <a:pPr marL="342900" indent="-342900">
              <a:lnSpc>
                <a:spcPct val="150000"/>
              </a:lnSpc>
              <a:buFont typeface="+mj-lt"/>
              <a:buAutoNum type="arabicPeriod"/>
            </a:pPr>
            <a:r>
              <a:rPr lang="en-US" sz="1400">
                <a:latin typeface="Jost" pitchFamily="2" charset="0"/>
                <a:ea typeface="Jost" pitchFamily="2" charset="0"/>
              </a:rPr>
              <a:t>Pogodan za velike mreže</a:t>
            </a:r>
          </a:p>
          <a:p>
            <a:pPr marL="342900" indent="-342900">
              <a:lnSpc>
                <a:spcPct val="150000"/>
              </a:lnSpc>
              <a:buFont typeface="+mj-lt"/>
              <a:buAutoNum type="arabicPeriod"/>
            </a:pPr>
            <a:r>
              <a:rPr lang="en-US" sz="1400">
                <a:latin typeface="Jost" pitchFamily="2" charset="0"/>
                <a:ea typeface="Jost" pitchFamily="2" charset="0"/>
              </a:rPr>
              <a:t>Podržava autentifikaciju za sigurnost rutiranja</a:t>
            </a:r>
          </a:p>
          <a:p>
            <a:endParaRPr lang="en-US" sz="1400">
              <a:latin typeface="Jost" pitchFamily="2" charset="0"/>
              <a:ea typeface="Jost" pitchFamily="2" charset="0"/>
            </a:endParaRPr>
          </a:p>
          <a:p>
            <a:endParaRPr lang="en-US" sz="1400">
              <a:latin typeface="Jost" pitchFamily="2" charset="0"/>
              <a:ea typeface="Jost" pitchFamily="2" charset="0"/>
            </a:endParaRPr>
          </a:p>
        </p:txBody>
      </p:sp>
      <p:pic>
        <p:nvPicPr>
          <p:cNvPr id="2052" name="Picture 4" descr="Open shortest path first (OSPF) router roles and configuration -  GeeksforGeeks">
            <a:extLst>
              <a:ext uri="{FF2B5EF4-FFF2-40B4-BE49-F238E27FC236}">
                <a16:creationId xmlns:a16="http://schemas.microsoft.com/office/drawing/2014/main" id="{E4EF7012-1F21-7A8E-C544-1640A12784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709171"/>
            <a:ext cx="5477555" cy="2799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4466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097279-3165-B692-01C7-571FEE3324A5}"/>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F2794D6-8720-A1BA-4215-1506BA08297F}"/>
              </a:ext>
            </a:extLst>
          </p:cNvPr>
          <p:cNvSpPr txBox="1"/>
          <p:nvPr/>
        </p:nvSpPr>
        <p:spPr>
          <a:xfrm>
            <a:off x="1285875" y="2598003"/>
            <a:ext cx="9620250" cy="830997"/>
          </a:xfrm>
          <a:prstGeom prst="rect">
            <a:avLst/>
          </a:prstGeom>
          <a:noFill/>
        </p:spPr>
        <p:txBody>
          <a:bodyPr wrap="square" rtlCol="0">
            <a:spAutoFit/>
          </a:bodyPr>
          <a:lstStyle/>
          <a:p>
            <a:r>
              <a:rPr lang="en-US" sz="4800" b="1" i="1">
                <a:solidFill>
                  <a:schemeClr val="bg1"/>
                </a:solidFill>
                <a:latin typeface="Jost" pitchFamily="2" charset="0"/>
                <a:ea typeface="Jost" pitchFamily="2" charset="0"/>
              </a:rPr>
              <a:t>HVALA VAM NA VA</a:t>
            </a:r>
            <a:r>
              <a:rPr lang="sr-Latn-BA" sz="4800" b="1" i="1">
                <a:solidFill>
                  <a:schemeClr val="bg1"/>
                </a:solidFill>
                <a:latin typeface="Jost" pitchFamily="2" charset="0"/>
                <a:ea typeface="Jost" pitchFamily="2" charset="0"/>
              </a:rPr>
              <a:t>ŠOJ PAŽNJI!</a:t>
            </a:r>
            <a:endParaRPr lang="en-US" sz="4800" b="1" i="1">
              <a:solidFill>
                <a:schemeClr val="bg1"/>
              </a:solidFill>
              <a:latin typeface="Jost" pitchFamily="2" charset="0"/>
              <a:ea typeface="Jost" pitchFamily="2" charset="0"/>
            </a:endParaRPr>
          </a:p>
        </p:txBody>
      </p:sp>
      <p:sp>
        <p:nvSpPr>
          <p:cNvPr id="6" name="TextBox 5">
            <a:extLst>
              <a:ext uri="{FF2B5EF4-FFF2-40B4-BE49-F238E27FC236}">
                <a16:creationId xmlns:a16="http://schemas.microsoft.com/office/drawing/2014/main" id="{016B95DA-ADDC-E36E-ED03-0BFEBCBE70D4}"/>
              </a:ext>
            </a:extLst>
          </p:cNvPr>
          <p:cNvSpPr txBox="1"/>
          <p:nvPr/>
        </p:nvSpPr>
        <p:spPr>
          <a:xfrm>
            <a:off x="314325" y="6147316"/>
            <a:ext cx="5781675" cy="369332"/>
          </a:xfrm>
          <a:prstGeom prst="rect">
            <a:avLst/>
          </a:prstGeom>
          <a:noFill/>
        </p:spPr>
        <p:txBody>
          <a:bodyPr wrap="square" rtlCol="0">
            <a:spAutoFit/>
          </a:bodyPr>
          <a:lstStyle/>
          <a:p>
            <a:r>
              <a:rPr lang="en-US" i="1" u="sng">
                <a:solidFill>
                  <a:schemeClr val="bg1">
                    <a:lumMod val="65000"/>
                  </a:schemeClr>
                </a:solidFill>
                <a:latin typeface="Jost" pitchFamily="2" charset="0"/>
                <a:ea typeface="Jost" pitchFamily="2" charset="0"/>
              </a:rPr>
              <a:t>Ivan Pavlovi</a:t>
            </a:r>
            <a:r>
              <a:rPr lang="sr-Latn-BA" i="1" u="sng">
                <a:solidFill>
                  <a:schemeClr val="bg1">
                    <a:lumMod val="65000"/>
                  </a:schemeClr>
                </a:solidFill>
                <a:latin typeface="Jost" pitchFamily="2" charset="0"/>
                <a:ea typeface="Jost" pitchFamily="2" charset="0"/>
              </a:rPr>
              <a:t>ć 92</a:t>
            </a:r>
            <a:r>
              <a:rPr lang="en-US" i="1" u="sng">
                <a:solidFill>
                  <a:schemeClr val="bg1">
                    <a:lumMod val="65000"/>
                  </a:schemeClr>
                </a:solidFill>
                <a:latin typeface="Jost" pitchFamily="2" charset="0"/>
                <a:ea typeface="Jost" pitchFamily="2" charset="0"/>
              </a:rPr>
              <a:t>-20 RITP/S</a:t>
            </a:r>
          </a:p>
        </p:txBody>
      </p:sp>
    </p:spTree>
    <p:extLst>
      <p:ext uri="{BB962C8B-B14F-4D97-AF65-F5344CB8AC3E}">
        <p14:creationId xmlns:p14="http://schemas.microsoft.com/office/powerpoint/2010/main" val="6247047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142</TotalTime>
  <Words>1597</Words>
  <Application>Microsoft Office PowerPoint</Application>
  <PresentationFormat>Widescreen</PresentationFormat>
  <Paragraphs>96</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Jost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Pavlovic</dc:creator>
  <cp:lastModifiedBy>Ivan Pavlovic</cp:lastModifiedBy>
  <cp:revision>2</cp:revision>
  <dcterms:created xsi:type="dcterms:W3CDTF">2024-09-05T04:42:37Z</dcterms:created>
  <dcterms:modified xsi:type="dcterms:W3CDTF">2024-09-05T15:35:16Z</dcterms:modified>
</cp:coreProperties>
</file>