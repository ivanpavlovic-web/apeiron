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A78D-AECC-FEBA-80DA-ACDE86979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F6944-4866-AB78-E919-FC4CF6195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BC3F9-D244-1D5E-8761-BEF5F6B3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35045-3BFA-6E77-7044-47744668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A278E-D22E-3342-C1D2-4FAFE092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6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70C6-9CC9-BDFD-DB96-5F10CBFB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851D6-0063-0FC6-2F1F-667E4155D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0F22-1019-6E0B-CFB3-4626724BA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12D48-362D-BF82-E99E-FDDD1D5B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CFF77-A6CE-AEAF-9AE2-BE4B65E5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2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9FF6-2EE1-EF36-D712-6873DDBC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44AF1-F59C-C951-F5FE-4111CD909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0CC32-CA11-B84F-89DE-F66296D4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BD238-5DE3-C58E-B084-BCDCBF84F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2CB9A-86A7-46B7-0CF2-9E50DDFA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3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B032-3BB8-F1D4-9C8F-350C3373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B1C9A-E237-CB47-775B-B6F796EE0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19158-9409-9151-C44A-FB5C180EC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36F15-F906-7D36-03DD-CD75C487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8B7B3-27D4-84F4-7210-5013B1B4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039C9-AC2A-4A8A-2145-E309DE71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3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23E8-4F59-6F70-8068-39349A10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5568B-B64D-4D30-C6E9-2BBB62BB9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D6737-308E-7BD2-6EFD-2B5B42188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C3BE22-E0D4-00AA-7210-C51ABB289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C39C7-520E-7F45-604F-2A768446F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9392E-7006-A90F-8D25-7BF54AAF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03A71-D6E6-8961-6799-A6CD46C2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8CB6F-7AD0-06FC-5D28-E148C6CF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6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3AC7-9AF7-5E9A-1F27-49D59127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D7F6-4338-A843-AD8F-BADFB5B5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C3DBB-2CAC-7472-1E2E-1BE8D989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81C62-4B5E-684B-A661-A576DE67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1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89C33-223E-809F-E867-ACEB0367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EF2FB-130B-3095-3522-0BF54FCB9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D3F9A-EF69-EDFE-8F24-B8511C5C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6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7628-876D-DCCA-FF4B-7A886B15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F53E0-EB8A-D5B8-B9DE-821DD3A96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FA3CB-5773-7C83-BED5-5247AF373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B5B7A-352C-291E-B731-C760740B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98E81-083A-50A9-7971-BEFE51CC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6DD2D-3B28-8E39-D5E0-A1114519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3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C153-2212-B14C-F4A5-722E016A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A4BFB-45A0-C482-3F35-71CD9D32D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79459-BE76-A950-88F7-35B955C43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ED500-E6D6-64E9-8DA2-EB3272DB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D71F4-60AD-0144-DD43-023C34078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73CD1-DB60-16D3-DB72-BA8393BA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9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A682-8A9B-A57B-21EE-F135CD3D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4CB1B-5824-10F2-76BE-425419165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327E6-12B0-9ADD-AB42-62DEC031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223EB-6956-1E27-DD84-795E056F4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5D487-1A4C-3E7D-D69F-6E37EDC4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6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6FD0A4-7199-8783-5897-FD400E892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77322-40F8-6833-D013-BD584FBC2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CC7C0-1F61-4D7A-1566-10999517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C1477-1A4F-753F-771C-F433F912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823DC-4AD6-09F0-A6A7-355334AA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62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CB526-5E80-2BF5-4CB8-0CED28DE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A2CE6-D85B-7FD5-D652-BE44263A5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53DEB-1280-442C-EC5D-E32133B56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9564E-3D7A-4E58-8D8B-20C5C51D474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86781-6244-4E1C-047D-C71AC94F0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F402F-D880-ECB1-1295-BC24CCFAE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0AF8E-B18F-4C8C-8147-204807E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9E9A93-BA8E-C0D0-E0EC-B41CB859A1FE}"/>
              </a:ext>
            </a:extLst>
          </p:cNvPr>
          <p:cNvSpPr txBox="1"/>
          <p:nvPr/>
        </p:nvSpPr>
        <p:spPr>
          <a:xfrm>
            <a:off x="361670" y="379363"/>
            <a:ext cx="11620500" cy="624786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b="1" dirty="0">
                <a:effectLst/>
                <a:latin typeface="Jost" pitchFamily="2" charset="0"/>
                <a:ea typeface="Jost" pitchFamily="2" charset="0"/>
              </a:rPr>
              <a:t>ODR</a:t>
            </a:r>
            <a:r>
              <a:rPr lang="sr-Latn-BA" sz="8000" b="1" dirty="0">
                <a:effectLst/>
                <a:latin typeface="Jost" pitchFamily="2" charset="0"/>
                <a:ea typeface="Jost" pitchFamily="2" charset="0"/>
              </a:rPr>
              <a:t>ŽAVANJE</a:t>
            </a:r>
          </a:p>
          <a:p>
            <a:r>
              <a:rPr lang="sr-Latn-BA" sz="8000" b="1" dirty="0">
                <a:latin typeface="Jost" pitchFamily="2" charset="0"/>
                <a:ea typeface="Jost" pitchFamily="2" charset="0"/>
              </a:rPr>
              <a:t>I OPTIMIZACIJA</a:t>
            </a:r>
          </a:p>
          <a:p>
            <a:r>
              <a:rPr lang="sr-Latn-BA" sz="8000" b="1" dirty="0">
                <a:latin typeface="Jost" pitchFamily="2" charset="0"/>
                <a:ea typeface="Jost" pitchFamily="2" charset="0"/>
              </a:rPr>
              <a:t>RAČUNARA U</a:t>
            </a:r>
          </a:p>
          <a:p>
            <a:r>
              <a:rPr lang="sr-Latn-BA" sz="8000" b="1" dirty="0">
                <a:latin typeface="Jost" pitchFamily="2" charset="0"/>
                <a:ea typeface="Jost" pitchFamily="2" charset="0"/>
              </a:rPr>
              <a:t>DIGITALNOM</a:t>
            </a:r>
          </a:p>
          <a:p>
            <a:r>
              <a:rPr lang="sr-Latn-BA" sz="8000" b="1" dirty="0">
                <a:latin typeface="Jost" pitchFamily="2" charset="0"/>
                <a:ea typeface="Jost" pitchFamily="2" charset="0"/>
              </a:rPr>
              <a:t>DOBU</a:t>
            </a:r>
            <a:endParaRPr lang="en-US" sz="8000" dirty="0">
              <a:latin typeface="Jost" pitchFamily="2" charset="0"/>
              <a:ea typeface="Jost" pitchFamily="2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50C8C999-AB3A-C808-45F2-AB5E2503EEB8}"/>
              </a:ext>
            </a:extLst>
          </p:cNvPr>
          <p:cNvSpPr/>
          <p:nvPr/>
        </p:nvSpPr>
        <p:spPr>
          <a:xfrm rot="18234292">
            <a:off x="5678906" y="-3126405"/>
            <a:ext cx="11146696" cy="9609221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5B80D3-A59B-9AD6-51CA-11670B070F2E}"/>
              </a:ext>
            </a:extLst>
          </p:cNvPr>
          <p:cNvSpPr/>
          <p:nvPr/>
        </p:nvSpPr>
        <p:spPr>
          <a:xfrm rot="18234292">
            <a:off x="5895472" y="-3126404"/>
            <a:ext cx="11146696" cy="9609221"/>
          </a:xfrm>
          <a:prstGeom prst="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643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3" y="301776"/>
            <a:ext cx="5752214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Jost" pitchFamily="2" charset="0"/>
                <a:ea typeface="Jost" pitchFamily="2" charset="0"/>
              </a:rPr>
              <a:t>OSNOVNA PRIPREMA I ALATI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7C221-C04E-1B52-8EDE-3C34C062FFA0}"/>
              </a:ext>
            </a:extLst>
          </p:cNvPr>
          <p:cNvSpPr txBox="1"/>
          <p:nvPr/>
        </p:nvSpPr>
        <p:spPr>
          <a:xfrm>
            <a:off x="138223" y="1144389"/>
            <a:ext cx="114406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Priprema je ključna komponenta uspješnog servisiranja računara. Imati odgovarajuću opremu pri ruci omogućava efikasno i bezbijedno obavljanje posla. Osnovne alatke koje su nam potrebne prilikom servisiranja računara su: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endParaRPr lang="en-US" sz="1200" dirty="0">
              <a:latin typeface="Jost" pitchFamily="2" charset="0"/>
              <a:ea typeface="Jost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Šrafciger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set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alatki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za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montažu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Ovdje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podrazumijevamo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raznovrstan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set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alatki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specijalno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dizajniranih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za rad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računarima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To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uključuje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šrafcigere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različitih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veličina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odgovarajuće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vrste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pinceta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kliješta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drugih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specijalizovanih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alata. Ovi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alati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neophodni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za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montažu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demontažu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komponenata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bez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oštećenja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Antistatička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oprema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Elektrostatički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prežnjenje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može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biti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štetno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za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osjetljivije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računarske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komponente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Korištenje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antistatičke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narukvice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antistatičke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podloge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je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ključno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biste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spriječili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potencijalno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oštećenje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Narukvica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se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nosi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zglobu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ruke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povezana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je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metalnim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djelom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računara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ili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radnog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stola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bi se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ravnoteža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elektrostatičkog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naboja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održavala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minimum.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Termalna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pasta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čistači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Tokom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servisiranja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računara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ponekad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je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potrebno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zamijeniti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termalnu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pastu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procesoru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bismo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obezbijedili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efikasno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hlađenje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Takođe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za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ovo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potrebni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posebni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čistači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koji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specijalno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formulisani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za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uklanjanje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stare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termalne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paste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prašine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komponenata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čime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se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omogućava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bolja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toplotna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provodljivost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Dodatna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oprema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Iako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većina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alata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dolazi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standardnim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setom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trebamo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takođe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da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razmislimo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o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dodatnoj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opremi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što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različiti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tipovi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kablova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adapteri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ili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zamjenske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komponente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bi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mogle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biti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potrebne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tokom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servisiranja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Odgovarajuća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rasvjeta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– Dobra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osvjetljenost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radnog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prostora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igra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ključnu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ulogu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u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preciznom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radu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Investirajte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u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odgovarajuće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svjetlosne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izvore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biste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jasno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vidjeli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komponente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detalje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prilikom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servisiranja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Odgovarajuće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radno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mjesto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Organizovano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radno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okruženje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je od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suštinskog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značaja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Radni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sto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treba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da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bude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čist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dobro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organizovan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dovoljno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prostora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za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rukovanje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komponentama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Oznake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markeri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bismo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olakšali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ponovno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povezivanje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komponenata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kablova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korisno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je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imati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oznake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markere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ruci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Obilježavanje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svih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važnih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komponenata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kablova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čini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proces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demontaže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ponovnog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sastavljanja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mnogo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lakšim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endParaRPr lang="en-US" sz="1200" dirty="0">
              <a:latin typeface="Jost" pitchFamily="2" charset="0"/>
              <a:ea typeface="Jost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3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A2E8E3-96C9-B809-7D32-3AC5B1C28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3" y="301776"/>
            <a:ext cx="7687340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Jost" pitchFamily="2" charset="0"/>
                <a:ea typeface="Jost" pitchFamily="2" charset="0"/>
              </a:rPr>
              <a:t>BEZBJEDNOST PRILIKOM SERVISIRANJA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DC897-88BF-AE61-8817-1E571C3A029C}"/>
              </a:ext>
            </a:extLst>
          </p:cNvPr>
          <p:cNvSpPr txBox="1"/>
          <p:nvPr/>
        </p:nvSpPr>
        <p:spPr>
          <a:xfrm>
            <a:off x="138223" y="1126772"/>
            <a:ext cx="11217349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Bezbjednost je od suštinskog značaja prilikom servisiranja računara. Rad sa električnom opremom i komponentama zahtijeva određene mjere opreza kako bismo se zaštitili od potencijalnih opasnosti. Evo nekoliko ključnih bezbjednosnih savijeta prilikom servisiranja:</a:t>
            </a:r>
            <a:endParaRPr lang="en-US" sz="1200" dirty="0">
              <a:solidFill>
                <a:schemeClr val="bg1">
                  <a:lumMod val="85000"/>
                </a:schemeClr>
              </a:solidFill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chemeClr val="bg1">
                  <a:lumMod val="85000"/>
                </a:schemeClr>
              </a:solidFill>
              <a:latin typeface="Jost" pitchFamily="2" charset="0"/>
              <a:ea typeface="Jost" pitchFamily="2" charset="0"/>
            </a:endParaRPr>
          </a:p>
          <a:p>
            <a:pPr marL="171450" marR="0" indent="-1714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Isključiti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računar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napajanje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Prije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nego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što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se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započne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rad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računaru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treba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potvrditi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da je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računar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isključen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iz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struje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da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su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isključeni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svi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kablovi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marR="0" indent="-1714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Nositi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antistatičku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narukvicu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– Da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biste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spriječili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elektrostatičko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pražnjenje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može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oštetiti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komponente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nosite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antistatičku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narukvicu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pričvrstite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je za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metalni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dio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računara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ili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radnog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stola.</a:t>
            </a:r>
          </a:p>
          <a:p>
            <a:pPr marL="171450" marR="0" indent="-1714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Rad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na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stabilnoj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podlozi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Radite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ravnoj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stabilnoj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podlozi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biste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spriječili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eventualno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prevrtanje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računara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ili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komponenata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marR="0" indent="-1714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Pažljivo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rukovanje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komponentama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Tokom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rukovanja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svim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komponentama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treba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izbjegavati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silnu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grubu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manipulaciju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marR="0" indent="-1714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Pravilno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odlaganje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otpada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Pravilno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odlaganje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baterija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starih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komponenti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otpada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je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ekološki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odgovorno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obavezno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marR="0" indent="-1714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Kontrola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temperature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Potrebno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je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pobrinuti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se da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radno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okruženje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bude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dovoljno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hladno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biste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izbjegli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pregrijavanje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komponenti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tokom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servisiranja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171450" marR="0" indent="-1714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Pamćenje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povezivanja</a:t>
            </a:r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–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Prije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nego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što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odvojimo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kablove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ili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komponente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fotografišite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ih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ili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napravite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bilješke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biste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lakše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rekonstruisali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povezivanje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kasnije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chemeClr val="bg1">
                  <a:lumMod val="85000"/>
                </a:schemeClr>
              </a:solidFill>
              <a:effectLst/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88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3" y="301776"/>
            <a:ext cx="6576902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 dirty="0">
                <a:latin typeface="Jost" pitchFamily="2" charset="0"/>
                <a:ea typeface="Jost" pitchFamily="2" charset="0"/>
              </a:rPr>
              <a:t>ČIŠĆENJE RAČUNARA OD PRAŠINE</a:t>
            </a:r>
            <a:endParaRPr lang="en-US" sz="2800" b="1" dirty="0">
              <a:latin typeface="Jost" pitchFamily="2" charset="0"/>
              <a:ea typeface="Jost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065ED6-9EBE-C41E-71C9-B7DADDB045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5700"/>
            <a:ext cx="12192000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8000D2-A410-F199-CF19-C247A71DBF31}"/>
              </a:ext>
            </a:extLst>
          </p:cNvPr>
          <p:cNvSpPr txBox="1"/>
          <p:nvPr/>
        </p:nvSpPr>
        <p:spPr>
          <a:xfrm>
            <a:off x="138223" y="1104180"/>
            <a:ext cx="1149866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Čišćenje računara od nakupljene prašine je esencijalan korak u održavanju optimalnog rada hardvera. Prašina može blokirati ventilatore i hladnjake, što može uzrokovati pregrijavanje i smanjenje performansi. Kako bismo efikasno očistili prašinu iz računara moramo uraditi sljedeće: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endParaRPr lang="en-US" sz="1200" dirty="0">
              <a:latin typeface="Jost" pitchFamily="2" charset="0"/>
              <a:ea typeface="Jost" pitchFamily="2" charset="0"/>
            </a:endParaRPr>
          </a:p>
          <a:p>
            <a:pPr marL="228600" marR="0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Isključite računar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, pre nego što započnete čišćenje, isključite računar iz struje i izvucite sve kablove.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228600" marR="0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Otvorite kućište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, otvaranje kućišta će vam omogućiti pristup unutrašnjosti. U zavisnosti od modela, obično se uklanjaju paneli sa strane ili gornji poklopac.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228600" marR="0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Koristite kompresovan vazduh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, Upotrijebite kompresovan vazduh ( često dostupan u spreju) kako biste uklonili prašinu sa svih komponenti, uključujući ventilatore, hladnjake, matičnu ploču i grafičke kartice. Potrebno je držati udaljenost od oko 10cm kako biste izbjegli oštećenja.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228600" marR="0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Pažljivo očistiti ventilatore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, očistite ventilatore i hladnjake od prašine. Ako je potrebno možda ćete morati ukloniti ventilatore kako biste ih očistili detaljnije.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228600" marR="0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Zatvorite kućište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, nakon što ste zavrsišili čišćenje, pažljivo zatvorite kućište i ponovo povežite sve kablove.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endParaRPr lang="en-US" sz="1200" dirty="0"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89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2" y="301776"/>
            <a:ext cx="8377127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Jost" pitchFamily="2" charset="0"/>
                <a:ea typeface="Jost" pitchFamily="2" charset="0"/>
              </a:rPr>
              <a:t>ZAMJENA TERMALNE PASTE NA PROCESORU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94C91-B96A-AB55-34D6-65E1CB9B9B3E}"/>
              </a:ext>
            </a:extLst>
          </p:cNvPr>
          <p:cNvSpPr txBox="1"/>
          <p:nvPr/>
        </p:nvSpPr>
        <p:spPr>
          <a:xfrm>
            <a:off x="138222" y="1294292"/>
            <a:ext cx="6195902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400" dirty="0">
                <a:effectLst/>
                <a:latin typeface="Jost" pitchFamily="2" charset="0"/>
                <a:ea typeface="Jost" pitchFamily="2" charset="0"/>
              </a:rPr>
              <a:t>Termalna pasta je ključna komponenta koja pomaže u efikasnom prenosu toplote između procesora i hladnjaka. Vremenom, termalna pasta može isušiti ili izgubiti svoju efikasnost, što može dovesti do pregrijavanja računara. Kako bismo zamijenili termalnu pastu treba da uradimo sljedeće korake:</a:t>
            </a:r>
            <a:endParaRPr lang="en-US" sz="1400" dirty="0">
              <a:effectLst/>
              <a:latin typeface="Jost" pitchFamily="2" charset="0"/>
              <a:ea typeface="Jost" pitchFamily="2" charset="0"/>
            </a:endParaRPr>
          </a:p>
          <a:p>
            <a:endParaRPr lang="en-US" sz="1400" dirty="0">
              <a:latin typeface="Jost" pitchFamily="2" charset="0"/>
              <a:ea typeface="Jost" pitchFamily="2" charset="0"/>
            </a:endParaRPr>
          </a:p>
          <a:p>
            <a:pPr marL="171450" marR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BA" sz="1400" b="1" dirty="0">
                <a:effectLst/>
                <a:latin typeface="Jost" pitchFamily="2" charset="0"/>
                <a:ea typeface="Jost" pitchFamily="2" charset="0"/>
              </a:rPr>
              <a:t>Isključiti računar i ukloniti hladnjak</a:t>
            </a:r>
            <a:r>
              <a:rPr lang="sr-Latn-BA" sz="1400" dirty="0">
                <a:effectLst/>
                <a:latin typeface="Jost" pitchFamily="2" charset="0"/>
                <a:ea typeface="Jost" pitchFamily="2" charset="0"/>
              </a:rPr>
              <a:t>, otpustite pričvršćenja hladnjaka sa procesora. To obično uključuje odvijanje šrafova ili zaključavanje hladnjaka.</a:t>
            </a:r>
            <a:endParaRPr lang="en-US" sz="14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4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400" dirty="0">
              <a:effectLst/>
              <a:latin typeface="Jost" pitchFamily="2" charset="0"/>
              <a:ea typeface="Jost" pitchFamily="2" charset="0"/>
            </a:endParaRPr>
          </a:p>
          <a:p>
            <a:pPr marL="171450" marR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BA" sz="1400" b="1" dirty="0">
                <a:effectLst/>
                <a:latin typeface="Jost" pitchFamily="2" charset="0"/>
                <a:ea typeface="Jost" pitchFamily="2" charset="0"/>
              </a:rPr>
              <a:t>Očistite staru termalnu pastu</a:t>
            </a:r>
            <a:r>
              <a:rPr lang="sr-Latn-BA" sz="1400" dirty="0">
                <a:effectLst/>
                <a:latin typeface="Jost" pitchFamily="2" charset="0"/>
                <a:ea typeface="Jost" pitchFamily="2" charset="0"/>
              </a:rPr>
              <a:t>, pažljivo očistite staru termalnu pastu sa porvšine procesora i hladnjaka koristeći alkohol ili poseban čistač.</a:t>
            </a:r>
            <a:endParaRPr lang="en-US" sz="14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4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400" dirty="0">
              <a:effectLst/>
              <a:latin typeface="Jost" pitchFamily="2" charset="0"/>
              <a:ea typeface="Jost" pitchFamily="2" charset="0"/>
            </a:endParaRPr>
          </a:p>
          <a:p>
            <a:pPr marL="171450" marR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BA" sz="1400" b="1" dirty="0">
                <a:effectLst/>
                <a:latin typeface="Jost" pitchFamily="2" charset="0"/>
                <a:ea typeface="Jost" pitchFamily="2" charset="0"/>
              </a:rPr>
              <a:t>Nanesite novu termalnu pastu</a:t>
            </a:r>
            <a:r>
              <a:rPr lang="sr-Latn-BA" sz="1400" dirty="0">
                <a:effectLst/>
                <a:latin typeface="Jost" pitchFamily="2" charset="0"/>
                <a:ea typeface="Jost" pitchFamily="2" charset="0"/>
              </a:rPr>
              <a:t>, nanesite tanki sloj nove termalne paste na površinu procesora, zatim vratite hladnjak u prvobitno stanje i zatvorite kućište.</a:t>
            </a:r>
            <a:endParaRPr lang="en-US" sz="1400" dirty="0">
              <a:effectLst/>
              <a:latin typeface="Jost" pitchFamily="2" charset="0"/>
              <a:ea typeface="Jost" pitchFamily="2" charset="0"/>
            </a:endParaRPr>
          </a:p>
          <a:p>
            <a:endParaRPr lang="en-US" sz="1400" dirty="0">
              <a:effectLst/>
              <a:latin typeface="Jost" pitchFamily="2" charset="0"/>
              <a:ea typeface="Jost" pitchFamily="2" charset="0"/>
            </a:endParaRPr>
          </a:p>
          <a:p>
            <a:r>
              <a:rPr lang="en-US" sz="1400" dirty="0">
                <a:latin typeface="Jost" pitchFamily="2" charset="0"/>
                <a:ea typeface="Jost" pitchFamily="2" charset="0"/>
              </a:rPr>
              <a:t>Ova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procedura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će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poboljšati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termalnu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efikasnost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i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očuvati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temperaturu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procesora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na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optimalnom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 </a:t>
            </a:r>
            <a:r>
              <a:rPr lang="en-US" sz="1400" dirty="0" err="1">
                <a:latin typeface="Jost" pitchFamily="2" charset="0"/>
                <a:ea typeface="Jost" pitchFamily="2" charset="0"/>
              </a:rPr>
              <a:t>nivou</a:t>
            </a:r>
            <a:r>
              <a:rPr lang="en-US" sz="1400" dirty="0">
                <a:latin typeface="Jost" pitchFamily="2" charset="0"/>
                <a:ea typeface="Jost" pitchFamily="2" charset="0"/>
              </a:rPr>
              <a:t>.</a:t>
            </a:r>
          </a:p>
        </p:txBody>
      </p:sp>
      <p:pic>
        <p:nvPicPr>
          <p:cNvPr id="5" name="Picture 4" descr="A person holding a syringe over a computer chip&#10;&#10;Description automatically generated">
            <a:extLst>
              <a:ext uri="{FF2B5EF4-FFF2-40B4-BE49-F238E27FC236}">
                <a16:creationId xmlns:a16="http://schemas.microsoft.com/office/drawing/2014/main" id="{431E8D56-33E7-905B-7BC2-74EFC290A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03" y="1446692"/>
            <a:ext cx="4589621" cy="4269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0460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A2E8E3-96C9-B809-7D32-3AC5B1C28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3" y="301776"/>
            <a:ext cx="7687340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 dirty="0">
                <a:solidFill>
                  <a:schemeClr val="bg1">
                    <a:lumMod val="85000"/>
                  </a:schemeClr>
                </a:solidFill>
                <a:latin typeface="Jost" pitchFamily="2" charset="0"/>
                <a:ea typeface="Jost" pitchFamily="2" charset="0"/>
              </a:rPr>
              <a:t>ZAMJENA BATERIJE NA MATIČNOJ PLOČI</a:t>
            </a:r>
            <a:endParaRPr lang="en-US" sz="2800" b="1" dirty="0">
              <a:solidFill>
                <a:schemeClr val="bg1">
                  <a:lumMod val="8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DC897-88BF-AE61-8817-1E571C3A029C}"/>
              </a:ext>
            </a:extLst>
          </p:cNvPr>
          <p:cNvSpPr txBox="1"/>
          <p:nvPr/>
        </p:nvSpPr>
        <p:spPr>
          <a:xfrm>
            <a:off x="138223" y="1641122"/>
            <a:ext cx="640545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6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Matična ploča računara sadrži malu bateriju, poznatu kao CMOS baterija, koja održava BIOS postavke i sistemski sat čak i kada je računar isključen. Ova baterija ima ograničen vijek trajanja i treba je zamjeniti kada se isprazni i to možemo uraditi na sljedeći način: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sr-Latn-BA" sz="1600" dirty="0">
              <a:solidFill>
                <a:schemeClr val="bg1">
                  <a:lumMod val="85000"/>
                </a:schemeClr>
              </a:solidFill>
              <a:latin typeface="Jost" pitchFamily="2" charset="0"/>
              <a:ea typeface="Jost" pitchFamily="2" charset="0"/>
            </a:endParaRPr>
          </a:p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BA" sz="16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Isključite računar</a:t>
            </a:r>
            <a:r>
              <a:rPr lang="sr-Latn-BA" sz="16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, prije nego što pristupite matičnoj ploči, obavezno isključite računar iz struje i izvucite sve kablove.</a:t>
            </a:r>
            <a:endParaRPr lang="en-US" sz="1600" dirty="0">
              <a:solidFill>
                <a:schemeClr val="bg1">
                  <a:lumMod val="85000"/>
                </a:schemeClr>
              </a:solidFill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6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600" dirty="0">
              <a:solidFill>
                <a:schemeClr val="bg1">
                  <a:lumMod val="85000"/>
                </a:schemeClr>
              </a:solidFill>
              <a:effectLst/>
              <a:latin typeface="Jost" pitchFamily="2" charset="0"/>
              <a:ea typeface="Jos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BA" sz="1600" b="1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Locirajte CMOS bateriju</a:t>
            </a:r>
            <a:r>
              <a:rPr lang="sr-Latn-BA" sz="1600" dirty="0">
                <a:solidFill>
                  <a:schemeClr val="bg1">
                    <a:lumMod val="85000"/>
                  </a:schemeClr>
                </a:solidFill>
                <a:effectLst/>
                <a:latin typeface="Jost" pitchFamily="2" charset="0"/>
                <a:ea typeface="Jost" pitchFamily="2" charset="0"/>
              </a:rPr>
              <a:t>, na matičnoj ploči ćete primjetiti malu okruglu bateriju. Otpustite je iz držača pažljivo koristeći odgovarajući alat i sama zamjena je veoma jednostavna</a:t>
            </a:r>
            <a:endParaRPr lang="en-US" sz="1600" dirty="0">
              <a:solidFill>
                <a:schemeClr val="bg1">
                  <a:lumMod val="85000"/>
                </a:schemeClr>
              </a:solidFill>
              <a:effectLst/>
              <a:latin typeface="Jost" pitchFamily="2" charset="0"/>
              <a:ea typeface="Jost" pitchFamily="2" charset="0"/>
            </a:endParaRPr>
          </a:p>
        </p:txBody>
      </p:sp>
      <p:pic>
        <p:nvPicPr>
          <p:cNvPr id="5" name="Picture 4" descr="A hand holding a screwdriver&#10;&#10;Description automatically generated">
            <a:extLst>
              <a:ext uri="{FF2B5EF4-FFF2-40B4-BE49-F238E27FC236}">
                <a16:creationId xmlns:a16="http://schemas.microsoft.com/office/drawing/2014/main" id="{325ED047-7D6B-697A-1F2F-DCB78B333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941" y="2304633"/>
            <a:ext cx="4390801" cy="31718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1702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2" y="301776"/>
            <a:ext cx="8377127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 dirty="0">
                <a:latin typeface="Jost" pitchFamily="2" charset="0"/>
                <a:ea typeface="Jost" pitchFamily="2" charset="0"/>
              </a:rPr>
              <a:t>ZAMJENA NAPAJANJA</a:t>
            </a:r>
            <a:endParaRPr lang="en-US" sz="2800" b="1" dirty="0">
              <a:latin typeface="Jost" pitchFamily="2" charset="0"/>
              <a:ea typeface="Jost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25853-A9AE-BB54-DD5B-A6E5CCCA4539}"/>
              </a:ext>
            </a:extLst>
          </p:cNvPr>
          <p:cNvSpPr txBox="1"/>
          <p:nvPr/>
        </p:nvSpPr>
        <p:spPr>
          <a:xfrm>
            <a:off x="138222" y="1114425"/>
            <a:ext cx="11441519" cy="200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Napajanje (engl. Power Supply Unit – PSU) obezbjeđuje električnu energiju za sve komponente računara. Ako primjetite nestabilno napajanje, često gašenje računara ili druge probleme sa strujom, može biti potrebno zamjeniti napajanje i to možemo uraditi na slijedeći način: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sr-Latn-BA" sz="1200" dirty="0">
              <a:latin typeface="Jost" pitchFamily="2" charset="0"/>
              <a:ea typeface="Jost" pitchFamily="2" charset="0"/>
            </a:endParaRPr>
          </a:p>
          <a:p>
            <a:pPr marL="228600" marR="0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Identifikacija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trenutnog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napajanja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provjerite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snagu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karakteristike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trenutnog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napajanja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biste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nabavili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zamjensko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napajanje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je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kompatibilno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  <a:endParaRPr lang="sr-Latn-BA" sz="1200" dirty="0">
              <a:effectLst/>
              <a:latin typeface="Jost" pitchFamily="2" charset="0"/>
              <a:ea typeface="Jost" pitchFamily="2" charset="0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Zamjenite</a:t>
            </a:r>
            <a:r>
              <a:rPr lang="en-US" sz="1200" b="1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b="1" dirty="0" err="1">
                <a:effectLst/>
                <a:latin typeface="Jost" pitchFamily="2" charset="0"/>
                <a:ea typeface="Jost" pitchFamily="2" charset="0"/>
              </a:rPr>
              <a:t>napajanje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pažljivo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izvucite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sve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kablove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koji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povezani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starim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napajanjem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zatim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uklonite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napajanje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iz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računara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Postavite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novo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napajanje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povežite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sve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kablove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kako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je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prikazano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u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uputstvu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za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napajanje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</p:txBody>
      </p:sp>
      <p:pic>
        <p:nvPicPr>
          <p:cNvPr id="7" name="Picture 6" descr="A hand opening a computer case&#10;&#10;Description automatically generated">
            <a:extLst>
              <a:ext uri="{FF2B5EF4-FFF2-40B4-BE49-F238E27FC236}">
                <a16:creationId xmlns:a16="http://schemas.microsoft.com/office/drawing/2014/main" id="{643FDB3F-FB67-7B2E-3B51-8F5F73FAB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334" y="3122667"/>
            <a:ext cx="5141065" cy="31639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DC9D27-51D4-11A5-FC7D-A41E6C09ECE2}"/>
              </a:ext>
            </a:extLst>
          </p:cNvPr>
          <p:cNvSpPr txBox="1"/>
          <p:nvPr/>
        </p:nvSpPr>
        <p:spPr>
          <a:xfrm>
            <a:off x="733424" y="3939034"/>
            <a:ext cx="3933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Jost" pitchFamily="2" charset="0"/>
                <a:ea typeface="Jost" pitchFamily="2" charset="0"/>
              </a:rPr>
              <a:t>Zamjena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napajanja</a:t>
            </a:r>
            <a:r>
              <a:rPr lang="en-US" dirty="0">
                <a:latin typeface="Jost" pitchFamily="2" charset="0"/>
                <a:ea typeface="Jost" pitchFamily="2" charset="0"/>
              </a:rPr>
              <a:t> je </a:t>
            </a:r>
            <a:r>
              <a:rPr lang="en-US" dirty="0" err="1">
                <a:latin typeface="Jost" pitchFamily="2" charset="0"/>
                <a:ea typeface="Jost" pitchFamily="2" charset="0"/>
              </a:rPr>
              <a:t>važna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kako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biste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obezbijedili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stabilno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i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pouzdano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napajanje</a:t>
            </a:r>
            <a:r>
              <a:rPr lang="en-US" dirty="0">
                <a:latin typeface="Jost" pitchFamily="2" charset="0"/>
                <a:ea typeface="Jost" pitchFamily="2" charset="0"/>
              </a:rPr>
              <a:t> za </a:t>
            </a:r>
            <a:r>
              <a:rPr lang="en-US" dirty="0" err="1">
                <a:latin typeface="Jost" pitchFamily="2" charset="0"/>
                <a:ea typeface="Jost" pitchFamily="2" charset="0"/>
              </a:rPr>
              <a:t>sve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komponente</a:t>
            </a:r>
            <a:r>
              <a:rPr lang="en-US" dirty="0">
                <a:latin typeface="Jost" pitchFamily="2" charset="0"/>
                <a:ea typeface="Jost" pitchFamily="2" charset="0"/>
              </a:rPr>
              <a:t> </a:t>
            </a:r>
            <a:r>
              <a:rPr lang="en-US" dirty="0" err="1">
                <a:latin typeface="Jost" pitchFamily="2" charset="0"/>
                <a:ea typeface="Jost" pitchFamily="2" charset="0"/>
              </a:rPr>
              <a:t>računara</a:t>
            </a:r>
            <a:r>
              <a:rPr lang="en-US" dirty="0">
                <a:latin typeface="Jost" pitchFamily="2" charset="0"/>
                <a:ea typeface="Jos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543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D2781-70AC-DE86-CE7A-5F62614C1005}"/>
              </a:ext>
            </a:extLst>
          </p:cNvPr>
          <p:cNvSpPr txBox="1"/>
          <p:nvPr/>
        </p:nvSpPr>
        <p:spPr>
          <a:xfrm>
            <a:off x="600075" y="1068675"/>
            <a:ext cx="79152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8800" b="1" i="1" dirty="0">
                <a:solidFill>
                  <a:schemeClr val="bg1">
                    <a:lumMod val="65000"/>
                  </a:schemeClr>
                </a:solidFill>
                <a:latin typeface="Jost" pitchFamily="2" charset="0"/>
                <a:ea typeface="Jost" pitchFamily="2" charset="0"/>
              </a:rPr>
              <a:t>RJEŠAVANJE</a:t>
            </a:r>
            <a:endParaRPr lang="en-US" sz="8800" b="1" i="1" dirty="0">
              <a:solidFill>
                <a:schemeClr val="bg1">
                  <a:lumMod val="6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127B9-FDD5-03AA-BF54-D29F5C4D04FF}"/>
              </a:ext>
            </a:extLst>
          </p:cNvPr>
          <p:cNvSpPr txBox="1"/>
          <p:nvPr/>
        </p:nvSpPr>
        <p:spPr>
          <a:xfrm>
            <a:off x="4686300" y="4076700"/>
            <a:ext cx="79152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8800" b="1" i="1" dirty="0">
                <a:solidFill>
                  <a:schemeClr val="accent1">
                    <a:lumMod val="50000"/>
                  </a:schemeClr>
                </a:solidFill>
                <a:latin typeface="Jost" pitchFamily="2" charset="0"/>
                <a:ea typeface="Jost" pitchFamily="2" charset="0"/>
              </a:rPr>
              <a:t>PROBLEMA</a:t>
            </a:r>
            <a:endParaRPr lang="en-US" sz="8800" b="1" i="1" dirty="0">
              <a:solidFill>
                <a:schemeClr val="accent1">
                  <a:lumMod val="50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B2E9D-6E1F-7501-38FF-9E1981D2C8F4}"/>
              </a:ext>
            </a:extLst>
          </p:cNvPr>
          <p:cNvSpPr txBox="1"/>
          <p:nvPr/>
        </p:nvSpPr>
        <p:spPr>
          <a:xfrm>
            <a:off x="904875" y="2400300"/>
            <a:ext cx="103917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2000" b="1" i="1" dirty="0">
                <a:solidFill>
                  <a:schemeClr val="accent1">
                    <a:lumMod val="75000"/>
                  </a:schemeClr>
                </a:solidFill>
                <a:latin typeface="Jost" pitchFamily="2" charset="0"/>
                <a:ea typeface="Jost" pitchFamily="2" charset="0"/>
              </a:rPr>
              <a:t>UOBIČAJENIH</a:t>
            </a:r>
            <a:endParaRPr lang="en-US" sz="12000" b="1" i="1" dirty="0">
              <a:solidFill>
                <a:schemeClr val="accent1">
                  <a:lumMod val="7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152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2" y="301776"/>
            <a:ext cx="8377127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 dirty="0">
                <a:latin typeface="Jost" pitchFamily="2" charset="0"/>
                <a:ea typeface="Jost" pitchFamily="2" charset="0"/>
              </a:rPr>
              <a:t>RAČUNAR SE NE UKLJUČUJE</a:t>
            </a:r>
            <a:endParaRPr lang="en-US" sz="2800" b="1" dirty="0">
              <a:latin typeface="Jost" pitchFamily="2" charset="0"/>
              <a:ea typeface="Jost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25853-A9AE-BB54-DD5B-A6E5CCCA4539}"/>
              </a:ext>
            </a:extLst>
          </p:cNvPr>
          <p:cNvSpPr txBox="1"/>
          <p:nvPr/>
        </p:nvSpPr>
        <p:spPr>
          <a:xfrm>
            <a:off x="138222" y="1047750"/>
            <a:ext cx="11441519" cy="560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Jedan od najčešćih problema sa računarima je situacija kada računar ne reaguje prilikom pokušaja uključivanja. Ovo može biti frustrirajuće iskustvo, ali postoji niz koraka koje možete preduzeti kako biste identifikovali i riješili ovaj problem.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sr-Latn-BA" sz="1200" dirty="0">
              <a:latin typeface="Jost" pitchFamily="2" charset="0"/>
              <a:ea typeface="Jos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PROVJERA NAPAJANJA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Prvo i osnovno, provjerite da li je računar uključen u struju i da li je kabal za struju ispravan. Također, provjerite da li je prekidač napajanja na računaru okrenut ka „ON“ položaju, a ne ka „OFF“.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sr-Latn-BA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PROVJERA ISPRAVNOSTI NAPONA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Oštećeno ili nestabilno napajanje može uzrokovati probleme sa uključivanjem računara. Ako je moguće, testirajte napajanje na drugom računaru ili koristite drugo napajanje za trenutno ispitivanje.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ISKLJUČITE SPOLJE UREĐAJE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Ponekad spoljni uređaji (npr. štampači, eksterni hard diskovi, itd.) mogu uzrokovati konflikte prilikom uključivanja računara. Pokušajte isključiti sve spoljne uređaje i zatim pokušati ponovo uključiti računar.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INDIKATORI NAPAJANJA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Većina modernih računara ima indikatore napajanja koji svijetle kada je računar uključen. Ako indikator ne svijetli, to može ukazivati na problem sa napajanjem ili matičnom pločom.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DIJAGNOSTIKA BEEP KODA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Ako imate desktop računar, poslušajte beeping zvukove koje matična ploča može generisati prilikom pokretanja. Beep kodovi mogu ukazivati na specifične probleme sa hardverom.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PREGLED KABLOVA I UNUTRAŠNJOSTI RAČUNARA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Otvorite kućište računara i pregledajte kablove i komponente. Ponekad, labava veza ili oštećenje unutar računara može uzrokovati probleme sa uključivanjem.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74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2" y="301776"/>
            <a:ext cx="8377127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 dirty="0">
                <a:latin typeface="Jost" pitchFamily="2" charset="0"/>
                <a:ea typeface="Jost" pitchFamily="2" charset="0"/>
              </a:rPr>
              <a:t>BLUE SCREEN OF DEATH (BSOD)</a:t>
            </a:r>
            <a:endParaRPr lang="en-US" sz="2800" b="1" dirty="0">
              <a:latin typeface="Jost" pitchFamily="2" charset="0"/>
              <a:ea typeface="Jost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25853-A9AE-BB54-DD5B-A6E5CCCA4539}"/>
              </a:ext>
            </a:extLst>
          </p:cNvPr>
          <p:cNvSpPr txBox="1"/>
          <p:nvPr/>
        </p:nvSpPr>
        <p:spPr>
          <a:xfrm>
            <a:off x="138222" y="1047750"/>
            <a:ext cx="11441519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Plavi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ekran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poznat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kao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„Blue screen of death“,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jedan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je od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najozbiljnijih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problema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kojima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se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korisnici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Windows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operativnog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sistema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suočavaju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 Ovo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stanje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obično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ukazuje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na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ozbiljan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problem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sa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hardverom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ili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 </a:t>
            </a:r>
            <a:r>
              <a:rPr lang="en-US" sz="1200" dirty="0" err="1">
                <a:effectLst/>
                <a:latin typeface="Jost" pitchFamily="2" charset="0"/>
                <a:ea typeface="Jost" pitchFamily="2" charset="0"/>
              </a:rPr>
              <a:t>softverom</a:t>
            </a:r>
            <a:r>
              <a:rPr lang="en-US" sz="1200" dirty="0">
                <a:effectLst/>
                <a:latin typeface="Jost" pitchFamily="2" charset="0"/>
                <a:ea typeface="Jost" pitchFamily="2" charset="0"/>
              </a:rPr>
              <a:t>.</a:t>
            </a:r>
          </a:p>
        </p:txBody>
      </p:sp>
      <p:pic>
        <p:nvPicPr>
          <p:cNvPr id="2" name="Picture 1" descr="A blue screen with white text&#10;&#10;Description automatically generated">
            <a:extLst>
              <a:ext uri="{FF2B5EF4-FFF2-40B4-BE49-F238E27FC236}">
                <a16:creationId xmlns:a16="http://schemas.microsoft.com/office/drawing/2014/main" id="{9A9C5921-F225-3CD0-7CDF-A5F4B756E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979" y="2333625"/>
            <a:ext cx="3996690" cy="21907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396B3C-9D3B-A1A2-3309-2AC0DF8FF061}"/>
              </a:ext>
            </a:extLst>
          </p:cNvPr>
          <p:cNvSpPr txBox="1"/>
          <p:nvPr/>
        </p:nvSpPr>
        <p:spPr>
          <a:xfrm>
            <a:off x="138222" y="2085975"/>
            <a:ext cx="746006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ZABILJEŠKA GREŠKE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Kada je pojavi plavi ekran, obratite pažnju na grešku koja se prikazuje, jer će vam pomoći da identifikujete korijen problema.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PONOVNO POKRETANJE RAČUNARA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Prva reakcija na plavi ekran obično je ponovno pokretanje računara. Ponekad se BSOD može pojaviti uslijed privremenih problema, ali ako se ponavlja, to ukazuje na ozbiljniji problem.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PROVJERA HARDVERA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BSOD često može biti uzrokovan hardverskim problemom, kao što su loša RAM memorija, problemi sa grafičkom karticom ili neispravan hard disk.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AŽURIRANJE DRAJVERA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Zastarjeli ili neispravni drajveri mogu uzrokovati BSOD. Ažurirajte drajvere za sve ključne komponente, uključujući grafiku, zvuk i mrežu.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WINDOWS UPDATE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Windows često izdaje ažuriranja koja popravljaju poznate greške. Uvijerite se da vaš operativni sistem ima najnovija ažuriranja instalirana.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WINDOWS ALATKE ZA DIJAGNOSTIKU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Windows uključuje alatke za dijagnostiku problema sa memorijom, drajverima i drugim komponentama. Upotrebite ih kako biste identifikovali uzrok BSOD-a.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ROLLBACK NA PRETHODNU FUNKCIONALNO STANJE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– Ako ste instalirati softver ili drajvere prije nego što je BSOD počeo da se pojavljuje, razmotrite vraćanje sistema na tačku prije tog instaliranja.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endParaRPr lang="en-US" sz="1200" dirty="0"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81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35AD64-6D77-417B-15F0-2D4CDEF4F51A}"/>
              </a:ext>
            </a:extLst>
          </p:cNvPr>
          <p:cNvSpPr txBox="1"/>
          <p:nvPr/>
        </p:nvSpPr>
        <p:spPr>
          <a:xfrm>
            <a:off x="138222" y="301776"/>
            <a:ext cx="9701103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Jost" pitchFamily="2" charset="0"/>
                <a:ea typeface="Jost" pitchFamily="2" charset="0"/>
              </a:rPr>
              <a:t>NEDOSTATAK PROSTORA NA HARD DISKU (HDD-u)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C0B5B-6E79-DD19-8B62-F90BB424F25E}"/>
              </a:ext>
            </a:extLst>
          </p:cNvPr>
          <p:cNvSpPr/>
          <p:nvPr/>
        </p:nvSpPr>
        <p:spPr>
          <a:xfrm>
            <a:off x="255181" y="824996"/>
            <a:ext cx="1318438" cy="1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25853-A9AE-BB54-DD5B-A6E5CCCA4539}"/>
              </a:ext>
            </a:extLst>
          </p:cNvPr>
          <p:cNvSpPr txBox="1"/>
          <p:nvPr/>
        </p:nvSpPr>
        <p:spPr>
          <a:xfrm>
            <a:off x="138222" y="1047750"/>
            <a:ext cx="74600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400" dirty="0">
                <a:effectLst/>
                <a:latin typeface="Jost" pitchFamily="2" charset="0"/>
                <a:ea typeface="Jost" pitchFamily="2" charset="0"/>
              </a:rPr>
              <a:t>Nedostatak slobodnog prostora na hard disku može usporiti rad računara i uzrokovati razne probleme, uključujući nemogućnost instalacije novih programa ili ažuriranje operativnog sistema.</a:t>
            </a:r>
            <a:endParaRPr lang="en-US" sz="1400" dirty="0">
              <a:effectLst/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96B3C-9D3B-A1A2-3309-2AC0DF8FF061}"/>
              </a:ext>
            </a:extLst>
          </p:cNvPr>
          <p:cNvSpPr txBox="1"/>
          <p:nvPr/>
        </p:nvSpPr>
        <p:spPr>
          <a:xfrm>
            <a:off x="138222" y="1855969"/>
            <a:ext cx="746006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PROVJERA SLOBODNOG PROSTORA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- Prvo, provijerite koliko slobodnog prostora imate na svom hard disku. To možete uraditi tako što ćete otvoriti "Ovo računalo" ili "File Explorer".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BRISANJE NEPOTREBNIH DATOTEKA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- Identifikujte i obrišite nepotrebne datoteke i aplikacije. To uključuje privremene datoteke, preuzimanja, cache datoteke i datoteke iz smeća. Takođe, provijerite da li imate stare instalacije programa koje više ne koristite.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PRENOS DATOTEKE NA SPOLJE MEDIJE 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- Ako imate velike datoteke ili kolekcije medija koje ne koristite često, razmotrite njihovo premiještanje na spoljne hard diskove ili druge medije kako biste oslobodili prostor na glavnom hard disku.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KORIŠTENJE ALATKI ZA ČIŠĆENJE HDD-A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 - Windows operativni sistem dolazi sa integrisanim alatkama za čišćenje diska. Otvorite "Disk Cleanup" kako biste identifikovali i obrisali nepotrebne datoteke.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DEINSTALIRANJE NEPOTREBNIH APLIKACIJA 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- Pregledajte listu instaliranih programa i deinstalirajte one koje više ne koristite ili su zastarijeli.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sr-Latn-BA" sz="1200" b="1" dirty="0">
                <a:effectLst/>
                <a:latin typeface="Jost" pitchFamily="2" charset="0"/>
                <a:ea typeface="Jost" pitchFamily="2" charset="0"/>
              </a:rPr>
              <a:t>POVEĆANJE KAPACITETA HARD DISKA </a:t>
            </a: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- Ako je nedostatak prostora na disku konstantan problem, razmislite o nadogradnji na veći hard disk ili dodavanju spoljnog hard diska.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 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sr-Latn-BA" sz="1200" dirty="0">
                <a:effectLst/>
                <a:latin typeface="Jost" pitchFamily="2" charset="0"/>
                <a:ea typeface="Jost" pitchFamily="2" charset="0"/>
              </a:rPr>
              <a:t>Održavanje dovoljno slobodnog prostora na hard disku ključno je za održavanje brzih i efikasnih performanski računara, pa je važno da redovno pratite i upravljate prostorom na disku.</a:t>
            </a: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Jost" pitchFamily="2" charset="0"/>
              <a:ea typeface="Jost" pitchFamily="2" charset="0"/>
            </a:endParaRPr>
          </a:p>
        </p:txBody>
      </p:sp>
      <p:pic>
        <p:nvPicPr>
          <p:cNvPr id="7" name="Picture 6" descr="A blue screen with white text&#10;&#10;Description automatically generated">
            <a:extLst>
              <a:ext uri="{FF2B5EF4-FFF2-40B4-BE49-F238E27FC236}">
                <a16:creationId xmlns:a16="http://schemas.microsoft.com/office/drawing/2014/main" id="{7B016AB9-4C05-4BA2-4848-3F4821F6E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458" y="1336306"/>
            <a:ext cx="4031734" cy="1039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75AF0DA-BFCB-A4B2-883D-DD6AAE055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15" y="2663034"/>
            <a:ext cx="2827020" cy="34099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009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D2781-70AC-DE86-CE7A-5F62614C1005}"/>
              </a:ext>
            </a:extLst>
          </p:cNvPr>
          <p:cNvSpPr txBox="1"/>
          <p:nvPr/>
        </p:nvSpPr>
        <p:spPr>
          <a:xfrm>
            <a:off x="771525" y="381803"/>
            <a:ext cx="9982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20000" b="1" i="1" dirty="0">
                <a:solidFill>
                  <a:schemeClr val="bg1">
                    <a:lumMod val="65000"/>
                  </a:schemeClr>
                </a:solidFill>
                <a:latin typeface="Jost" pitchFamily="2" charset="0"/>
                <a:ea typeface="Jost" pitchFamily="2" charset="0"/>
              </a:rPr>
              <a:t>HVALA</a:t>
            </a:r>
            <a:endParaRPr lang="en-US" sz="20000" b="1" i="1" dirty="0">
              <a:solidFill>
                <a:schemeClr val="bg1">
                  <a:lumMod val="6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127B9-FDD5-03AA-BF54-D29F5C4D04FF}"/>
              </a:ext>
            </a:extLst>
          </p:cNvPr>
          <p:cNvSpPr txBox="1"/>
          <p:nvPr/>
        </p:nvSpPr>
        <p:spPr>
          <a:xfrm>
            <a:off x="4738687" y="3429000"/>
            <a:ext cx="79152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4000" b="1" i="1" dirty="0">
                <a:solidFill>
                  <a:schemeClr val="accent1">
                    <a:lumMod val="50000"/>
                  </a:schemeClr>
                </a:solidFill>
                <a:latin typeface="Jost" pitchFamily="2" charset="0"/>
                <a:ea typeface="Jost" pitchFamily="2" charset="0"/>
              </a:rPr>
              <a:t>PAŽNJI</a:t>
            </a:r>
            <a:endParaRPr lang="en-US" sz="14000" b="1" i="1" dirty="0">
              <a:solidFill>
                <a:schemeClr val="accent1">
                  <a:lumMod val="50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B2E9D-6E1F-7501-38FF-9E1981D2C8F4}"/>
              </a:ext>
            </a:extLst>
          </p:cNvPr>
          <p:cNvSpPr txBox="1"/>
          <p:nvPr/>
        </p:nvSpPr>
        <p:spPr>
          <a:xfrm>
            <a:off x="2776537" y="3090237"/>
            <a:ext cx="103917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8000" b="1" i="1" dirty="0">
                <a:solidFill>
                  <a:schemeClr val="accent1">
                    <a:lumMod val="75000"/>
                  </a:schemeClr>
                </a:solidFill>
                <a:latin typeface="Jost" pitchFamily="2" charset="0"/>
                <a:ea typeface="Jost" pitchFamily="2" charset="0"/>
              </a:rPr>
              <a:t>NA</a:t>
            </a:r>
            <a:endParaRPr lang="en-US" sz="8000" b="1" i="1" dirty="0">
              <a:solidFill>
                <a:schemeClr val="accent1">
                  <a:lumMod val="7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1801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Jost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Pavlovic</dc:creator>
  <cp:lastModifiedBy>Ivan Pavlovic</cp:lastModifiedBy>
  <cp:revision>2</cp:revision>
  <dcterms:created xsi:type="dcterms:W3CDTF">2024-09-03T11:12:40Z</dcterms:created>
  <dcterms:modified xsi:type="dcterms:W3CDTF">2024-09-05T15:44:54Z</dcterms:modified>
</cp:coreProperties>
</file>